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937760" cy="685800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480560" y="0"/>
            <a:ext cx="548640" cy="6858000"/>
          </a:xfrm>
          <a:prstGeom prst="rect">
            <a:avLst/>
          </a:prstGeom>
          <a:solidFill>
            <a:srgbClr val="5EB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71597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65760" y="4389120"/>
            <a:ext cx="1463040" cy="146304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926080" y="182880"/>
            <a:ext cx="822960" cy="822960"/>
          </a:xfrm>
          <a:prstGeom prst="ellipse">
            <a:avLst/>
          </a:prstGeom>
          <a:solidFill>
            <a:srgbClr val="FF9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14400"/>
            <a:ext cx="4114800" cy="822960"/>
          </a:xfrm>
          <a:prstGeom prst="rect">
            <a:avLst/>
          </a:prstGeom>
          <a:noFill/>
        </p:spPr>
        <p:txBody>
          <a:bodyPr wrap="square">
            <a:spAutoFit/>
          </a:bodyPr>
          <a:lstStyle/>
          <a:p>
            <a:pPr algn="l"/>
            <a:r>
              <a:rPr sz="4800" b="0" i="0">
                <a:solidFill>
                  <a:srgbClr val="FFFFFF"/>
                </a:solidFill>
              </a:rPr>
              <a:t>🏏</a:t>
            </a:r>
          </a:p>
        </p:txBody>
      </p:sp>
      <p:sp>
        <p:nvSpPr>
          <p:cNvPr id="8" name="TextBox 7"/>
          <p:cNvSpPr txBox="1"/>
          <p:nvPr/>
        </p:nvSpPr>
        <p:spPr>
          <a:xfrm>
            <a:off x="502920" y="1691640"/>
            <a:ext cx="4114800" cy="1737360"/>
          </a:xfrm>
          <a:prstGeom prst="rect">
            <a:avLst/>
          </a:prstGeom>
          <a:noFill/>
        </p:spPr>
        <p:txBody>
          <a:bodyPr wrap="square">
            <a:spAutoFit/>
          </a:bodyPr>
          <a:lstStyle/>
          <a:p>
            <a:pPr algn="l"/>
            <a:r>
              <a:rPr sz="3400" b="1" i="0">
                <a:solidFill>
                  <a:srgbClr val="FFFFFF"/>
                </a:solidFill>
              </a:rPr>
              <a:t>Gully Cricket
Scorer</a:t>
            </a:r>
          </a:p>
        </p:txBody>
      </p:sp>
      <p:sp>
        <p:nvSpPr>
          <p:cNvPr id="9" name="TextBox 8"/>
          <p:cNvSpPr txBox="1"/>
          <p:nvPr/>
        </p:nvSpPr>
        <p:spPr>
          <a:xfrm>
            <a:off x="502920" y="3383280"/>
            <a:ext cx="4114800" cy="457200"/>
          </a:xfrm>
          <a:prstGeom prst="rect">
            <a:avLst/>
          </a:prstGeom>
          <a:noFill/>
        </p:spPr>
        <p:txBody>
          <a:bodyPr wrap="square">
            <a:spAutoFit/>
          </a:bodyPr>
          <a:lstStyle/>
          <a:p>
            <a:pPr algn="l"/>
            <a:r>
              <a:rPr sz="1500" b="0" i="0">
                <a:solidFill>
                  <a:srgbClr val="A8DBAB"/>
                </a:solidFill>
              </a:rPr>
              <a:t>Executive Overview</a:t>
            </a:r>
          </a:p>
        </p:txBody>
      </p:sp>
      <p:sp>
        <p:nvSpPr>
          <p:cNvPr id="10" name="TextBox 9"/>
          <p:cNvSpPr txBox="1"/>
          <p:nvPr/>
        </p:nvSpPr>
        <p:spPr>
          <a:xfrm>
            <a:off x="502920" y="3794760"/>
            <a:ext cx="4114800" cy="365760"/>
          </a:xfrm>
          <a:prstGeom prst="rect">
            <a:avLst/>
          </a:prstGeom>
          <a:noFill/>
        </p:spPr>
        <p:txBody>
          <a:bodyPr wrap="square">
            <a:spAutoFit/>
          </a:bodyPr>
          <a:lstStyle/>
          <a:p>
            <a:pPr algn="l"/>
            <a:r>
              <a:rPr sz="1200" b="0" i="0">
                <a:solidFill>
                  <a:srgbClr val="A8DBAB"/>
                </a:solidFill>
              </a:rPr>
              <a:t>March 2026</a:t>
            </a:r>
          </a:p>
        </p:txBody>
      </p:sp>
      <p:sp>
        <p:nvSpPr>
          <p:cNvPr id="11" name="TextBox 10"/>
          <p:cNvSpPr txBox="1"/>
          <p:nvPr/>
        </p:nvSpPr>
        <p:spPr>
          <a:xfrm>
            <a:off x="5394960" y="1371600"/>
            <a:ext cx="6217920" cy="1828800"/>
          </a:xfrm>
          <a:prstGeom prst="rect">
            <a:avLst/>
          </a:prstGeom>
          <a:noFill/>
        </p:spPr>
        <p:txBody>
          <a:bodyPr wrap="square">
            <a:spAutoFit/>
          </a:bodyPr>
          <a:lstStyle/>
          <a:p>
            <a:pPr algn="l"/>
            <a:r>
              <a:rPr sz="4200" b="1" i="0">
                <a:solidFill>
                  <a:srgbClr val="1B6B28"/>
                </a:solidFill>
              </a:rPr>
              <a:t>Score. Track.
Connect.</a:t>
            </a:r>
          </a:p>
        </p:txBody>
      </p:sp>
      <p:sp>
        <p:nvSpPr>
          <p:cNvPr id="12" name="TextBox 11"/>
          <p:cNvSpPr txBox="1"/>
          <p:nvPr/>
        </p:nvSpPr>
        <p:spPr>
          <a:xfrm>
            <a:off x="5394960" y="3200400"/>
            <a:ext cx="6217920" cy="1371600"/>
          </a:xfrm>
          <a:prstGeom prst="rect">
            <a:avLst/>
          </a:prstGeom>
          <a:noFill/>
        </p:spPr>
        <p:txBody>
          <a:bodyPr wrap="square">
            <a:spAutoFit/>
          </a:bodyPr>
          <a:lstStyle/>
          <a:p>
            <a:pPr algn="l"/>
            <a:r>
              <a:rPr sz="1400" b="0" i="0">
                <a:solidFill>
                  <a:srgbClr val="555555"/>
                </a:solidFill>
              </a:rPr>
              <a:t>A professional-grade cricket scoring platform
for Android, iOS and Web — built for gully cricket,
powered by real-time cloud technology.</a:t>
            </a:r>
          </a:p>
        </p:txBody>
      </p:sp>
      <p:sp>
        <p:nvSpPr>
          <p:cNvPr id="13" name="Rectangle 12"/>
          <p:cNvSpPr/>
          <p:nvPr/>
        </p:nvSpPr>
        <p:spPr>
          <a:xfrm>
            <a:off x="5394960" y="5029200"/>
            <a:ext cx="1417320" cy="137160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5074920"/>
            <a:ext cx="1417320" cy="640080"/>
          </a:xfrm>
          <a:prstGeom prst="rect">
            <a:avLst/>
          </a:prstGeom>
          <a:noFill/>
        </p:spPr>
        <p:txBody>
          <a:bodyPr wrap="square">
            <a:spAutoFit/>
          </a:bodyPr>
          <a:lstStyle/>
          <a:p>
            <a:pPr algn="ctr"/>
            <a:r>
              <a:rPr sz="2400" b="1" i="0">
                <a:solidFill>
                  <a:srgbClr val="1B6B28"/>
                </a:solidFill>
              </a:rPr>
              <a:t>5</a:t>
            </a:r>
          </a:p>
        </p:txBody>
      </p:sp>
      <p:sp>
        <p:nvSpPr>
          <p:cNvPr id="15" name="TextBox 14"/>
          <p:cNvSpPr txBox="1"/>
          <p:nvPr/>
        </p:nvSpPr>
        <p:spPr>
          <a:xfrm>
            <a:off x="5394960" y="5669280"/>
            <a:ext cx="1417320" cy="502920"/>
          </a:xfrm>
          <a:prstGeom prst="rect">
            <a:avLst/>
          </a:prstGeom>
          <a:noFill/>
        </p:spPr>
        <p:txBody>
          <a:bodyPr wrap="square">
            <a:spAutoFit/>
          </a:bodyPr>
          <a:lstStyle/>
          <a:p>
            <a:pPr algn="ctr"/>
            <a:r>
              <a:rPr sz="1000" b="0" i="0">
                <a:solidFill>
                  <a:srgbClr val="555555"/>
                </a:solidFill>
              </a:rPr>
              <a:t>Tabs</a:t>
            </a:r>
          </a:p>
        </p:txBody>
      </p:sp>
      <p:sp>
        <p:nvSpPr>
          <p:cNvPr id="16" name="Rectangle 15"/>
          <p:cNvSpPr/>
          <p:nvPr/>
        </p:nvSpPr>
        <p:spPr>
          <a:xfrm>
            <a:off x="6995160" y="5029200"/>
            <a:ext cx="1417320" cy="137160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5074920"/>
            <a:ext cx="1417320" cy="640080"/>
          </a:xfrm>
          <a:prstGeom prst="rect">
            <a:avLst/>
          </a:prstGeom>
          <a:noFill/>
        </p:spPr>
        <p:txBody>
          <a:bodyPr wrap="square">
            <a:spAutoFit/>
          </a:bodyPr>
          <a:lstStyle/>
          <a:p>
            <a:pPr algn="ctr"/>
            <a:r>
              <a:rPr sz="2400" b="1" i="0">
                <a:solidFill>
                  <a:srgbClr val="1B6B28"/>
                </a:solidFill>
              </a:rPr>
              <a:t>4</a:t>
            </a:r>
          </a:p>
        </p:txBody>
      </p:sp>
      <p:sp>
        <p:nvSpPr>
          <p:cNvPr id="18" name="TextBox 17"/>
          <p:cNvSpPr txBox="1"/>
          <p:nvPr/>
        </p:nvSpPr>
        <p:spPr>
          <a:xfrm>
            <a:off x="6995160" y="5669280"/>
            <a:ext cx="1417320" cy="502920"/>
          </a:xfrm>
          <a:prstGeom prst="rect">
            <a:avLst/>
          </a:prstGeom>
          <a:noFill/>
        </p:spPr>
        <p:txBody>
          <a:bodyPr wrap="square">
            <a:spAutoFit/>
          </a:bodyPr>
          <a:lstStyle/>
          <a:p>
            <a:pPr algn="ctr"/>
            <a:r>
              <a:rPr sz="1000" b="0" i="0">
                <a:solidFill>
                  <a:srgbClr val="555555"/>
                </a:solidFill>
              </a:rPr>
              <a:t>Formats</a:t>
            </a:r>
          </a:p>
        </p:txBody>
      </p:sp>
      <p:sp>
        <p:nvSpPr>
          <p:cNvPr id="19" name="Rectangle 18"/>
          <p:cNvSpPr/>
          <p:nvPr/>
        </p:nvSpPr>
        <p:spPr>
          <a:xfrm>
            <a:off x="8595360" y="5029200"/>
            <a:ext cx="1417320" cy="137160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5074920"/>
            <a:ext cx="1417320" cy="640080"/>
          </a:xfrm>
          <a:prstGeom prst="rect">
            <a:avLst/>
          </a:prstGeom>
          <a:noFill/>
        </p:spPr>
        <p:txBody>
          <a:bodyPr wrap="square">
            <a:spAutoFit/>
          </a:bodyPr>
          <a:lstStyle/>
          <a:p>
            <a:pPr algn="ctr"/>
            <a:r>
              <a:rPr sz="2400" b="1" i="0">
                <a:solidFill>
                  <a:srgbClr val="1B6B28"/>
                </a:solidFill>
              </a:rPr>
              <a:t>50 mi</a:t>
            </a:r>
          </a:p>
        </p:txBody>
      </p:sp>
      <p:sp>
        <p:nvSpPr>
          <p:cNvPr id="21" name="TextBox 20"/>
          <p:cNvSpPr txBox="1"/>
          <p:nvPr/>
        </p:nvSpPr>
        <p:spPr>
          <a:xfrm>
            <a:off x="8595360" y="5669280"/>
            <a:ext cx="1417320" cy="502920"/>
          </a:xfrm>
          <a:prstGeom prst="rect">
            <a:avLst/>
          </a:prstGeom>
          <a:noFill/>
        </p:spPr>
        <p:txBody>
          <a:bodyPr wrap="square">
            <a:spAutoFit/>
          </a:bodyPr>
          <a:lstStyle/>
          <a:p>
            <a:pPr algn="ctr"/>
            <a:r>
              <a:rPr sz="1000" b="0" i="0">
                <a:solidFill>
                  <a:srgbClr val="555555"/>
                </a:solidFill>
              </a:rPr>
              <a:t>Live Range</a:t>
            </a:r>
          </a:p>
        </p:txBody>
      </p:sp>
      <p:sp>
        <p:nvSpPr>
          <p:cNvPr id="22" name="Rectangle 21"/>
          <p:cNvSpPr/>
          <p:nvPr/>
        </p:nvSpPr>
        <p:spPr>
          <a:xfrm>
            <a:off x="10195560" y="5029200"/>
            <a:ext cx="1417320" cy="137160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95560" y="5074920"/>
            <a:ext cx="1417320" cy="640080"/>
          </a:xfrm>
          <a:prstGeom prst="rect">
            <a:avLst/>
          </a:prstGeom>
          <a:noFill/>
        </p:spPr>
        <p:txBody>
          <a:bodyPr wrap="square">
            <a:spAutoFit/>
          </a:bodyPr>
          <a:lstStyle/>
          <a:p>
            <a:pPr algn="ctr"/>
            <a:r>
              <a:rPr sz="2400" b="1" i="0">
                <a:solidFill>
                  <a:srgbClr val="1B6B28"/>
                </a:solidFill>
              </a:rPr>
              <a:t>∞</a:t>
            </a:r>
          </a:p>
        </p:txBody>
      </p:sp>
      <p:sp>
        <p:nvSpPr>
          <p:cNvPr id="24" name="TextBox 23"/>
          <p:cNvSpPr txBox="1"/>
          <p:nvPr/>
        </p:nvSpPr>
        <p:spPr>
          <a:xfrm>
            <a:off x="10195560" y="5669280"/>
            <a:ext cx="1417320" cy="502920"/>
          </a:xfrm>
          <a:prstGeom prst="rect">
            <a:avLst/>
          </a:prstGeom>
          <a:noFill/>
        </p:spPr>
        <p:txBody>
          <a:bodyPr wrap="square">
            <a:spAutoFit/>
          </a:bodyPr>
          <a:lstStyle/>
          <a:p>
            <a:pPr algn="ctr"/>
            <a:r>
              <a:rPr sz="1000" b="0" i="0">
                <a:solidFill>
                  <a:srgbClr val="555555"/>
                </a:solidFill>
              </a:rPr>
              <a:t>Offline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The Problem</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Why gully cricket needs a modern scoring app</a:t>
            </a:r>
          </a:p>
        </p:txBody>
      </p:sp>
      <p:sp>
        <p:nvSpPr>
          <p:cNvPr id="5" name="Rectangle 4"/>
          <p:cNvSpPr/>
          <p:nvPr/>
        </p:nvSpPr>
        <p:spPr>
          <a:xfrm>
            <a:off x="411480" y="1691640"/>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691640"/>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01368"/>
            <a:ext cx="548640" cy="502920"/>
          </a:xfrm>
          <a:prstGeom prst="rect">
            <a:avLst/>
          </a:prstGeom>
          <a:noFill/>
        </p:spPr>
        <p:txBody>
          <a:bodyPr wrap="square">
            <a:spAutoFit/>
          </a:bodyPr>
          <a:lstStyle/>
          <a:p>
            <a:pPr algn="l"/>
            <a:r>
              <a:rPr sz="2200" b="0" i="0">
                <a:solidFill>
                  <a:srgbClr val="1A1A1A"/>
                </a:solidFill>
              </a:rPr>
              <a:t>📝</a:t>
            </a:r>
          </a:p>
        </p:txBody>
      </p:sp>
      <p:sp>
        <p:nvSpPr>
          <p:cNvPr id="8" name="TextBox 7"/>
          <p:cNvSpPr txBox="1"/>
          <p:nvPr/>
        </p:nvSpPr>
        <p:spPr>
          <a:xfrm>
            <a:off x="1097280" y="1856232"/>
            <a:ext cx="2834640" cy="411480"/>
          </a:xfrm>
          <a:prstGeom prst="rect">
            <a:avLst/>
          </a:prstGeom>
          <a:noFill/>
        </p:spPr>
        <p:txBody>
          <a:bodyPr wrap="square">
            <a:spAutoFit/>
          </a:bodyPr>
          <a:lstStyle/>
          <a:p>
            <a:pPr algn="l"/>
            <a:r>
              <a:rPr sz="1300" b="1" i="0">
                <a:solidFill>
                  <a:srgbClr val="1A1A1A"/>
                </a:solidFill>
              </a:rPr>
              <a:t>Paper Scorecards</a:t>
            </a:r>
          </a:p>
        </p:txBody>
      </p:sp>
      <p:sp>
        <p:nvSpPr>
          <p:cNvPr id="9" name="TextBox 8"/>
          <p:cNvSpPr txBox="1"/>
          <p:nvPr/>
        </p:nvSpPr>
        <p:spPr>
          <a:xfrm>
            <a:off x="548640" y="2286000"/>
            <a:ext cx="3383280" cy="1280160"/>
          </a:xfrm>
          <a:prstGeom prst="rect">
            <a:avLst/>
          </a:prstGeom>
          <a:noFill/>
        </p:spPr>
        <p:txBody>
          <a:bodyPr wrap="square">
            <a:spAutoFit/>
          </a:bodyPr>
          <a:lstStyle/>
          <a:p>
            <a:pPr algn="l"/>
            <a:r>
              <a:rPr sz="1100" b="0" i="0">
                <a:solidFill>
                  <a:srgbClr val="555555"/>
                </a:solidFill>
              </a:rPr>
              <a:t>Easy to lose, smudge, or miscalculate — no digital record survives the match.</a:t>
            </a:r>
          </a:p>
        </p:txBody>
      </p:sp>
      <p:sp>
        <p:nvSpPr>
          <p:cNvPr id="10" name="Rectangle 9"/>
          <p:cNvSpPr/>
          <p:nvPr/>
        </p:nvSpPr>
        <p:spPr>
          <a:xfrm>
            <a:off x="4297680" y="1691640"/>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691640"/>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801368"/>
            <a:ext cx="548640" cy="502920"/>
          </a:xfrm>
          <a:prstGeom prst="rect">
            <a:avLst/>
          </a:prstGeom>
          <a:noFill/>
        </p:spPr>
        <p:txBody>
          <a:bodyPr wrap="square">
            <a:spAutoFit/>
          </a:bodyPr>
          <a:lstStyle/>
          <a:p>
            <a:pPr algn="l"/>
            <a:r>
              <a:rPr sz="2200" b="0" i="0">
                <a:solidFill>
                  <a:srgbClr val="1A1A1A"/>
                </a:solidFill>
              </a:rPr>
              <a:t>📵</a:t>
            </a:r>
          </a:p>
        </p:txBody>
      </p:sp>
      <p:sp>
        <p:nvSpPr>
          <p:cNvPr id="13" name="TextBox 12"/>
          <p:cNvSpPr txBox="1"/>
          <p:nvPr/>
        </p:nvSpPr>
        <p:spPr>
          <a:xfrm>
            <a:off x="4983480" y="1856232"/>
            <a:ext cx="2834640" cy="411480"/>
          </a:xfrm>
          <a:prstGeom prst="rect">
            <a:avLst/>
          </a:prstGeom>
          <a:noFill/>
        </p:spPr>
        <p:txBody>
          <a:bodyPr wrap="square">
            <a:spAutoFit/>
          </a:bodyPr>
          <a:lstStyle/>
          <a:p>
            <a:pPr algn="l"/>
            <a:r>
              <a:rPr sz="1300" b="1" i="0">
                <a:solidFill>
                  <a:srgbClr val="1A1A1A"/>
                </a:solidFill>
              </a:rPr>
              <a:t>No Offline Play</a:t>
            </a:r>
          </a:p>
        </p:txBody>
      </p:sp>
      <p:sp>
        <p:nvSpPr>
          <p:cNvPr id="14" name="TextBox 13"/>
          <p:cNvSpPr txBox="1"/>
          <p:nvPr/>
        </p:nvSpPr>
        <p:spPr>
          <a:xfrm>
            <a:off x="4434840" y="2286000"/>
            <a:ext cx="3383280" cy="1280160"/>
          </a:xfrm>
          <a:prstGeom prst="rect">
            <a:avLst/>
          </a:prstGeom>
          <a:noFill/>
        </p:spPr>
        <p:txBody>
          <a:bodyPr wrap="square">
            <a:spAutoFit/>
          </a:bodyPr>
          <a:lstStyle/>
          <a:p>
            <a:pPr algn="l"/>
            <a:r>
              <a:rPr sz="1100" b="0" i="0">
                <a:solidFill>
                  <a:srgbClr val="555555"/>
                </a:solidFill>
              </a:rPr>
              <a:t>Existing apps require constant internet. Most gully grounds have poor connectivity.</a:t>
            </a:r>
          </a:p>
        </p:txBody>
      </p:sp>
      <p:sp>
        <p:nvSpPr>
          <p:cNvPr id="15" name="Rectangle 14"/>
          <p:cNvSpPr/>
          <p:nvPr/>
        </p:nvSpPr>
        <p:spPr>
          <a:xfrm>
            <a:off x="8183879" y="1691640"/>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1691640"/>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801368"/>
            <a:ext cx="548640" cy="502920"/>
          </a:xfrm>
          <a:prstGeom prst="rect">
            <a:avLst/>
          </a:prstGeom>
          <a:noFill/>
        </p:spPr>
        <p:txBody>
          <a:bodyPr wrap="square">
            <a:spAutoFit/>
          </a:bodyPr>
          <a:lstStyle/>
          <a:p>
            <a:pPr algn="l"/>
            <a:r>
              <a:rPr sz="2200" b="0" i="0">
                <a:solidFill>
                  <a:srgbClr val="1A1A1A"/>
                </a:solidFill>
              </a:rPr>
              <a:t>🔗</a:t>
            </a:r>
          </a:p>
        </p:txBody>
      </p:sp>
      <p:sp>
        <p:nvSpPr>
          <p:cNvPr id="18" name="TextBox 17"/>
          <p:cNvSpPr txBox="1"/>
          <p:nvPr/>
        </p:nvSpPr>
        <p:spPr>
          <a:xfrm>
            <a:off x="8869679" y="1856232"/>
            <a:ext cx="2834640" cy="411480"/>
          </a:xfrm>
          <a:prstGeom prst="rect">
            <a:avLst/>
          </a:prstGeom>
          <a:noFill/>
        </p:spPr>
        <p:txBody>
          <a:bodyPr wrap="square">
            <a:spAutoFit/>
          </a:bodyPr>
          <a:lstStyle/>
          <a:p>
            <a:pPr algn="l"/>
            <a:r>
              <a:rPr sz="1300" b="1" i="0">
                <a:solidFill>
                  <a:srgbClr val="1A1A1A"/>
                </a:solidFill>
              </a:rPr>
              <a:t>Isolated Data</a:t>
            </a:r>
          </a:p>
        </p:txBody>
      </p:sp>
      <p:sp>
        <p:nvSpPr>
          <p:cNvPr id="19" name="TextBox 18"/>
          <p:cNvSpPr txBox="1"/>
          <p:nvPr/>
        </p:nvSpPr>
        <p:spPr>
          <a:xfrm>
            <a:off x="8321039" y="2286000"/>
            <a:ext cx="3383280" cy="1280160"/>
          </a:xfrm>
          <a:prstGeom prst="rect">
            <a:avLst/>
          </a:prstGeom>
          <a:noFill/>
        </p:spPr>
        <p:txBody>
          <a:bodyPr wrap="square">
            <a:spAutoFit/>
          </a:bodyPr>
          <a:lstStyle/>
          <a:p>
            <a:pPr algn="l"/>
            <a:r>
              <a:rPr sz="1100" b="0" i="0">
                <a:solidFill>
                  <a:srgbClr val="555555"/>
                </a:solidFill>
              </a:rPr>
              <a:t>Scorers can't share live scores with spectators watching from afar.</a:t>
            </a:r>
          </a:p>
        </p:txBody>
      </p:sp>
      <p:sp>
        <p:nvSpPr>
          <p:cNvPr id="20" name="Rectangle 19"/>
          <p:cNvSpPr/>
          <p:nvPr/>
        </p:nvSpPr>
        <p:spPr>
          <a:xfrm>
            <a:off x="411480" y="3977639"/>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3977639"/>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087367"/>
            <a:ext cx="548640" cy="502920"/>
          </a:xfrm>
          <a:prstGeom prst="rect">
            <a:avLst/>
          </a:prstGeom>
          <a:noFill/>
        </p:spPr>
        <p:txBody>
          <a:bodyPr wrap="square">
            <a:spAutoFit/>
          </a:bodyPr>
          <a:lstStyle/>
          <a:p>
            <a:pPr algn="l"/>
            <a:r>
              <a:rPr sz="2200" b="0" i="0">
                <a:solidFill>
                  <a:srgbClr val="1A1A1A"/>
                </a:solidFill>
              </a:rPr>
              <a:t>⚙️</a:t>
            </a:r>
          </a:p>
        </p:txBody>
      </p:sp>
      <p:sp>
        <p:nvSpPr>
          <p:cNvPr id="23" name="TextBox 22"/>
          <p:cNvSpPr txBox="1"/>
          <p:nvPr/>
        </p:nvSpPr>
        <p:spPr>
          <a:xfrm>
            <a:off x="1097280" y="4142231"/>
            <a:ext cx="2834640" cy="411480"/>
          </a:xfrm>
          <a:prstGeom prst="rect">
            <a:avLst/>
          </a:prstGeom>
          <a:noFill/>
        </p:spPr>
        <p:txBody>
          <a:bodyPr wrap="square">
            <a:spAutoFit/>
          </a:bodyPr>
          <a:lstStyle/>
          <a:p>
            <a:pPr algn="l"/>
            <a:r>
              <a:rPr sz="1300" b="1" i="0">
                <a:solidFill>
                  <a:srgbClr val="1A1A1A"/>
                </a:solidFill>
              </a:rPr>
              <a:t>Oversimplified Tools</a:t>
            </a:r>
          </a:p>
        </p:txBody>
      </p:sp>
      <p:sp>
        <p:nvSpPr>
          <p:cNvPr id="24" name="TextBox 23"/>
          <p:cNvSpPr txBox="1"/>
          <p:nvPr/>
        </p:nvSpPr>
        <p:spPr>
          <a:xfrm>
            <a:off x="548640" y="4571999"/>
            <a:ext cx="3383280" cy="1280160"/>
          </a:xfrm>
          <a:prstGeom prst="rect">
            <a:avLst/>
          </a:prstGeom>
          <a:noFill/>
        </p:spPr>
        <p:txBody>
          <a:bodyPr wrap="square">
            <a:spAutoFit/>
          </a:bodyPr>
          <a:lstStyle/>
          <a:p>
            <a:pPr algn="l"/>
            <a:r>
              <a:rPr sz="1100" b="0" i="0">
                <a:solidFill>
                  <a:srgbClr val="555555"/>
                </a:solidFill>
              </a:rPr>
              <a:t>Generic apps don't handle all formats, dismissal types, or extras correctly.</a:t>
            </a:r>
          </a:p>
        </p:txBody>
      </p:sp>
      <p:sp>
        <p:nvSpPr>
          <p:cNvPr id="25" name="Rectangle 24"/>
          <p:cNvSpPr/>
          <p:nvPr/>
        </p:nvSpPr>
        <p:spPr>
          <a:xfrm>
            <a:off x="4297680" y="3977639"/>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977639"/>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087367"/>
            <a:ext cx="548640" cy="502920"/>
          </a:xfrm>
          <a:prstGeom prst="rect">
            <a:avLst/>
          </a:prstGeom>
          <a:noFill/>
        </p:spPr>
        <p:txBody>
          <a:bodyPr wrap="square">
            <a:spAutoFit/>
          </a:bodyPr>
          <a:lstStyle/>
          <a:p>
            <a:pPr algn="l"/>
            <a:r>
              <a:rPr sz="2200" b="0" i="0">
                <a:solidFill>
                  <a:srgbClr val="1A1A1A"/>
                </a:solidFill>
              </a:rPr>
              <a:t>👥</a:t>
            </a:r>
          </a:p>
        </p:txBody>
      </p:sp>
      <p:sp>
        <p:nvSpPr>
          <p:cNvPr id="28" name="TextBox 27"/>
          <p:cNvSpPr txBox="1"/>
          <p:nvPr/>
        </p:nvSpPr>
        <p:spPr>
          <a:xfrm>
            <a:off x="4983480" y="4142231"/>
            <a:ext cx="2834640" cy="411480"/>
          </a:xfrm>
          <a:prstGeom prst="rect">
            <a:avLst/>
          </a:prstGeom>
          <a:noFill/>
        </p:spPr>
        <p:txBody>
          <a:bodyPr wrap="square">
            <a:spAutoFit/>
          </a:bodyPr>
          <a:lstStyle/>
          <a:p>
            <a:pPr algn="l"/>
            <a:r>
              <a:rPr sz="1300" b="1" i="0">
                <a:solidFill>
                  <a:srgbClr val="1A1A1A"/>
                </a:solidFill>
              </a:rPr>
              <a:t>No Team Identity</a:t>
            </a:r>
          </a:p>
        </p:txBody>
      </p:sp>
      <p:sp>
        <p:nvSpPr>
          <p:cNvPr id="29" name="TextBox 28"/>
          <p:cNvSpPr txBox="1"/>
          <p:nvPr/>
        </p:nvSpPr>
        <p:spPr>
          <a:xfrm>
            <a:off x="4434840" y="4571999"/>
            <a:ext cx="3383280" cy="1280160"/>
          </a:xfrm>
          <a:prstGeom prst="rect">
            <a:avLst/>
          </a:prstGeom>
          <a:noFill/>
        </p:spPr>
        <p:txBody>
          <a:bodyPr wrap="square">
            <a:spAutoFit/>
          </a:bodyPr>
          <a:lstStyle/>
          <a:p>
            <a:pPr algn="l"/>
            <a:r>
              <a:rPr sz="1100" b="0" i="0">
                <a:solidFill>
                  <a:srgbClr val="555555"/>
                </a:solidFill>
              </a:rPr>
              <a:t>No persistent team/player records means starting from scratch every match.</a:t>
            </a:r>
          </a:p>
        </p:txBody>
      </p:sp>
      <p:sp>
        <p:nvSpPr>
          <p:cNvPr id="30" name="Rectangle 29"/>
          <p:cNvSpPr/>
          <p:nvPr/>
        </p:nvSpPr>
        <p:spPr>
          <a:xfrm>
            <a:off x="8183879" y="3977639"/>
            <a:ext cx="3657600" cy="205740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3977639"/>
            <a:ext cx="365760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4087367"/>
            <a:ext cx="548640" cy="502920"/>
          </a:xfrm>
          <a:prstGeom prst="rect">
            <a:avLst/>
          </a:prstGeom>
          <a:noFill/>
        </p:spPr>
        <p:txBody>
          <a:bodyPr wrap="square">
            <a:spAutoFit/>
          </a:bodyPr>
          <a:lstStyle/>
          <a:p>
            <a:pPr algn="l"/>
            <a:r>
              <a:rPr sz="2200" b="0" i="0">
                <a:solidFill>
                  <a:srgbClr val="1A1A1A"/>
                </a:solidFill>
              </a:rPr>
              <a:t>🏆</a:t>
            </a:r>
          </a:p>
        </p:txBody>
      </p:sp>
      <p:sp>
        <p:nvSpPr>
          <p:cNvPr id="33" name="TextBox 32"/>
          <p:cNvSpPr txBox="1"/>
          <p:nvPr/>
        </p:nvSpPr>
        <p:spPr>
          <a:xfrm>
            <a:off x="8869679" y="4142231"/>
            <a:ext cx="2834640" cy="411480"/>
          </a:xfrm>
          <a:prstGeom prst="rect">
            <a:avLst/>
          </a:prstGeom>
          <a:noFill/>
        </p:spPr>
        <p:txBody>
          <a:bodyPr wrap="square">
            <a:spAutoFit/>
          </a:bodyPr>
          <a:lstStyle/>
          <a:p>
            <a:pPr algn="l"/>
            <a:r>
              <a:rPr sz="1300" b="1" i="0">
                <a:solidFill>
                  <a:srgbClr val="1A1A1A"/>
                </a:solidFill>
              </a:rPr>
              <a:t>No Leagues</a:t>
            </a:r>
          </a:p>
        </p:txBody>
      </p:sp>
      <p:sp>
        <p:nvSpPr>
          <p:cNvPr id="34" name="TextBox 33"/>
          <p:cNvSpPr txBox="1"/>
          <p:nvPr/>
        </p:nvSpPr>
        <p:spPr>
          <a:xfrm>
            <a:off x="8321039" y="4571999"/>
            <a:ext cx="3383280" cy="1280160"/>
          </a:xfrm>
          <a:prstGeom prst="rect">
            <a:avLst/>
          </a:prstGeom>
          <a:noFill/>
        </p:spPr>
        <p:txBody>
          <a:bodyPr wrap="square">
            <a:spAutoFit/>
          </a:bodyPr>
          <a:lstStyle/>
          <a:p>
            <a:pPr algn="l"/>
            <a:r>
              <a:rPr sz="1100" b="0" i="0">
                <a:solidFill>
                  <a:srgbClr val="555555"/>
                </a:solidFill>
              </a:rPr>
              <a:t>Amateur teams have no lightweight way to run tournaments with standings.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Our Solution</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Gully Cricket Scorer — one app, every format, everywhere</a:t>
            </a:r>
          </a:p>
        </p:txBody>
      </p:sp>
      <p:sp>
        <p:nvSpPr>
          <p:cNvPr id="5" name="TextBox 4"/>
          <p:cNvSpPr txBox="1"/>
          <p:nvPr/>
        </p:nvSpPr>
        <p:spPr>
          <a:xfrm>
            <a:off x="457200" y="1691640"/>
            <a:ext cx="5029200" cy="2011680"/>
          </a:xfrm>
          <a:prstGeom prst="rect">
            <a:avLst/>
          </a:prstGeom>
          <a:noFill/>
        </p:spPr>
        <p:txBody>
          <a:bodyPr wrap="square">
            <a:spAutoFit/>
          </a:bodyPr>
          <a:lstStyle/>
          <a:p>
            <a:pPr algn="l"/>
            <a:r>
              <a:rPr sz="1300" b="0" i="0">
                <a:solidFill>
                  <a:srgbClr val="1A1A1A"/>
                </a:solidFill>
              </a:rPr>
              <a:t>Gully Cricket Scorer is a professional-grade, offline-first scoring platform built for street and community cricket. It handles every format from T20 to Test, stores complete match history, and broadcasts live scores to spectators within 50 miles — all without requiring a backend subscription or user accounts.</a:t>
            </a:r>
          </a:p>
        </p:txBody>
      </p:sp>
      <p:sp>
        <p:nvSpPr>
          <p:cNvPr id="6" name="Rectangle 5"/>
          <p:cNvSpPr/>
          <p:nvPr/>
        </p:nvSpPr>
        <p:spPr>
          <a:xfrm>
            <a:off x="457200" y="1828800"/>
            <a:ext cx="201168" cy="8229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4754880" cy="365760"/>
          </a:xfrm>
          <a:prstGeom prst="rect">
            <a:avLst/>
          </a:prstGeom>
          <a:noFill/>
        </p:spPr>
        <p:txBody>
          <a:bodyPr wrap="square">
            <a:spAutoFit/>
          </a:bodyPr>
          <a:lstStyle/>
          <a:p>
            <a:pPr algn="l"/>
            <a:r>
              <a:rPr sz="1300" b="1" i="0">
                <a:solidFill>
                  <a:srgbClr val="1B6B28"/>
                </a:solidFill>
              </a:rPr>
              <a:t>Offline First</a:t>
            </a:r>
          </a:p>
        </p:txBody>
      </p:sp>
      <p:sp>
        <p:nvSpPr>
          <p:cNvPr id="8" name="TextBox 7"/>
          <p:cNvSpPr txBox="1"/>
          <p:nvPr/>
        </p:nvSpPr>
        <p:spPr>
          <a:xfrm>
            <a:off x="777240" y="2167128"/>
            <a:ext cx="4754880" cy="457200"/>
          </a:xfrm>
          <a:prstGeom prst="rect">
            <a:avLst/>
          </a:prstGeom>
          <a:noFill/>
        </p:spPr>
        <p:txBody>
          <a:bodyPr wrap="square">
            <a:spAutoFit/>
          </a:bodyPr>
          <a:lstStyle/>
          <a:p>
            <a:pPr algn="l"/>
            <a:r>
              <a:rPr sz="1100" b="0" i="0">
                <a:solidFill>
                  <a:srgbClr val="555555"/>
                </a:solidFill>
              </a:rPr>
              <a:t>Full feature parity with zero internet. SQLite on-device.</a:t>
            </a:r>
          </a:p>
        </p:txBody>
      </p:sp>
      <p:sp>
        <p:nvSpPr>
          <p:cNvPr id="9" name="Rectangle 8"/>
          <p:cNvSpPr/>
          <p:nvPr/>
        </p:nvSpPr>
        <p:spPr>
          <a:xfrm>
            <a:off x="457200" y="3044952"/>
            <a:ext cx="201168" cy="8229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44952"/>
            <a:ext cx="4754880" cy="365760"/>
          </a:xfrm>
          <a:prstGeom prst="rect">
            <a:avLst/>
          </a:prstGeom>
          <a:noFill/>
        </p:spPr>
        <p:txBody>
          <a:bodyPr wrap="square">
            <a:spAutoFit/>
          </a:bodyPr>
          <a:lstStyle/>
          <a:p>
            <a:pPr algn="l"/>
            <a:r>
              <a:rPr sz="1300" b="1" i="0">
                <a:solidFill>
                  <a:srgbClr val="E65100"/>
                </a:solidFill>
              </a:rPr>
              <a:t>All Formats</a:t>
            </a:r>
          </a:p>
        </p:txBody>
      </p:sp>
      <p:sp>
        <p:nvSpPr>
          <p:cNvPr id="11" name="TextBox 10"/>
          <p:cNvSpPr txBox="1"/>
          <p:nvPr/>
        </p:nvSpPr>
        <p:spPr>
          <a:xfrm>
            <a:off x="777240" y="3383280"/>
            <a:ext cx="4754880" cy="457200"/>
          </a:xfrm>
          <a:prstGeom prst="rect">
            <a:avLst/>
          </a:prstGeom>
          <a:noFill/>
        </p:spPr>
        <p:txBody>
          <a:bodyPr wrap="square">
            <a:spAutoFit/>
          </a:bodyPr>
          <a:lstStyle/>
          <a:p>
            <a:pPr algn="l"/>
            <a:r>
              <a:rPr sz="1100" b="0" i="0">
                <a:solidFill>
                  <a:srgbClr val="555555"/>
                </a:solidFill>
              </a:rPr>
              <a:t>T20, ODI, Test (follow-on), Custom — ICC-accurate rules.</a:t>
            </a:r>
          </a:p>
        </p:txBody>
      </p:sp>
      <p:sp>
        <p:nvSpPr>
          <p:cNvPr id="12" name="Rectangle 11"/>
          <p:cNvSpPr/>
          <p:nvPr/>
        </p:nvSpPr>
        <p:spPr>
          <a:xfrm>
            <a:off x="457200" y="4261104"/>
            <a:ext cx="201168" cy="82296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61104"/>
            <a:ext cx="4754880" cy="365760"/>
          </a:xfrm>
          <a:prstGeom prst="rect">
            <a:avLst/>
          </a:prstGeom>
          <a:noFill/>
        </p:spPr>
        <p:txBody>
          <a:bodyPr wrap="square">
            <a:spAutoFit/>
          </a:bodyPr>
          <a:lstStyle/>
          <a:p>
            <a:pPr algn="l"/>
            <a:r>
              <a:rPr sz="1300" b="1" i="0">
                <a:solidFill>
                  <a:srgbClr val="00695C"/>
                </a:solidFill>
              </a:rPr>
              <a:t>Real-Time Cloud</a:t>
            </a:r>
          </a:p>
        </p:txBody>
      </p:sp>
      <p:sp>
        <p:nvSpPr>
          <p:cNvPr id="14" name="TextBox 13"/>
          <p:cNvSpPr txBox="1"/>
          <p:nvPr/>
        </p:nvSpPr>
        <p:spPr>
          <a:xfrm>
            <a:off x="777240" y="4599432"/>
            <a:ext cx="4754880" cy="457200"/>
          </a:xfrm>
          <a:prstGeom prst="rect">
            <a:avLst/>
          </a:prstGeom>
          <a:noFill/>
        </p:spPr>
        <p:txBody>
          <a:bodyPr wrap="square">
            <a:spAutoFit/>
          </a:bodyPr>
          <a:lstStyle/>
          <a:p>
            <a:pPr algn="l"/>
            <a:r>
              <a:rPr sz="1100" b="0" i="0">
                <a:solidFill>
                  <a:srgbClr val="555555"/>
                </a:solidFill>
              </a:rPr>
              <a:t>Live scores, team chat, delegate access via Supabase.</a:t>
            </a:r>
          </a:p>
        </p:txBody>
      </p:sp>
      <p:sp>
        <p:nvSpPr>
          <p:cNvPr id="15" name="Rectangle 14"/>
          <p:cNvSpPr/>
          <p:nvPr/>
        </p:nvSpPr>
        <p:spPr>
          <a:xfrm>
            <a:off x="457200" y="5477256"/>
            <a:ext cx="201168" cy="82296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477256"/>
            <a:ext cx="4754880" cy="365760"/>
          </a:xfrm>
          <a:prstGeom prst="rect">
            <a:avLst/>
          </a:prstGeom>
          <a:noFill/>
        </p:spPr>
        <p:txBody>
          <a:bodyPr wrap="square">
            <a:spAutoFit/>
          </a:bodyPr>
          <a:lstStyle/>
          <a:p>
            <a:pPr algn="l"/>
            <a:r>
              <a:rPr sz="1300" b="1" i="0">
                <a:solidFill>
                  <a:srgbClr val="37474F"/>
                </a:solidFill>
              </a:rPr>
              <a:t>Team Management</a:t>
            </a:r>
          </a:p>
        </p:txBody>
      </p:sp>
      <p:sp>
        <p:nvSpPr>
          <p:cNvPr id="17" name="TextBox 16"/>
          <p:cNvSpPr txBox="1"/>
          <p:nvPr/>
        </p:nvSpPr>
        <p:spPr>
          <a:xfrm>
            <a:off x="777240" y="5815584"/>
            <a:ext cx="4754880" cy="457200"/>
          </a:xfrm>
          <a:prstGeom prst="rect">
            <a:avLst/>
          </a:prstGeom>
          <a:noFill/>
        </p:spPr>
        <p:txBody>
          <a:bodyPr wrap="square">
            <a:spAutoFit/>
          </a:bodyPr>
          <a:lstStyle/>
          <a:p>
            <a:pPr algn="l"/>
            <a:r>
              <a:rPr sz="1100" b="0" i="0">
                <a:solidFill>
                  <a:srgbClr val="555555"/>
                </a:solidFill>
              </a:rPr>
              <a:t>Persistent teams, rosters, leagues, career stats.</a:t>
            </a:r>
          </a:p>
        </p:txBody>
      </p:sp>
      <p:sp>
        <p:nvSpPr>
          <p:cNvPr id="18" name="Rectangle 17"/>
          <p:cNvSpPr/>
          <p:nvPr/>
        </p:nvSpPr>
        <p:spPr>
          <a:xfrm>
            <a:off x="5669280" y="1691640"/>
            <a:ext cx="6035040" cy="493776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1828800"/>
            <a:ext cx="5486400" cy="365760"/>
          </a:xfrm>
          <a:prstGeom prst="rect">
            <a:avLst/>
          </a:prstGeom>
          <a:noFill/>
        </p:spPr>
        <p:txBody>
          <a:bodyPr wrap="square">
            <a:spAutoFit/>
          </a:bodyPr>
          <a:lstStyle/>
          <a:p>
            <a:pPr algn="l"/>
            <a:r>
              <a:rPr sz="900" b="1" i="0">
                <a:solidFill>
                  <a:srgbClr val="1B6B28"/>
                </a:solidFill>
              </a:rPr>
              <a:t>FEATURE CHECKLIST</a:t>
            </a:r>
          </a:p>
        </p:txBody>
      </p:sp>
      <p:sp>
        <p:nvSpPr>
          <p:cNvPr id="20" name="Rectangle 19"/>
          <p:cNvSpPr/>
          <p:nvPr/>
        </p:nvSpPr>
        <p:spPr>
          <a:xfrm>
            <a:off x="5897880" y="2267712"/>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88736" y="2221992"/>
            <a:ext cx="274320" cy="320040"/>
          </a:xfrm>
          <a:prstGeom prst="rect">
            <a:avLst/>
          </a:prstGeom>
          <a:noFill/>
        </p:spPr>
        <p:txBody>
          <a:bodyPr wrap="square">
            <a:spAutoFit/>
          </a:bodyPr>
          <a:lstStyle/>
          <a:p>
            <a:pPr algn="ctr"/>
            <a:r>
              <a:rPr sz="900" b="1" i="0">
                <a:solidFill>
                  <a:srgbClr val="FFFFFF"/>
                </a:solidFill>
              </a:rPr>
              <a:t>✓</a:t>
            </a:r>
          </a:p>
        </p:txBody>
      </p:sp>
      <p:sp>
        <p:nvSpPr>
          <p:cNvPr id="22" name="TextBox 21"/>
          <p:cNvSpPr txBox="1"/>
          <p:nvPr/>
        </p:nvSpPr>
        <p:spPr>
          <a:xfrm>
            <a:off x="6217920" y="2194560"/>
            <a:ext cx="5212080" cy="365760"/>
          </a:xfrm>
          <a:prstGeom prst="rect">
            <a:avLst/>
          </a:prstGeom>
          <a:noFill/>
        </p:spPr>
        <p:txBody>
          <a:bodyPr wrap="square">
            <a:spAutoFit/>
          </a:bodyPr>
          <a:lstStyle/>
          <a:p>
            <a:pPr algn="l"/>
            <a:r>
              <a:rPr sz="1100" b="0" i="0">
                <a:solidFill>
                  <a:srgbClr val="1A1A1A"/>
                </a:solidFill>
              </a:rPr>
              <a:t>Ball-by-ball scoring with undo</a:t>
            </a:r>
          </a:p>
        </p:txBody>
      </p:sp>
      <p:sp>
        <p:nvSpPr>
          <p:cNvPr id="23" name="Rectangle 22"/>
          <p:cNvSpPr/>
          <p:nvPr/>
        </p:nvSpPr>
        <p:spPr>
          <a:xfrm>
            <a:off x="5897880" y="2688336"/>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88736" y="2642616"/>
            <a:ext cx="274320" cy="320040"/>
          </a:xfrm>
          <a:prstGeom prst="rect">
            <a:avLst/>
          </a:prstGeom>
          <a:noFill/>
        </p:spPr>
        <p:txBody>
          <a:bodyPr wrap="square">
            <a:spAutoFit/>
          </a:bodyPr>
          <a:lstStyle/>
          <a:p>
            <a:pPr algn="ctr"/>
            <a:r>
              <a:rPr sz="900" b="1" i="0">
                <a:solidFill>
                  <a:srgbClr val="FFFFFF"/>
                </a:solidFill>
              </a:rPr>
              <a:t>✓</a:t>
            </a:r>
          </a:p>
        </p:txBody>
      </p:sp>
      <p:sp>
        <p:nvSpPr>
          <p:cNvPr id="25" name="TextBox 24"/>
          <p:cNvSpPr txBox="1"/>
          <p:nvPr/>
        </p:nvSpPr>
        <p:spPr>
          <a:xfrm>
            <a:off x="6217920" y="2615184"/>
            <a:ext cx="5212080" cy="365760"/>
          </a:xfrm>
          <a:prstGeom prst="rect">
            <a:avLst/>
          </a:prstGeom>
          <a:noFill/>
        </p:spPr>
        <p:txBody>
          <a:bodyPr wrap="square">
            <a:spAutoFit/>
          </a:bodyPr>
          <a:lstStyle/>
          <a:p>
            <a:pPr algn="l"/>
            <a:r>
              <a:rPr sz="1100" b="0" i="0">
                <a:solidFill>
                  <a:srgbClr val="1A1A1A"/>
                </a:solidFill>
              </a:rPr>
              <a:t>All dismissal types + free hit</a:t>
            </a:r>
          </a:p>
        </p:txBody>
      </p:sp>
      <p:sp>
        <p:nvSpPr>
          <p:cNvPr id="26" name="Rectangle 25"/>
          <p:cNvSpPr/>
          <p:nvPr/>
        </p:nvSpPr>
        <p:spPr>
          <a:xfrm>
            <a:off x="5897880" y="3108960"/>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88736" y="3063240"/>
            <a:ext cx="274320" cy="320040"/>
          </a:xfrm>
          <a:prstGeom prst="rect">
            <a:avLst/>
          </a:prstGeom>
          <a:noFill/>
        </p:spPr>
        <p:txBody>
          <a:bodyPr wrap="square">
            <a:spAutoFit/>
          </a:bodyPr>
          <a:lstStyle/>
          <a:p>
            <a:pPr algn="ctr"/>
            <a:r>
              <a:rPr sz="900" b="1" i="0">
                <a:solidFill>
                  <a:srgbClr val="FFFFFF"/>
                </a:solidFill>
              </a:rPr>
              <a:t>✓</a:t>
            </a:r>
          </a:p>
        </p:txBody>
      </p:sp>
      <p:sp>
        <p:nvSpPr>
          <p:cNvPr id="28" name="TextBox 27"/>
          <p:cNvSpPr txBox="1"/>
          <p:nvPr/>
        </p:nvSpPr>
        <p:spPr>
          <a:xfrm>
            <a:off x="6217920" y="3035808"/>
            <a:ext cx="5212080" cy="365760"/>
          </a:xfrm>
          <a:prstGeom prst="rect">
            <a:avLst/>
          </a:prstGeom>
          <a:noFill/>
        </p:spPr>
        <p:txBody>
          <a:bodyPr wrap="square">
            <a:spAutoFit/>
          </a:bodyPr>
          <a:lstStyle/>
          <a:p>
            <a:pPr algn="l"/>
            <a:r>
              <a:rPr sz="1100" b="0" i="0">
                <a:solidFill>
                  <a:srgbClr val="1A1A1A"/>
                </a:solidFill>
              </a:rPr>
              <a:t>Extras: wide, no ball, bye, leg bye</a:t>
            </a:r>
          </a:p>
        </p:txBody>
      </p:sp>
      <p:sp>
        <p:nvSpPr>
          <p:cNvPr id="29" name="Rectangle 28"/>
          <p:cNvSpPr/>
          <p:nvPr/>
        </p:nvSpPr>
        <p:spPr>
          <a:xfrm>
            <a:off x="5897880" y="3529584"/>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8736" y="3483864"/>
            <a:ext cx="274320" cy="320040"/>
          </a:xfrm>
          <a:prstGeom prst="rect">
            <a:avLst/>
          </a:prstGeom>
          <a:noFill/>
        </p:spPr>
        <p:txBody>
          <a:bodyPr wrap="square">
            <a:spAutoFit/>
          </a:bodyPr>
          <a:lstStyle/>
          <a:p>
            <a:pPr algn="ctr"/>
            <a:r>
              <a:rPr sz="900" b="1" i="0">
                <a:solidFill>
                  <a:srgbClr val="FFFFFF"/>
                </a:solidFill>
              </a:rPr>
              <a:t>✓</a:t>
            </a:r>
          </a:p>
        </p:txBody>
      </p:sp>
      <p:sp>
        <p:nvSpPr>
          <p:cNvPr id="31" name="TextBox 30"/>
          <p:cNvSpPr txBox="1"/>
          <p:nvPr/>
        </p:nvSpPr>
        <p:spPr>
          <a:xfrm>
            <a:off x="6217920" y="3456432"/>
            <a:ext cx="5212080" cy="365760"/>
          </a:xfrm>
          <a:prstGeom prst="rect">
            <a:avLst/>
          </a:prstGeom>
          <a:noFill/>
        </p:spPr>
        <p:txBody>
          <a:bodyPr wrap="square">
            <a:spAutoFit/>
          </a:bodyPr>
          <a:lstStyle/>
          <a:p>
            <a:pPr algn="l"/>
            <a:r>
              <a:rPr sz="1100" b="0" i="0">
                <a:solidFill>
                  <a:srgbClr val="1A1A1A"/>
                </a:solidFill>
              </a:rPr>
              <a:t>Partnerships + fall of wickets</a:t>
            </a:r>
          </a:p>
        </p:txBody>
      </p:sp>
      <p:sp>
        <p:nvSpPr>
          <p:cNvPr id="32" name="Rectangle 31"/>
          <p:cNvSpPr/>
          <p:nvPr/>
        </p:nvSpPr>
        <p:spPr>
          <a:xfrm>
            <a:off x="5897880" y="3950208"/>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88736" y="3904488"/>
            <a:ext cx="274320" cy="320040"/>
          </a:xfrm>
          <a:prstGeom prst="rect">
            <a:avLst/>
          </a:prstGeom>
          <a:noFill/>
        </p:spPr>
        <p:txBody>
          <a:bodyPr wrap="square">
            <a:spAutoFit/>
          </a:bodyPr>
          <a:lstStyle/>
          <a:p>
            <a:pPr algn="ctr"/>
            <a:r>
              <a:rPr sz="900" b="1" i="0">
                <a:solidFill>
                  <a:srgbClr val="FFFFFF"/>
                </a:solidFill>
              </a:rPr>
              <a:t>✓</a:t>
            </a:r>
          </a:p>
        </p:txBody>
      </p:sp>
      <p:sp>
        <p:nvSpPr>
          <p:cNvPr id="34" name="TextBox 33"/>
          <p:cNvSpPr txBox="1"/>
          <p:nvPr/>
        </p:nvSpPr>
        <p:spPr>
          <a:xfrm>
            <a:off x="6217920" y="3877056"/>
            <a:ext cx="5212080" cy="365760"/>
          </a:xfrm>
          <a:prstGeom prst="rect">
            <a:avLst/>
          </a:prstGeom>
          <a:noFill/>
        </p:spPr>
        <p:txBody>
          <a:bodyPr wrap="square">
            <a:spAutoFit/>
          </a:bodyPr>
          <a:lstStyle/>
          <a:p>
            <a:pPr algn="l"/>
            <a:r>
              <a:rPr sz="1100" b="0" i="0">
                <a:solidFill>
                  <a:srgbClr val="1A1A1A"/>
                </a:solidFill>
              </a:rPr>
              <a:t>Full scorecard (batting + bowling)</a:t>
            </a:r>
          </a:p>
        </p:txBody>
      </p:sp>
      <p:sp>
        <p:nvSpPr>
          <p:cNvPr id="35" name="Rectangle 34"/>
          <p:cNvSpPr/>
          <p:nvPr/>
        </p:nvSpPr>
        <p:spPr>
          <a:xfrm>
            <a:off x="5897880" y="4370832"/>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88736" y="4325112"/>
            <a:ext cx="274320" cy="320040"/>
          </a:xfrm>
          <a:prstGeom prst="rect">
            <a:avLst/>
          </a:prstGeom>
          <a:noFill/>
        </p:spPr>
        <p:txBody>
          <a:bodyPr wrap="square">
            <a:spAutoFit/>
          </a:bodyPr>
          <a:lstStyle/>
          <a:p>
            <a:pPr algn="ctr"/>
            <a:r>
              <a:rPr sz="900" b="1" i="0">
                <a:solidFill>
                  <a:srgbClr val="FFFFFF"/>
                </a:solidFill>
              </a:rPr>
              <a:t>✓</a:t>
            </a:r>
          </a:p>
        </p:txBody>
      </p:sp>
      <p:sp>
        <p:nvSpPr>
          <p:cNvPr id="37" name="TextBox 36"/>
          <p:cNvSpPr txBox="1"/>
          <p:nvPr/>
        </p:nvSpPr>
        <p:spPr>
          <a:xfrm>
            <a:off x="6217920" y="4297680"/>
            <a:ext cx="5212080" cy="365760"/>
          </a:xfrm>
          <a:prstGeom prst="rect">
            <a:avLst/>
          </a:prstGeom>
          <a:noFill/>
        </p:spPr>
        <p:txBody>
          <a:bodyPr wrap="square">
            <a:spAutoFit/>
          </a:bodyPr>
          <a:lstStyle/>
          <a:p>
            <a:pPr algn="l"/>
            <a:r>
              <a:rPr sz="1100" b="0" i="0">
                <a:solidFill>
                  <a:srgbClr val="1A1A1A"/>
                </a:solidFill>
              </a:rPr>
              <a:t>Career stats (avg, SR, economy, best)</a:t>
            </a:r>
          </a:p>
        </p:txBody>
      </p:sp>
      <p:sp>
        <p:nvSpPr>
          <p:cNvPr id="38" name="Rectangle 37"/>
          <p:cNvSpPr/>
          <p:nvPr/>
        </p:nvSpPr>
        <p:spPr>
          <a:xfrm>
            <a:off x="5897880" y="4791456"/>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88736" y="4745736"/>
            <a:ext cx="274320" cy="320040"/>
          </a:xfrm>
          <a:prstGeom prst="rect">
            <a:avLst/>
          </a:prstGeom>
          <a:noFill/>
        </p:spPr>
        <p:txBody>
          <a:bodyPr wrap="square">
            <a:spAutoFit/>
          </a:bodyPr>
          <a:lstStyle/>
          <a:p>
            <a:pPr algn="ctr"/>
            <a:r>
              <a:rPr sz="900" b="1" i="0">
                <a:solidFill>
                  <a:srgbClr val="FFFFFF"/>
                </a:solidFill>
              </a:rPr>
              <a:t>✓</a:t>
            </a:r>
          </a:p>
        </p:txBody>
      </p:sp>
      <p:sp>
        <p:nvSpPr>
          <p:cNvPr id="40" name="TextBox 39"/>
          <p:cNvSpPr txBox="1"/>
          <p:nvPr/>
        </p:nvSpPr>
        <p:spPr>
          <a:xfrm>
            <a:off x="6217920" y="4718304"/>
            <a:ext cx="5212080" cy="365760"/>
          </a:xfrm>
          <a:prstGeom prst="rect">
            <a:avLst/>
          </a:prstGeom>
          <a:noFill/>
        </p:spPr>
        <p:txBody>
          <a:bodyPr wrap="square">
            <a:spAutoFit/>
          </a:bodyPr>
          <a:lstStyle/>
          <a:p>
            <a:pPr algn="l"/>
            <a:r>
              <a:rPr sz="1100" b="0" i="0">
                <a:solidFill>
                  <a:srgbClr val="1A1A1A"/>
                </a:solidFill>
              </a:rPr>
              <a:t>Leagues with standings + fixtures</a:t>
            </a:r>
          </a:p>
        </p:txBody>
      </p:sp>
      <p:sp>
        <p:nvSpPr>
          <p:cNvPr id="41" name="Rectangle 40"/>
          <p:cNvSpPr/>
          <p:nvPr/>
        </p:nvSpPr>
        <p:spPr>
          <a:xfrm>
            <a:off x="5897880" y="5212080"/>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88736" y="5166360"/>
            <a:ext cx="274320" cy="320040"/>
          </a:xfrm>
          <a:prstGeom prst="rect">
            <a:avLst/>
          </a:prstGeom>
          <a:noFill/>
        </p:spPr>
        <p:txBody>
          <a:bodyPr wrap="square">
            <a:spAutoFit/>
          </a:bodyPr>
          <a:lstStyle/>
          <a:p>
            <a:pPr algn="ctr"/>
            <a:r>
              <a:rPr sz="900" b="1" i="0">
                <a:solidFill>
                  <a:srgbClr val="FFFFFF"/>
                </a:solidFill>
              </a:rPr>
              <a:t>✓</a:t>
            </a:r>
          </a:p>
        </p:txBody>
      </p:sp>
      <p:sp>
        <p:nvSpPr>
          <p:cNvPr id="43" name="TextBox 42"/>
          <p:cNvSpPr txBox="1"/>
          <p:nvPr/>
        </p:nvSpPr>
        <p:spPr>
          <a:xfrm>
            <a:off x="6217920" y="5138928"/>
            <a:ext cx="5212080" cy="365760"/>
          </a:xfrm>
          <a:prstGeom prst="rect">
            <a:avLst/>
          </a:prstGeom>
          <a:noFill/>
        </p:spPr>
        <p:txBody>
          <a:bodyPr wrap="square">
            <a:spAutoFit/>
          </a:bodyPr>
          <a:lstStyle/>
          <a:p>
            <a:pPr algn="l"/>
            <a:r>
              <a:rPr sz="1100" b="0" i="0">
                <a:solidFill>
                  <a:srgbClr val="1A1A1A"/>
                </a:solidFill>
              </a:rPr>
              <a:t>Admin PIN (SHA-256) per team</a:t>
            </a:r>
          </a:p>
        </p:txBody>
      </p:sp>
      <p:sp>
        <p:nvSpPr>
          <p:cNvPr id="44" name="Rectangle 43"/>
          <p:cNvSpPr/>
          <p:nvPr/>
        </p:nvSpPr>
        <p:spPr>
          <a:xfrm>
            <a:off x="5897880" y="5632704"/>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88736" y="5586984"/>
            <a:ext cx="274320" cy="320040"/>
          </a:xfrm>
          <a:prstGeom prst="rect">
            <a:avLst/>
          </a:prstGeom>
          <a:noFill/>
        </p:spPr>
        <p:txBody>
          <a:bodyPr wrap="square">
            <a:spAutoFit/>
          </a:bodyPr>
          <a:lstStyle/>
          <a:p>
            <a:pPr algn="ctr"/>
            <a:r>
              <a:rPr sz="900" b="1" i="0">
                <a:solidFill>
                  <a:srgbClr val="FFFFFF"/>
                </a:solidFill>
              </a:rPr>
              <a:t>✓</a:t>
            </a:r>
          </a:p>
        </p:txBody>
      </p:sp>
      <p:sp>
        <p:nvSpPr>
          <p:cNvPr id="46" name="TextBox 45"/>
          <p:cNvSpPr txBox="1"/>
          <p:nvPr/>
        </p:nvSpPr>
        <p:spPr>
          <a:xfrm>
            <a:off x="6217920" y="5559552"/>
            <a:ext cx="5212080" cy="365760"/>
          </a:xfrm>
          <a:prstGeom prst="rect">
            <a:avLst/>
          </a:prstGeom>
          <a:noFill/>
        </p:spPr>
        <p:txBody>
          <a:bodyPr wrap="square">
            <a:spAutoFit/>
          </a:bodyPr>
          <a:lstStyle/>
          <a:p>
            <a:pPr algn="l"/>
            <a:r>
              <a:rPr sz="1100" b="0" i="0">
                <a:solidFill>
                  <a:srgbClr val="1A1A1A"/>
                </a:solidFill>
              </a:rPr>
              <a:t>Proximity team discovery (50 mi)</a:t>
            </a:r>
          </a:p>
        </p:txBody>
      </p:sp>
      <p:sp>
        <p:nvSpPr>
          <p:cNvPr id="47" name="Rectangle 46"/>
          <p:cNvSpPr/>
          <p:nvPr/>
        </p:nvSpPr>
        <p:spPr>
          <a:xfrm>
            <a:off x="5897880" y="6053328"/>
            <a:ext cx="201168" cy="201168"/>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88736" y="6007608"/>
            <a:ext cx="274320" cy="320040"/>
          </a:xfrm>
          <a:prstGeom prst="rect">
            <a:avLst/>
          </a:prstGeom>
          <a:noFill/>
        </p:spPr>
        <p:txBody>
          <a:bodyPr wrap="square">
            <a:spAutoFit/>
          </a:bodyPr>
          <a:lstStyle/>
          <a:p>
            <a:pPr algn="ctr"/>
            <a:r>
              <a:rPr sz="900" b="1" i="0">
                <a:solidFill>
                  <a:srgbClr val="FFFFFF"/>
                </a:solidFill>
              </a:rPr>
              <a:t>✓</a:t>
            </a:r>
          </a:p>
        </p:txBody>
      </p:sp>
      <p:sp>
        <p:nvSpPr>
          <p:cNvPr id="49" name="TextBox 48"/>
          <p:cNvSpPr txBox="1"/>
          <p:nvPr/>
        </p:nvSpPr>
        <p:spPr>
          <a:xfrm>
            <a:off x="6217920" y="5980176"/>
            <a:ext cx="5212080" cy="365760"/>
          </a:xfrm>
          <a:prstGeom prst="rect">
            <a:avLst/>
          </a:prstGeom>
          <a:noFill/>
        </p:spPr>
        <p:txBody>
          <a:bodyPr wrap="square">
            <a:spAutoFit/>
          </a:bodyPr>
          <a:lstStyle/>
          <a:p>
            <a:pPr algn="l"/>
            <a:r>
              <a:rPr sz="1100" b="0" i="0">
                <a:solidFill>
                  <a:srgbClr val="1A1A1A"/>
                </a:solidFill>
              </a:rPr>
              <a:t>Dark mode · MD3 design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Technology Stack</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B0BEC5"/>
                </a:solidFill>
              </a:rPr>
              <a:t>Modern, proven, open-source — zero licensing cost</a:t>
            </a:r>
          </a:p>
        </p:txBody>
      </p:sp>
      <p:sp>
        <p:nvSpPr>
          <p:cNvPr id="5" name="Rectangle 4"/>
          <p:cNvSpPr/>
          <p:nvPr/>
        </p:nvSpPr>
        <p:spPr>
          <a:xfrm>
            <a:off x="320040" y="1691640"/>
            <a:ext cx="2743200" cy="2240280"/>
          </a:xfrm>
          <a:prstGeom prst="rect">
            <a:avLst/>
          </a:prstGeom>
          <a:solidFill>
            <a:srgbClr val="263238"/>
          </a:solidFill>
          <a:ln w="19050">
            <a:solidFill>
              <a:srgbClr val="61D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91640"/>
            <a:ext cx="2743200" cy="73152"/>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19656"/>
            <a:ext cx="2468880" cy="274320"/>
          </a:xfrm>
          <a:prstGeom prst="rect">
            <a:avLst/>
          </a:prstGeom>
          <a:noFill/>
        </p:spPr>
        <p:txBody>
          <a:bodyPr wrap="square">
            <a:spAutoFit/>
          </a:bodyPr>
          <a:lstStyle/>
          <a:p>
            <a:pPr algn="l"/>
            <a:r>
              <a:rPr sz="800" b="1" i="0">
                <a:solidFill>
                  <a:srgbClr val="61DBFB"/>
                </a:solidFill>
              </a:rPr>
              <a:t>FRAMEWORK</a:t>
            </a:r>
          </a:p>
        </p:txBody>
      </p:sp>
      <p:sp>
        <p:nvSpPr>
          <p:cNvPr id="8" name="TextBox 7"/>
          <p:cNvSpPr txBox="1"/>
          <p:nvPr/>
        </p:nvSpPr>
        <p:spPr>
          <a:xfrm>
            <a:off x="457200" y="2075688"/>
            <a:ext cx="2468880" cy="685800"/>
          </a:xfrm>
          <a:prstGeom prst="rect">
            <a:avLst/>
          </a:prstGeom>
          <a:noFill/>
        </p:spPr>
        <p:txBody>
          <a:bodyPr wrap="square">
            <a:spAutoFit/>
          </a:bodyPr>
          <a:lstStyle/>
          <a:p>
            <a:pPr algn="l"/>
            <a:r>
              <a:rPr sz="1300" b="1" i="0">
                <a:solidFill>
                  <a:srgbClr val="FFFFFF"/>
                </a:solidFill>
              </a:rPr>
              <a:t>React Native
+ Expo SDK 54</a:t>
            </a:r>
          </a:p>
        </p:txBody>
      </p:sp>
      <p:sp>
        <p:nvSpPr>
          <p:cNvPr id="9" name="TextBox 8"/>
          <p:cNvSpPr txBox="1"/>
          <p:nvPr/>
        </p:nvSpPr>
        <p:spPr>
          <a:xfrm>
            <a:off x="457200" y="2770632"/>
            <a:ext cx="2468880" cy="1051560"/>
          </a:xfrm>
          <a:prstGeom prst="rect">
            <a:avLst/>
          </a:prstGeom>
          <a:noFill/>
        </p:spPr>
        <p:txBody>
          <a:bodyPr wrap="square">
            <a:spAutoFit/>
          </a:bodyPr>
          <a:lstStyle/>
          <a:p>
            <a:pPr algn="l"/>
            <a:r>
              <a:rPr sz="950" b="0" i="0">
                <a:solidFill>
                  <a:srgbClr val="B0BEC5"/>
                </a:solidFill>
              </a:rPr>
              <a:t>Single codebase → Android, iOS, Web.
Expo Go for instant device testing;
EAS Build for app store deployment.</a:t>
            </a:r>
          </a:p>
        </p:txBody>
      </p:sp>
      <p:sp>
        <p:nvSpPr>
          <p:cNvPr id="10" name="Rectangle 9"/>
          <p:cNvSpPr/>
          <p:nvPr/>
        </p:nvSpPr>
        <p:spPr>
          <a:xfrm>
            <a:off x="3246120" y="1691640"/>
            <a:ext cx="2743200" cy="2240280"/>
          </a:xfrm>
          <a:prstGeom prst="rect">
            <a:avLst/>
          </a:prstGeom>
          <a:solidFill>
            <a:srgbClr val="263238"/>
          </a:solidFill>
          <a:ln w="19050">
            <a:solidFill>
              <a:srgbClr val="3B8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1691640"/>
            <a:ext cx="2743200" cy="73152"/>
          </a:xfrm>
          <a:prstGeom prst="rect">
            <a:avLst/>
          </a:prstGeom>
          <a:solidFill>
            <a:srgbClr val="3B8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819656"/>
            <a:ext cx="2468880" cy="274320"/>
          </a:xfrm>
          <a:prstGeom prst="rect">
            <a:avLst/>
          </a:prstGeom>
          <a:noFill/>
        </p:spPr>
        <p:txBody>
          <a:bodyPr wrap="square">
            <a:spAutoFit/>
          </a:bodyPr>
          <a:lstStyle/>
          <a:p>
            <a:pPr algn="l"/>
            <a:r>
              <a:rPr sz="800" b="1" i="0">
                <a:solidFill>
                  <a:srgbClr val="3B82C4"/>
                </a:solidFill>
              </a:rPr>
              <a:t>LANGUAGE</a:t>
            </a:r>
          </a:p>
        </p:txBody>
      </p:sp>
      <p:sp>
        <p:nvSpPr>
          <p:cNvPr id="13" name="TextBox 12"/>
          <p:cNvSpPr txBox="1"/>
          <p:nvPr/>
        </p:nvSpPr>
        <p:spPr>
          <a:xfrm>
            <a:off x="3383280" y="2075688"/>
            <a:ext cx="2468880" cy="685800"/>
          </a:xfrm>
          <a:prstGeom prst="rect">
            <a:avLst/>
          </a:prstGeom>
          <a:noFill/>
        </p:spPr>
        <p:txBody>
          <a:bodyPr wrap="square">
            <a:spAutoFit/>
          </a:bodyPr>
          <a:lstStyle/>
          <a:p>
            <a:pPr algn="l"/>
            <a:r>
              <a:rPr sz="1300" b="1" i="0">
                <a:solidFill>
                  <a:srgbClr val="FFFFFF"/>
                </a:solidFill>
              </a:rPr>
              <a:t>TypeScript
(strict mode)</a:t>
            </a:r>
          </a:p>
        </p:txBody>
      </p:sp>
      <p:sp>
        <p:nvSpPr>
          <p:cNvPr id="14" name="TextBox 13"/>
          <p:cNvSpPr txBox="1"/>
          <p:nvPr/>
        </p:nvSpPr>
        <p:spPr>
          <a:xfrm>
            <a:off x="3383280" y="2770632"/>
            <a:ext cx="2468880" cy="1051560"/>
          </a:xfrm>
          <a:prstGeom prst="rect">
            <a:avLst/>
          </a:prstGeom>
          <a:noFill/>
        </p:spPr>
        <p:txBody>
          <a:bodyPr wrap="square">
            <a:spAutoFit/>
          </a:bodyPr>
          <a:lstStyle/>
          <a:p>
            <a:pPr algn="l"/>
            <a:r>
              <a:rPr sz="950" b="0" i="0">
                <a:solidFill>
                  <a:srgbClr val="B0BEC5"/>
                </a:solidFill>
              </a:rPr>
              <a:t>Type-safe data models enforced at
compile time — catches cricket rule
bugs before they ship.</a:t>
            </a:r>
          </a:p>
        </p:txBody>
      </p:sp>
      <p:sp>
        <p:nvSpPr>
          <p:cNvPr id="15" name="Rectangle 14"/>
          <p:cNvSpPr/>
          <p:nvPr/>
        </p:nvSpPr>
        <p:spPr>
          <a:xfrm>
            <a:off x="6172200" y="1691640"/>
            <a:ext cx="2743200" cy="2240280"/>
          </a:xfrm>
          <a:prstGeom prst="rect">
            <a:avLst/>
          </a:prstGeom>
          <a:solidFill>
            <a:srgbClr val="26323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691640"/>
            <a:ext cx="2743200"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819656"/>
            <a:ext cx="2468880" cy="274320"/>
          </a:xfrm>
          <a:prstGeom prst="rect">
            <a:avLst/>
          </a:prstGeom>
          <a:noFill/>
        </p:spPr>
        <p:txBody>
          <a:bodyPr wrap="square">
            <a:spAutoFit/>
          </a:bodyPr>
          <a:lstStyle/>
          <a:p>
            <a:pPr algn="l"/>
            <a:r>
              <a:rPr sz="800" b="1" i="0">
                <a:solidFill>
                  <a:srgbClr val="FFFFFF"/>
                </a:solidFill>
              </a:rPr>
              <a:t>NAVIGATION</a:t>
            </a:r>
          </a:p>
        </p:txBody>
      </p:sp>
      <p:sp>
        <p:nvSpPr>
          <p:cNvPr id="18" name="TextBox 17"/>
          <p:cNvSpPr txBox="1"/>
          <p:nvPr/>
        </p:nvSpPr>
        <p:spPr>
          <a:xfrm>
            <a:off x="6309360" y="2075688"/>
            <a:ext cx="2468880" cy="685800"/>
          </a:xfrm>
          <a:prstGeom prst="rect">
            <a:avLst/>
          </a:prstGeom>
          <a:noFill/>
        </p:spPr>
        <p:txBody>
          <a:bodyPr wrap="square">
            <a:spAutoFit/>
          </a:bodyPr>
          <a:lstStyle/>
          <a:p>
            <a:pPr algn="l"/>
            <a:r>
              <a:rPr sz="1300" b="1" i="0">
                <a:solidFill>
                  <a:srgbClr val="FFFFFF"/>
                </a:solidFill>
              </a:rPr>
              <a:t>Expo Router v6</a:t>
            </a:r>
          </a:p>
        </p:txBody>
      </p:sp>
      <p:sp>
        <p:nvSpPr>
          <p:cNvPr id="19" name="TextBox 18"/>
          <p:cNvSpPr txBox="1"/>
          <p:nvPr/>
        </p:nvSpPr>
        <p:spPr>
          <a:xfrm>
            <a:off x="6309360" y="2770632"/>
            <a:ext cx="2468880" cy="1051560"/>
          </a:xfrm>
          <a:prstGeom prst="rect">
            <a:avLst/>
          </a:prstGeom>
          <a:noFill/>
        </p:spPr>
        <p:txBody>
          <a:bodyPr wrap="square">
            <a:spAutoFit/>
          </a:bodyPr>
          <a:lstStyle/>
          <a:p>
            <a:pPr algn="l"/>
            <a:r>
              <a:rPr sz="950" b="0" i="0">
                <a:solidFill>
                  <a:srgbClr val="B0BEC5"/>
                </a:solidFill>
              </a:rPr>
              <a:t>File-based routing with deep links.
Tab navigator + modal stack.
URL-addressable screens.</a:t>
            </a:r>
          </a:p>
        </p:txBody>
      </p:sp>
      <p:sp>
        <p:nvSpPr>
          <p:cNvPr id="20" name="Rectangle 19"/>
          <p:cNvSpPr/>
          <p:nvPr/>
        </p:nvSpPr>
        <p:spPr>
          <a:xfrm>
            <a:off x="9098280" y="1691640"/>
            <a:ext cx="2743200" cy="2240280"/>
          </a:xfrm>
          <a:prstGeom prst="rect">
            <a:avLst/>
          </a:prstGeom>
          <a:solidFill>
            <a:srgbClr val="263238"/>
          </a:solidFill>
          <a:ln w="19050">
            <a:solidFill>
              <a:srgbClr val="FF72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280" y="1691640"/>
            <a:ext cx="2743200" cy="73152"/>
          </a:xfrm>
          <a:prstGeom prst="rect">
            <a:avLst/>
          </a:prstGeom>
          <a:solidFill>
            <a:srgbClr val="FF7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819656"/>
            <a:ext cx="2468880" cy="274320"/>
          </a:xfrm>
          <a:prstGeom prst="rect">
            <a:avLst/>
          </a:prstGeom>
          <a:noFill/>
        </p:spPr>
        <p:txBody>
          <a:bodyPr wrap="square">
            <a:spAutoFit/>
          </a:bodyPr>
          <a:lstStyle/>
          <a:p>
            <a:pPr algn="l"/>
            <a:r>
              <a:rPr sz="800" b="1" i="0">
                <a:solidFill>
                  <a:srgbClr val="FF7243"/>
                </a:solidFill>
              </a:rPr>
              <a:t>UI LIBRARY</a:t>
            </a:r>
          </a:p>
        </p:txBody>
      </p:sp>
      <p:sp>
        <p:nvSpPr>
          <p:cNvPr id="23" name="TextBox 22"/>
          <p:cNvSpPr txBox="1"/>
          <p:nvPr/>
        </p:nvSpPr>
        <p:spPr>
          <a:xfrm>
            <a:off x="9235440" y="2075688"/>
            <a:ext cx="2468880" cy="685800"/>
          </a:xfrm>
          <a:prstGeom prst="rect">
            <a:avLst/>
          </a:prstGeom>
          <a:noFill/>
        </p:spPr>
        <p:txBody>
          <a:bodyPr wrap="square">
            <a:spAutoFit/>
          </a:bodyPr>
          <a:lstStyle/>
          <a:p>
            <a:pPr algn="l"/>
            <a:r>
              <a:rPr sz="1300" b="1" i="0">
                <a:solidFill>
                  <a:srgbClr val="FFFFFF"/>
                </a:solidFill>
              </a:rPr>
              <a:t>React Native
Paper (MD3)</a:t>
            </a:r>
          </a:p>
        </p:txBody>
      </p:sp>
      <p:sp>
        <p:nvSpPr>
          <p:cNvPr id="24" name="TextBox 23"/>
          <p:cNvSpPr txBox="1"/>
          <p:nvPr/>
        </p:nvSpPr>
        <p:spPr>
          <a:xfrm>
            <a:off x="9235440" y="2770632"/>
            <a:ext cx="2468880" cy="1051560"/>
          </a:xfrm>
          <a:prstGeom prst="rect">
            <a:avLst/>
          </a:prstGeom>
          <a:noFill/>
        </p:spPr>
        <p:txBody>
          <a:bodyPr wrap="square">
            <a:spAutoFit/>
          </a:bodyPr>
          <a:lstStyle/>
          <a:p>
            <a:pPr algn="l"/>
            <a:r>
              <a:rPr sz="950" b="0" i="0">
                <a:solidFill>
                  <a:srgbClr val="B0BEC5"/>
                </a:solidFill>
              </a:rPr>
              <a:t>Material Design 3 components.
Light + dark theme tokens.
Web-compatible dialogs.</a:t>
            </a:r>
          </a:p>
        </p:txBody>
      </p:sp>
      <p:sp>
        <p:nvSpPr>
          <p:cNvPr id="25" name="Rectangle 24"/>
          <p:cNvSpPr/>
          <p:nvPr/>
        </p:nvSpPr>
        <p:spPr>
          <a:xfrm>
            <a:off x="320040" y="4114800"/>
            <a:ext cx="2743200" cy="2240280"/>
          </a:xfrm>
          <a:prstGeom prst="rect">
            <a:avLst/>
          </a:prstGeom>
          <a:solidFill>
            <a:srgbClr val="263238"/>
          </a:solidFill>
          <a:ln w="19050">
            <a:solidFill>
              <a:srgbClr val="FF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4114800"/>
            <a:ext cx="2743200" cy="73152"/>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242816"/>
            <a:ext cx="2468880" cy="274320"/>
          </a:xfrm>
          <a:prstGeom prst="rect">
            <a:avLst/>
          </a:prstGeom>
          <a:noFill/>
        </p:spPr>
        <p:txBody>
          <a:bodyPr wrap="square">
            <a:spAutoFit/>
          </a:bodyPr>
          <a:lstStyle/>
          <a:p>
            <a:pPr algn="l"/>
            <a:r>
              <a:rPr sz="800" b="1" i="0">
                <a:solidFill>
                  <a:srgbClr val="FFA000"/>
                </a:solidFill>
              </a:rPr>
              <a:t>STATE</a:t>
            </a:r>
          </a:p>
        </p:txBody>
      </p:sp>
      <p:sp>
        <p:nvSpPr>
          <p:cNvPr id="28" name="TextBox 27"/>
          <p:cNvSpPr txBox="1"/>
          <p:nvPr/>
        </p:nvSpPr>
        <p:spPr>
          <a:xfrm>
            <a:off x="457200" y="4498848"/>
            <a:ext cx="2468880" cy="685800"/>
          </a:xfrm>
          <a:prstGeom prst="rect">
            <a:avLst/>
          </a:prstGeom>
          <a:noFill/>
        </p:spPr>
        <p:txBody>
          <a:bodyPr wrap="square">
            <a:spAutoFit/>
          </a:bodyPr>
          <a:lstStyle/>
          <a:p>
            <a:pPr algn="l"/>
            <a:r>
              <a:rPr sz="1300" b="1" i="0">
                <a:solidFill>
                  <a:srgbClr val="FFFFFF"/>
                </a:solidFill>
              </a:rPr>
              <a:t>Zustand</a:t>
            </a:r>
          </a:p>
        </p:txBody>
      </p:sp>
      <p:sp>
        <p:nvSpPr>
          <p:cNvPr id="29" name="TextBox 28"/>
          <p:cNvSpPr txBox="1"/>
          <p:nvPr/>
        </p:nvSpPr>
        <p:spPr>
          <a:xfrm>
            <a:off x="457200" y="5193792"/>
            <a:ext cx="2468880" cy="1051560"/>
          </a:xfrm>
          <a:prstGeom prst="rect">
            <a:avLst/>
          </a:prstGeom>
          <a:noFill/>
        </p:spPr>
        <p:txBody>
          <a:bodyPr wrap="square">
            <a:spAutoFit/>
          </a:bodyPr>
          <a:lstStyle/>
          <a:p>
            <a:pPr algn="l"/>
            <a:r>
              <a:rPr sz="950" b="0" i="0">
                <a:solidFill>
                  <a:srgbClr val="B0BEC5"/>
                </a:solidFill>
              </a:rPr>
              <a:t>Lightweight global state with
no boilerplate. Stores map 1:1
to domain areas.</a:t>
            </a:r>
          </a:p>
        </p:txBody>
      </p:sp>
      <p:sp>
        <p:nvSpPr>
          <p:cNvPr id="30" name="Rectangle 29"/>
          <p:cNvSpPr/>
          <p:nvPr/>
        </p:nvSpPr>
        <p:spPr>
          <a:xfrm>
            <a:off x="3246120" y="4114800"/>
            <a:ext cx="2743200" cy="2240280"/>
          </a:xfrm>
          <a:prstGeom prst="rect">
            <a:avLst/>
          </a:prstGeom>
          <a:solidFill>
            <a:srgbClr val="263238"/>
          </a:solidFill>
          <a:ln w="19050">
            <a:solidFill>
              <a:srgbClr val="66B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6120" y="4114800"/>
            <a:ext cx="2743200" cy="73152"/>
          </a:xfrm>
          <a:prstGeom prst="rect">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4242816"/>
            <a:ext cx="2468880" cy="274320"/>
          </a:xfrm>
          <a:prstGeom prst="rect">
            <a:avLst/>
          </a:prstGeom>
          <a:noFill/>
        </p:spPr>
        <p:txBody>
          <a:bodyPr wrap="square">
            <a:spAutoFit/>
          </a:bodyPr>
          <a:lstStyle/>
          <a:p>
            <a:pPr algn="l"/>
            <a:r>
              <a:rPr sz="800" b="1" i="0">
                <a:solidFill>
                  <a:srgbClr val="66BB6A"/>
                </a:solidFill>
              </a:rPr>
              <a:t>PERSISTENCE</a:t>
            </a:r>
          </a:p>
        </p:txBody>
      </p:sp>
      <p:sp>
        <p:nvSpPr>
          <p:cNvPr id="33" name="TextBox 32"/>
          <p:cNvSpPr txBox="1"/>
          <p:nvPr/>
        </p:nvSpPr>
        <p:spPr>
          <a:xfrm>
            <a:off x="3383280" y="4498848"/>
            <a:ext cx="2468880" cy="685800"/>
          </a:xfrm>
          <a:prstGeom prst="rect">
            <a:avLst/>
          </a:prstGeom>
          <a:noFill/>
        </p:spPr>
        <p:txBody>
          <a:bodyPr wrap="square">
            <a:spAutoFit/>
          </a:bodyPr>
          <a:lstStyle/>
          <a:p>
            <a:pPr algn="l"/>
            <a:r>
              <a:rPr sz="1300" b="1" i="0">
                <a:solidFill>
                  <a:srgbClr val="FFFFFF"/>
                </a:solidFill>
              </a:rPr>
              <a:t>expo-sqlite
/ localStorage</a:t>
            </a:r>
          </a:p>
        </p:txBody>
      </p:sp>
      <p:sp>
        <p:nvSpPr>
          <p:cNvPr id="34" name="TextBox 33"/>
          <p:cNvSpPr txBox="1"/>
          <p:nvPr/>
        </p:nvSpPr>
        <p:spPr>
          <a:xfrm>
            <a:off x="3383280" y="5193792"/>
            <a:ext cx="2468880" cy="1051560"/>
          </a:xfrm>
          <a:prstGeom prst="rect">
            <a:avLst/>
          </a:prstGeom>
          <a:noFill/>
        </p:spPr>
        <p:txBody>
          <a:bodyPr wrap="square">
            <a:spAutoFit/>
          </a:bodyPr>
          <a:lstStyle/>
          <a:p>
            <a:pPr algn="l"/>
            <a:r>
              <a:rPr sz="950" b="0" i="0">
                <a:solidFill>
                  <a:srgbClr val="B0BEC5"/>
                </a:solidFill>
              </a:rPr>
              <a:t>SQLite on native; localStorage on
web via Metro .web.ts resolution.
Fully offline-first.</a:t>
            </a:r>
          </a:p>
        </p:txBody>
      </p:sp>
      <p:sp>
        <p:nvSpPr>
          <p:cNvPr id="35" name="Rectangle 34"/>
          <p:cNvSpPr/>
          <p:nvPr/>
        </p:nvSpPr>
        <p:spPr>
          <a:xfrm>
            <a:off x="6172200" y="4114800"/>
            <a:ext cx="2743200" cy="2240280"/>
          </a:xfrm>
          <a:prstGeom prst="rect">
            <a:avLst/>
          </a:prstGeom>
          <a:solidFill>
            <a:srgbClr val="263238"/>
          </a:solidFill>
          <a:ln w="19050">
            <a:solidFill>
              <a:srgbClr val="3EC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72200" y="4114800"/>
            <a:ext cx="2743200" cy="73152"/>
          </a:xfrm>
          <a:prstGeom prst="rect">
            <a:avLst/>
          </a:prstGeom>
          <a:solidFill>
            <a:srgbClr val="3EC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4242816"/>
            <a:ext cx="2468880" cy="274320"/>
          </a:xfrm>
          <a:prstGeom prst="rect">
            <a:avLst/>
          </a:prstGeom>
          <a:noFill/>
        </p:spPr>
        <p:txBody>
          <a:bodyPr wrap="square">
            <a:spAutoFit/>
          </a:bodyPr>
          <a:lstStyle/>
          <a:p>
            <a:pPr algn="l"/>
            <a:r>
              <a:rPr sz="800" b="1" i="0">
                <a:solidFill>
                  <a:srgbClr val="3ECF8E"/>
                </a:solidFill>
              </a:rPr>
              <a:t>CLOUD</a:t>
            </a:r>
          </a:p>
        </p:txBody>
      </p:sp>
      <p:sp>
        <p:nvSpPr>
          <p:cNvPr id="38" name="TextBox 37"/>
          <p:cNvSpPr txBox="1"/>
          <p:nvPr/>
        </p:nvSpPr>
        <p:spPr>
          <a:xfrm>
            <a:off x="6309360" y="4498848"/>
            <a:ext cx="2468880" cy="685800"/>
          </a:xfrm>
          <a:prstGeom prst="rect">
            <a:avLst/>
          </a:prstGeom>
          <a:noFill/>
        </p:spPr>
        <p:txBody>
          <a:bodyPr wrap="square">
            <a:spAutoFit/>
          </a:bodyPr>
          <a:lstStyle/>
          <a:p>
            <a:pPr algn="l"/>
            <a:r>
              <a:rPr sz="1300" b="1" i="0">
                <a:solidFill>
                  <a:srgbClr val="FFFFFF"/>
                </a:solidFill>
              </a:rPr>
              <a:t>Supabase
(PostgreSQL)</a:t>
            </a:r>
          </a:p>
        </p:txBody>
      </p:sp>
      <p:sp>
        <p:nvSpPr>
          <p:cNvPr id="39" name="TextBox 38"/>
          <p:cNvSpPr txBox="1"/>
          <p:nvPr/>
        </p:nvSpPr>
        <p:spPr>
          <a:xfrm>
            <a:off x="6309360" y="5193792"/>
            <a:ext cx="2468880" cy="1051560"/>
          </a:xfrm>
          <a:prstGeom prst="rect">
            <a:avLst/>
          </a:prstGeom>
          <a:noFill/>
        </p:spPr>
        <p:txBody>
          <a:bodyPr wrap="square">
            <a:spAutoFit/>
          </a:bodyPr>
          <a:lstStyle/>
          <a:p>
            <a:pPr algn="l"/>
            <a:r>
              <a:rPr sz="950" b="0" i="0">
                <a:solidFill>
                  <a:srgbClr val="B0BEC5"/>
                </a:solidFill>
              </a:rPr>
              <a:t>Real-time live scores, team chat,
delegate codes. Row-level security.
Optional — app works without it.</a:t>
            </a:r>
          </a:p>
        </p:txBody>
      </p:sp>
      <p:sp>
        <p:nvSpPr>
          <p:cNvPr id="40" name="Rectangle 39"/>
          <p:cNvSpPr/>
          <p:nvPr/>
        </p:nvSpPr>
        <p:spPr>
          <a:xfrm>
            <a:off x="9098280" y="4114800"/>
            <a:ext cx="2743200" cy="2240280"/>
          </a:xfrm>
          <a:prstGeom prst="rect">
            <a:avLst/>
          </a:prstGeom>
          <a:solidFill>
            <a:srgbClr val="263238"/>
          </a:solidFill>
          <a:ln w="19050">
            <a:solidFill>
              <a:srgbClr val="C67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98280" y="4114800"/>
            <a:ext cx="2743200" cy="73152"/>
          </a:xfrm>
          <a:prstGeom prst="rect">
            <a:avLst/>
          </a:prstGeom>
          <a:solidFill>
            <a:srgbClr val="C67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0" y="4242816"/>
            <a:ext cx="2468880" cy="274320"/>
          </a:xfrm>
          <a:prstGeom prst="rect">
            <a:avLst/>
          </a:prstGeom>
          <a:noFill/>
        </p:spPr>
        <p:txBody>
          <a:bodyPr wrap="square">
            <a:spAutoFit/>
          </a:bodyPr>
          <a:lstStyle/>
          <a:p>
            <a:pPr algn="l"/>
            <a:r>
              <a:rPr sz="800" b="1" i="0">
                <a:solidFill>
                  <a:srgbClr val="C678DD"/>
                </a:solidFill>
              </a:rPr>
              <a:t>TESTING</a:t>
            </a:r>
          </a:p>
        </p:txBody>
      </p:sp>
      <p:sp>
        <p:nvSpPr>
          <p:cNvPr id="43" name="TextBox 42"/>
          <p:cNvSpPr txBox="1"/>
          <p:nvPr/>
        </p:nvSpPr>
        <p:spPr>
          <a:xfrm>
            <a:off x="9235440" y="4498848"/>
            <a:ext cx="2468880" cy="685800"/>
          </a:xfrm>
          <a:prstGeom prst="rect">
            <a:avLst/>
          </a:prstGeom>
          <a:noFill/>
        </p:spPr>
        <p:txBody>
          <a:bodyPr wrap="square">
            <a:spAutoFit/>
          </a:bodyPr>
          <a:lstStyle/>
          <a:p>
            <a:pPr algn="l"/>
            <a:r>
              <a:rPr sz="1300" b="1" i="0">
                <a:solidFill>
                  <a:srgbClr val="FFFFFF"/>
                </a:solidFill>
              </a:rPr>
              <a:t>Jest (150+ tests)</a:t>
            </a:r>
          </a:p>
        </p:txBody>
      </p:sp>
      <p:sp>
        <p:nvSpPr>
          <p:cNvPr id="44" name="TextBox 43"/>
          <p:cNvSpPr txBox="1"/>
          <p:nvPr/>
        </p:nvSpPr>
        <p:spPr>
          <a:xfrm>
            <a:off x="9235440" y="5193792"/>
            <a:ext cx="2468880" cy="1051560"/>
          </a:xfrm>
          <a:prstGeom prst="rect">
            <a:avLst/>
          </a:prstGeom>
          <a:noFill/>
        </p:spPr>
        <p:txBody>
          <a:bodyPr wrap="square">
            <a:spAutoFit/>
          </a:bodyPr>
          <a:lstStyle/>
          <a:p>
            <a:pPr algn="l"/>
            <a:r>
              <a:rPr sz="950" b="0" i="0">
                <a:solidFill>
                  <a:srgbClr val="B0BEC5"/>
                </a:solidFill>
              </a:rPr>
              <a:t>Pure engine unit tests + 99
functional end-to-end scenarios.
All cricket rules validated.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Architecture Overview</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Layered, offline-first design with optional cloud augmentation</a:t>
            </a:r>
          </a:p>
        </p:txBody>
      </p:sp>
      <p:sp>
        <p:nvSpPr>
          <p:cNvPr id="5" name="Rectangle 4"/>
          <p:cNvSpPr/>
          <p:nvPr/>
        </p:nvSpPr>
        <p:spPr>
          <a:xfrm>
            <a:off x="320040" y="1691640"/>
            <a:ext cx="2148840" cy="3474720"/>
          </a:xfrm>
          <a:prstGeom prst="rect">
            <a:avLst/>
          </a:prstGeom>
          <a:solidFill>
            <a:srgbClr val="EAF7EB"/>
          </a:solidFill>
          <a:ln w="63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737360"/>
            <a:ext cx="1965960" cy="365760"/>
          </a:xfrm>
          <a:prstGeom prst="rect">
            <a:avLst/>
          </a:prstGeom>
          <a:noFill/>
        </p:spPr>
        <p:txBody>
          <a:bodyPr wrap="square">
            <a:spAutoFit/>
          </a:bodyPr>
          <a:lstStyle/>
          <a:p>
            <a:pPr algn="ctr"/>
            <a:r>
              <a:rPr sz="900" b="1" i="0">
                <a:solidFill>
                  <a:srgbClr val="1B6B28"/>
                </a:solidFill>
              </a:rPr>
              <a:t>PRESENTATION</a:t>
            </a:r>
          </a:p>
        </p:txBody>
      </p:sp>
      <p:sp>
        <p:nvSpPr>
          <p:cNvPr id="7" name="TextBox 6"/>
          <p:cNvSpPr txBox="1"/>
          <p:nvPr/>
        </p:nvSpPr>
        <p:spPr>
          <a:xfrm>
            <a:off x="411480" y="2148840"/>
            <a:ext cx="1965960" cy="1645920"/>
          </a:xfrm>
          <a:prstGeom prst="rect">
            <a:avLst/>
          </a:prstGeom>
          <a:noFill/>
        </p:spPr>
        <p:txBody>
          <a:bodyPr wrap="square">
            <a:spAutoFit/>
          </a:bodyPr>
          <a:lstStyle/>
          <a:p>
            <a:pPr algn="ctr"/>
            <a:r>
              <a:rPr sz="1100" b="0" i="0">
                <a:solidFill>
                  <a:srgbClr val="1A1A1A"/>
                </a:solidFill>
              </a:rPr>
              <a:t>Expo Router screens
React Native Paper
Dark / Light MD3 theme</a:t>
            </a:r>
          </a:p>
        </p:txBody>
      </p:sp>
      <p:sp>
        <p:nvSpPr>
          <p:cNvPr id="8" name="TextBox 7"/>
          <p:cNvSpPr txBox="1"/>
          <p:nvPr/>
        </p:nvSpPr>
        <p:spPr>
          <a:xfrm>
            <a:off x="2468880" y="2286000"/>
            <a:ext cx="228600" cy="548640"/>
          </a:xfrm>
          <a:prstGeom prst="rect">
            <a:avLst/>
          </a:prstGeom>
          <a:noFill/>
        </p:spPr>
        <p:txBody>
          <a:bodyPr wrap="square">
            <a:spAutoFit/>
          </a:bodyPr>
          <a:lstStyle/>
          <a:p>
            <a:pPr algn="ctr"/>
            <a:r>
              <a:rPr sz="1800" b="1" i="0">
                <a:solidFill>
                  <a:srgbClr val="1B6B28"/>
                </a:solidFill>
              </a:rPr>
              <a:t>→</a:t>
            </a:r>
          </a:p>
        </p:txBody>
      </p:sp>
      <p:sp>
        <p:nvSpPr>
          <p:cNvPr id="9" name="Rectangle 8"/>
          <p:cNvSpPr/>
          <p:nvPr/>
        </p:nvSpPr>
        <p:spPr>
          <a:xfrm>
            <a:off x="2651760" y="1691640"/>
            <a:ext cx="2148840" cy="3474720"/>
          </a:xfrm>
          <a:prstGeom prst="rect">
            <a:avLst/>
          </a:prstGeom>
          <a:solidFill>
            <a:srgbClr val="D1F0D3"/>
          </a:solidFill>
          <a:ln w="63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737360"/>
            <a:ext cx="1965960" cy="365760"/>
          </a:xfrm>
          <a:prstGeom prst="rect">
            <a:avLst/>
          </a:prstGeom>
          <a:noFill/>
        </p:spPr>
        <p:txBody>
          <a:bodyPr wrap="square">
            <a:spAutoFit/>
          </a:bodyPr>
          <a:lstStyle/>
          <a:p>
            <a:pPr algn="ctr"/>
            <a:r>
              <a:rPr sz="900" b="1" i="0">
                <a:solidFill>
                  <a:srgbClr val="1B6B28"/>
                </a:solidFill>
              </a:rPr>
              <a:t>STATE</a:t>
            </a:r>
          </a:p>
        </p:txBody>
      </p:sp>
      <p:sp>
        <p:nvSpPr>
          <p:cNvPr id="11" name="TextBox 10"/>
          <p:cNvSpPr txBox="1"/>
          <p:nvPr/>
        </p:nvSpPr>
        <p:spPr>
          <a:xfrm>
            <a:off x="2743200" y="2148840"/>
            <a:ext cx="1965960" cy="1645920"/>
          </a:xfrm>
          <a:prstGeom prst="rect">
            <a:avLst/>
          </a:prstGeom>
          <a:noFill/>
        </p:spPr>
        <p:txBody>
          <a:bodyPr wrap="square">
            <a:spAutoFit/>
          </a:bodyPr>
          <a:lstStyle/>
          <a:p>
            <a:pPr algn="ctr"/>
            <a:r>
              <a:rPr sz="1100" b="0" i="0">
                <a:solidFill>
                  <a:srgbClr val="1A1A1A"/>
                </a:solidFill>
              </a:rPr>
              <a:t>Zustand stores
(match, team, league,
chat, live scores)</a:t>
            </a:r>
          </a:p>
        </p:txBody>
      </p:sp>
      <p:sp>
        <p:nvSpPr>
          <p:cNvPr id="12" name="TextBox 11"/>
          <p:cNvSpPr txBox="1"/>
          <p:nvPr/>
        </p:nvSpPr>
        <p:spPr>
          <a:xfrm>
            <a:off x="4800600" y="2286000"/>
            <a:ext cx="228600" cy="548640"/>
          </a:xfrm>
          <a:prstGeom prst="rect">
            <a:avLst/>
          </a:prstGeom>
          <a:noFill/>
        </p:spPr>
        <p:txBody>
          <a:bodyPr wrap="square">
            <a:spAutoFit/>
          </a:bodyPr>
          <a:lstStyle/>
          <a:p>
            <a:pPr algn="ctr"/>
            <a:r>
              <a:rPr sz="1800" b="1" i="0">
                <a:solidFill>
                  <a:srgbClr val="1B6B28"/>
                </a:solidFill>
              </a:rPr>
              <a:t>→</a:t>
            </a:r>
          </a:p>
        </p:txBody>
      </p:sp>
      <p:sp>
        <p:nvSpPr>
          <p:cNvPr id="13" name="Rectangle 12"/>
          <p:cNvSpPr/>
          <p:nvPr/>
        </p:nvSpPr>
        <p:spPr>
          <a:xfrm>
            <a:off x="4983479" y="1691640"/>
            <a:ext cx="2148840" cy="3474720"/>
          </a:xfrm>
          <a:prstGeom prst="rect">
            <a:avLst/>
          </a:prstGeom>
          <a:solidFill>
            <a:srgbClr val="A8DBAB"/>
          </a:solidFill>
          <a:ln w="63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19" y="1737360"/>
            <a:ext cx="1965960" cy="365760"/>
          </a:xfrm>
          <a:prstGeom prst="rect">
            <a:avLst/>
          </a:prstGeom>
          <a:noFill/>
        </p:spPr>
        <p:txBody>
          <a:bodyPr wrap="square">
            <a:spAutoFit/>
          </a:bodyPr>
          <a:lstStyle/>
          <a:p>
            <a:pPr algn="ctr"/>
            <a:r>
              <a:rPr sz="900" b="1" i="0">
                <a:solidFill>
                  <a:srgbClr val="1B6B28"/>
                </a:solidFill>
              </a:rPr>
              <a:t>ENGINE</a:t>
            </a:r>
          </a:p>
        </p:txBody>
      </p:sp>
      <p:sp>
        <p:nvSpPr>
          <p:cNvPr id="15" name="TextBox 14"/>
          <p:cNvSpPr txBox="1"/>
          <p:nvPr/>
        </p:nvSpPr>
        <p:spPr>
          <a:xfrm>
            <a:off x="5074919" y="2148840"/>
            <a:ext cx="1965960" cy="1645920"/>
          </a:xfrm>
          <a:prstGeom prst="rect">
            <a:avLst/>
          </a:prstGeom>
          <a:noFill/>
        </p:spPr>
        <p:txBody>
          <a:bodyPr wrap="square">
            <a:spAutoFit/>
          </a:bodyPr>
          <a:lstStyle/>
          <a:p>
            <a:pPr algn="ctr"/>
            <a:r>
              <a:rPr sz="1100" b="0" i="0">
                <a:solidFill>
                  <a:srgbClr val="1A1A1A"/>
                </a:solidFill>
              </a:rPr>
              <a:t>Pure TypeScript
Immutable MatchEngine
150+ unit tests</a:t>
            </a:r>
          </a:p>
        </p:txBody>
      </p:sp>
      <p:sp>
        <p:nvSpPr>
          <p:cNvPr id="16" name="TextBox 15"/>
          <p:cNvSpPr txBox="1"/>
          <p:nvPr/>
        </p:nvSpPr>
        <p:spPr>
          <a:xfrm>
            <a:off x="7132319" y="2286000"/>
            <a:ext cx="228600" cy="548640"/>
          </a:xfrm>
          <a:prstGeom prst="rect">
            <a:avLst/>
          </a:prstGeom>
          <a:noFill/>
        </p:spPr>
        <p:txBody>
          <a:bodyPr wrap="square">
            <a:spAutoFit/>
          </a:bodyPr>
          <a:lstStyle/>
          <a:p>
            <a:pPr algn="ctr"/>
            <a:r>
              <a:rPr sz="1800" b="1" i="0">
                <a:solidFill>
                  <a:srgbClr val="1B6B28"/>
                </a:solidFill>
              </a:rPr>
              <a:t>→</a:t>
            </a:r>
          </a:p>
        </p:txBody>
      </p:sp>
      <p:sp>
        <p:nvSpPr>
          <p:cNvPr id="17" name="Rectangle 16"/>
          <p:cNvSpPr/>
          <p:nvPr/>
        </p:nvSpPr>
        <p:spPr>
          <a:xfrm>
            <a:off x="7315199" y="1691640"/>
            <a:ext cx="2148840" cy="3474720"/>
          </a:xfrm>
          <a:prstGeom prst="rect">
            <a:avLst/>
          </a:prstGeom>
          <a:solidFill>
            <a:srgbClr val="7CBF81"/>
          </a:solidFill>
          <a:ln w="63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39" y="1737360"/>
            <a:ext cx="1965960" cy="365760"/>
          </a:xfrm>
          <a:prstGeom prst="rect">
            <a:avLst/>
          </a:prstGeom>
          <a:noFill/>
        </p:spPr>
        <p:txBody>
          <a:bodyPr wrap="square">
            <a:spAutoFit/>
          </a:bodyPr>
          <a:lstStyle/>
          <a:p>
            <a:pPr algn="ctr"/>
            <a:r>
              <a:rPr sz="900" b="1" i="0">
                <a:solidFill>
                  <a:srgbClr val="1B6B28"/>
                </a:solidFill>
              </a:rPr>
              <a:t>PERSISTENCE</a:t>
            </a:r>
          </a:p>
        </p:txBody>
      </p:sp>
      <p:sp>
        <p:nvSpPr>
          <p:cNvPr id="19" name="TextBox 18"/>
          <p:cNvSpPr txBox="1"/>
          <p:nvPr/>
        </p:nvSpPr>
        <p:spPr>
          <a:xfrm>
            <a:off x="7406639" y="2148840"/>
            <a:ext cx="1965960" cy="1645920"/>
          </a:xfrm>
          <a:prstGeom prst="rect">
            <a:avLst/>
          </a:prstGeom>
          <a:noFill/>
        </p:spPr>
        <p:txBody>
          <a:bodyPr wrap="square">
            <a:spAutoFit/>
          </a:bodyPr>
          <a:lstStyle/>
          <a:p>
            <a:pPr algn="ctr"/>
            <a:r>
              <a:rPr sz="1100" b="0" i="0">
                <a:solidFill>
                  <a:srgbClr val="1A1A1A"/>
                </a:solidFill>
              </a:rPr>
              <a:t>expo-sqlite (native)
localStorage (web)
Same repo interface</a:t>
            </a:r>
          </a:p>
        </p:txBody>
      </p:sp>
      <p:sp>
        <p:nvSpPr>
          <p:cNvPr id="20" name="TextBox 19"/>
          <p:cNvSpPr txBox="1"/>
          <p:nvPr/>
        </p:nvSpPr>
        <p:spPr>
          <a:xfrm>
            <a:off x="9464040" y="2286000"/>
            <a:ext cx="228600" cy="548640"/>
          </a:xfrm>
          <a:prstGeom prst="rect">
            <a:avLst/>
          </a:prstGeom>
          <a:noFill/>
        </p:spPr>
        <p:txBody>
          <a:bodyPr wrap="square">
            <a:spAutoFit/>
          </a:bodyPr>
          <a:lstStyle/>
          <a:p>
            <a:pPr algn="ctr"/>
            <a:r>
              <a:rPr sz="1800" b="1" i="0">
                <a:solidFill>
                  <a:srgbClr val="1B6B28"/>
                </a:solidFill>
              </a:rPr>
              <a:t>→</a:t>
            </a:r>
          </a:p>
        </p:txBody>
      </p:sp>
      <p:sp>
        <p:nvSpPr>
          <p:cNvPr id="21" name="Rectangle 20"/>
          <p:cNvSpPr/>
          <p:nvPr/>
        </p:nvSpPr>
        <p:spPr>
          <a:xfrm>
            <a:off x="9646919" y="1691640"/>
            <a:ext cx="2148840" cy="3474720"/>
          </a:xfrm>
          <a:prstGeom prst="rect">
            <a:avLst/>
          </a:prstGeom>
          <a:solidFill>
            <a:srgbClr val="1B6B28"/>
          </a:solidFill>
          <a:ln w="63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359" y="1737360"/>
            <a:ext cx="1965960" cy="365760"/>
          </a:xfrm>
          <a:prstGeom prst="rect">
            <a:avLst/>
          </a:prstGeom>
          <a:noFill/>
        </p:spPr>
        <p:txBody>
          <a:bodyPr wrap="square">
            <a:spAutoFit/>
          </a:bodyPr>
          <a:lstStyle/>
          <a:p>
            <a:pPr algn="ctr"/>
            <a:r>
              <a:rPr sz="900" b="1" i="0">
                <a:solidFill>
                  <a:srgbClr val="FFFFFF"/>
                </a:solidFill>
              </a:rPr>
              <a:t>CLOUD</a:t>
            </a:r>
          </a:p>
        </p:txBody>
      </p:sp>
      <p:sp>
        <p:nvSpPr>
          <p:cNvPr id="23" name="TextBox 22"/>
          <p:cNvSpPr txBox="1"/>
          <p:nvPr/>
        </p:nvSpPr>
        <p:spPr>
          <a:xfrm>
            <a:off x="9738359" y="2148840"/>
            <a:ext cx="1965960" cy="1645920"/>
          </a:xfrm>
          <a:prstGeom prst="rect">
            <a:avLst/>
          </a:prstGeom>
          <a:noFill/>
        </p:spPr>
        <p:txBody>
          <a:bodyPr wrap="square">
            <a:spAutoFit/>
          </a:bodyPr>
          <a:lstStyle/>
          <a:p>
            <a:pPr algn="ctr"/>
            <a:r>
              <a:rPr sz="1100" b="0" i="0">
                <a:solidFill>
                  <a:srgbClr val="FFFFFF"/>
                </a:solidFill>
              </a:rPr>
              <a:t>Supabase (optional)
Live scores · Chat
Delegate codes</a:t>
            </a:r>
          </a:p>
        </p:txBody>
      </p:sp>
      <p:sp>
        <p:nvSpPr>
          <p:cNvPr id="24" name="Rectangle 23"/>
          <p:cNvSpPr/>
          <p:nvPr/>
        </p:nvSpPr>
        <p:spPr>
          <a:xfrm>
            <a:off x="320040" y="5486400"/>
            <a:ext cx="11521440" cy="1188720"/>
          </a:xfrm>
          <a:prstGeom prst="rect">
            <a:avLst/>
          </a:prstGeom>
          <a:solidFill>
            <a:srgbClr val="F0F8F0"/>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559552"/>
            <a:ext cx="2651760" cy="347472"/>
          </a:xfrm>
          <a:prstGeom prst="rect">
            <a:avLst/>
          </a:prstGeom>
          <a:noFill/>
        </p:spPr>
        <p:txBody>
          <a:bodyPr wrap="square">
            <a:spAutoFit/>
          </a:bodyPr>
          <a:lstStyle/>
          <a:p>
            <a:pPr algn="l"/>
            <a:r>
              <a:rPr sz="1000" b="1" i="0">
                <a:solidFill>
                  <a:srgbClr val="1B6B28"/>
                </a:solidFill>
              </a:rPr>
              <a:t>Immutable Engine</a:t>
            </a:r>
          </a:p>
        </p:txBody>
      </p:sp>
      <p:sp>
        <p:nvSpPr>
          <p:cNvPr id="26" name="TextBox 25"/>
          <p:cNvSpPr txBox="1"/>
          <p:nvPr/>
        </p:nvSpPr>
        <p:spPr>
          <a:xfrm>
            <a:off x="502920" y="5888736"/>
            <a:ext cx="2651760" cy="640080"/>
          </a:xfrm>
          <a:prstGeom prst="rect">
            <a:avLst/>
          </a:prstGeom>
          <a:noFill/>
        </p:spPr>
        <p:txBody>
          <a:bodyPr wrap="square">
            <a:spAutoFit/>
          </a:bodyPr>
          <a:lstStyle/>
          <a:p>
            <a:pPr algn="l"/>
            <a:r>
              <a:rPr sz="900" b="0" i="0">
                <a:solidFill>
                  <a:srgbClr val="555555"/>
                </a:solidFill>
              </a:rPr>
              <a:t>MatchEngine returns a new instance on every ball — undo is O(1)</a:t>
            </a:r>
          </a:p>
        </p:txBody>
      </p:sp>
      <p:sp>
        <p:nvSpPr>
          <p:cNvPr id="27" name="TextBox 26"/>
          <p:cNvSpPr txBox="1"/>
          <p:nvPr/>
        </p:nvSpPr>
        <p:spPr>
          <a:xfrm>
            <a:off x="3337560" y="5559552"/>
            <a:ext cx="2651760" cy="347472"/>
          </a:xfrm>
          <a:prstGeom prst="rect">
            <a:avLst/>
          </a:prstGeom>
          <a:noFill/>
        </p:spPr>
        <p:txBody>
          <a:bodyPr wrap="square">
            <a:spAutoFit/>
          </a:bodyPr>
          <a:lstStyle/>
          <a:p>
            <a:pPr algn="l"/>
            <a:r>
              <a:rPr sz="1000" b="1" i="0">
                <a:solidFill>
                  <a:srgbClr val="1B6B28"/>
                </a:solidFill>
              </a:rPr>
              <a:t>Platform Repos</a:t>
            </a:r>
          </a:p>
        </p:txBody>
      </p:sp>
      <p:sp>
        <p:nvSpPr>
          <p:cNvPr id="28" name="TextBox 27"/>
          <p:cNvSpPr txBox="1"/>
          <p:nvPr/>
        </p:nvSpPr>
        <p:spPr>
          <a:xfrm>
            <a:off x="3337560" y="5888736"/>
            <a:ext cx="2651760" cy="640080"/>
          </a:xfrm>
          <a:prstGeom prst="rect">
            <a:avLst/>
          </a:prstGeom>
          <a:noFill/>
        </p:spPr>
        <p:txBody>
          <a:bodyPr wrap="square">
            <a:spAutoFit/>
          </a:bodyPr>
          <a:lstStyle/>
          <a:p>
            <a:pPr algn="l"/>
            <a:r>
              <a:rPr sz="900" b="0" i="0">
                <a:solidFill>
                  <a:srgbClr val="555555"/>
                </a:solidFill>
              </a:rPr>
              <a:t>Metro resolves .web.ts — SQLite never bundled for browser</a:t>
            </a:r>
          </a:p>
        </p:txBody>
      </p:sp>
      <p:sp>
        <p:nvSpPr>
          <p:cNvPr id="29" name="TextBox 28"/>
          <p:cNvSpPr txBox="1"/>
          <p:nvPr/>
        </p:nvSpPr>
        <p:spPr>
          <a:xfrm>
            <a:off x="6172200" y="5559552"/>
            <a:ext cx="2651760" cy="347472"/>
          </a:xfrm>
          <a:prstGeom prst="rect">
            <a:avLst/>
          </a:prstGeom>
          <a:noFill/>
        </p:spPr>
        <p:txBody>
          <a:bodyPr wrap="square">
            <a:spAutoFit/>
          </a:bodyPr>
          <a:lstStyle/>
          <a:p>
            <a:pPr algn="l"/>
            <a:r>
              <a:rPr sz="1000" b="1" i="0">
                <a:solidFill>
                  <a:srgbClr val="1B6B28"/>
                </a:solidFill>
              </a:rPr>
              <a:t>Cloud Optional</a:t>
            </a:r>
          </a:p>
        </p:txBody>
      </p:sp>
      <p:sp>
        <p:nvSpPr>
          <p:cNvPr id="30" name="TextBox 29"/>
          <p:cNvSpPr txBox="1"/>
          <p:nvPr/>
        </p:nvSpPr>
        <p:spPr>
          <a:xfrm>
            <a:off x="6172200" y="5888736"/>
            <a:ext cx="2651760" cy="640080"/>
          </a:xfrm>
          <a:prstGeom prst="rect">
            <a:avLst/>
          </a:prstGeom>
          <a:noFill/>
        </p:spPr>
        <p:txBody>
          <a:bodyPr wrap="square">
            <a:spAutoFit/>
          </a:bodyPr>
          <a:lstStyle/>
          <a:p>
            <a:pPr algn="l"/>
            <a:r>
              <a:rPr sz="900" b="0" i="0">
                <a:solidFill>
                  <a:srgbClr val="555555"/>
                </a:solidFill>
              </a:rPr>
              <a:t>isCloudEnabled guards every Supabase call — full offline parity</a:t>
            </a:r>
          </a:p>
        </p:txBody>
      </p:sp>
      <p:sp>
        <p:nvSpPr>
          <p:cNvPr id="31" name="TextBox 30"/>
          <p:cNvSpPr txBox="1"/>
          <p:nvPr/>
        </p:nvSpPr>
        <p:spPr>
          <a:xfrm>
            <a:off x="9006840" y="5559552"/>
            <a:ext cx="2651760" cy="347472"/>
          </a:xfrm>
          <a:prstGeom prst="rect">
            <a:avLst/>
          </a:prstGeom>
          <a:noFill/>
        </p:spPr>
        <p:txBody>
          <a:bodyPr wrap="square">
            <a:spAutoFit/>
          </a:bodyPr>
          <a:lstStyle/>
          <a:p>
            <a:pPr algn="l"/>
            <a:r>
              <a:rPr sz="1000" b="1" i="0">
                <a:solidFill>
                  <a:srgbClr val="1B6B28"/>
                </a:solidFill>
              </a:rPr>
              <a:t>Store as Gateway</a:t>
            </a:r>
          </a:p>
        </p:txBody>
      </p:sp>
      <p:sp>
        <p:nvSpPr>
          <p:cNvPr id="32" name="TextBox 31"/>
          <p:cNvSpPr txBox="1"/>
          <p:nvPr/>
        </p:nvSpPr>
        <p:spPr>
          <a:xfrm>
            <a:off x="9006840" y="5888736"/>
            <a:ext cx="2651760" cy="640080"/>
          </a:xfrm>
          <a:prstGeom prst="rect">
            <a:avLst/>
          </a:prstGeom>
          <a:noFill/>
        </p:spPr>
        <p:txBody>
          <a:bodyPr wrap="square">
            <a:spAutoFit/>
          </a:bodyPr>
          <a:lstStyle/>
          <a:p>
            <a:pPr algn="l"/>
            <a:r>
              <a:rPr sz="900" b="0" i="0">
                <a:solidFill>
                  <a:srgbClr val="555555"/>
                </a:solidFill>
              </a:rPr>
              <a:t>UI never calls repos directly — Zustand stores are the only entry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Ball-by-Ball Scoring Engine</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FFCCAA"/>
                </a:solidFill>
              </a:rPr>
              <a:t>ICC-accurate rules, tested to 150+ scenarios</a:t>
            </a:r>
          </a:p>
        </p:txBody>
      </p:sp>
      <p:sp>
        <p:nvSpPr>
          <p:cNvPr id="5" name="Rectangle 4"/>
          <p:cNvSpPr/>
          <p:nvPr/>
        </p:nvSpPr>
        <p:spPr>
          <a:xfrm>
            <a:off x="365760" y="1691640"/>
            <a:ext cx="5029200" cy="4937760"/>
          </a:xfrm>
          <a:prstGeom prst="rect">
            <a:avLst/>
          </a:prstGeom>
          <a:solidFill>
            <a:srgbClr val="1A1A2E"/>
          </a:solidFill>
          <a:ln w="1270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28800"/>
            <a:ext cx="4754880" cy="457200"/>
          </a:xfrm>
          <a:prstGeom prst="rect">
            <a:avLst/>
          </a:prstGeom>
          <a:noFill/>
        </p:spPr>
        <p:txBody>
          <a:bodyPr wrap="square">
            <a:spAutoFit/>
          </a:bodyPr>
          <a:lstStyle/>
          <a:p>
            <a:pPr algn="l"/>
            <a:r>
              <a:rPr sz="1300" b="1" i="0">
                <a:solidFill>
                  <a:srgbClr val="FFFFFF"/>
                </a:solidFill>
              </a:rPr>
              <a:t>THB  142 / 6  (17.3 ov)</a:t>
            </a:r>
          </a:p>
        </p:txBody>
      </p:sp>
      <p:sp>
        <p:nvSpPr>
          <p:cNvPr id="7" name="TextBox 6"/>
          <p:cNvSpPr txBox="1"/>
          <p:nvPr/>
        </p:nvSpPr>
        <p:spPr>
          <a:xfrm>
            <a:off x="502920" y="2240280"/>
            <a:ext cx="4754880" cy="320040"/>
          </a:xfrm>
          <a:prstGeom prst="rect">
            <a:avLst/>
          </a:prstGeom>
          <a:noFill/>
        </p:spPr>
        <p:txBody>
          <a:bodyPr wrap="square">
            <a:spAutoFit/>
          </a:bodyPr>
          <a:lstStyle/>
          <a:p>
            <a:pPr algn="l"/>
            <a:r>
              <a:rPr sz="900" b="0" i="0">
                <a:solidFill>
                  <a:srgbClr val="B0B0C8"/>
                </a:solidFill>
              </a:rPr>
              <a:t>CRR: 8.11   ▪   RRR: 12.40   ▪   TGT: 186</a:t>
            </a:r>
          </a:p>
        </p:txBody>
      </p:sp>
      <p:sp>
        <p:nvSpPr>
          <p:cNvPr id="8" name="Rectangle 7"/>
          <p:cNvSpPr/>
          <p:nvPr/>
        </p:nvSpPr>
        <p:spPr>
          <a:xfrm>
            <a:off x="502920" y="2606040"/>
            <a:ext cx="4754880" cy="36576"/>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670048"/>
            <a:ext cx="4754880" cy="347472"/>
          </a:xfrm>
          <a:prstGeom prst="rect">
            <a:avLst/>
          </a:prstGeom>
          <a:noFill/>
        </p:spPr>
        <p:txBody>
          <a:bodyPr wrap="square">
            <a:spAutoFit/>
          </a:bodyPr>
          <a:lstStyle/>
          <a:p>
            <a:pPr algn="l"/>
            <a:r>
              <a:rPr sz="1000" b="0" i="0">
                <a:solidFill>
                  <a:srgbClr val="FFD700"/>
                </a:solidFill>
              </a:rPr>
              <a:t>🏏  Ravi Kumar*      34(28)   4s:2  6s:1</a:t>
            </a:r>
          </a:p>
        </p:txBody>
      </p:sp>
      <p:sp>
        <p:nvSpPr>
          <p:cNvPr id="10" name="TextBox 9"/>
          <p:cNvSpPr txBox="1"/>
          <p:nvPr/>
        </p:nvSpPr>
        <p:spPr>
          <a:xfrm>
            <a:off x="502920" y="2999232"/>
            <a:ext cx="4754880" cy="320040"/>
          </a:xfrm>
          <a:prstGeom prst="rect">
            <a:avLst/>
          </a:prstGeom>
          <a:noFill/>
        </p:spPr>
        <p:txBody>
          <a:bodyPr wrap="square">
            <a:spAutoFit/>
          </a:bodyPr>
          <a:lstStyle/>
          <a:p>
            <a:pPr algn="l"/>
            <a:r>
              <a:rPr sz="1000" b="0" i="0">
                <a:solidFill>
                  <a:srgbClr val="FFFFFF"/>
                </a:solidFill>
              </a:rPr>
              <a:t>     Arjun Singh      18(15)</a:t>
            </a:r>
          </a:p>
        </p:txBody>
      </p:sp>
      <p:sp>
        <p:nvSpPr>
          <p:cNvPr id="11" name="TextBox 10"/>
          <p:cNvSpPr txBox="1"/>
          <p:nvPr/>
        </p:nvSpPr>
        <p:spPr>
          <a:xfrm>
            <a:off x="502920" y="3337560"/>
            <a:ext cx="4754880" cy="347472"/>
          </a:xfrm>
          <a:prstGeom prst="rect">
            <a:avLst/>
          </a:prstGeom>
          <a:noFill/>
        </p:spPr>
        <p:txBody>
          <a:bodyPr wrap="square">
            <a:spAutoFit/>
          </a:bodyPr>
          <a:lstStyle/>
          <a:p>
            <a:pPr algn="l"/>
            <a:r>
              <a:rPr sz="1000" b="0" i="0">
                <a:solidFill>
                  <a:srgbClr val="80FFB4"/>
                </a:solidFill>
              </a:rPr>
              <a:t>🎯  Deepak Rao   2-0-18-1  (4.3 ov)</a:t>
            </a:r>
          </a:p>
        </p:txBody>
      </p:sp>
      <p:sp>
        <p:nvSpPr>
          <p:cNvPr id="12" name="TextBox 11"/>
          <p:cNvSpPr txBox="1"/>
          <p:nvPr/>
        </p:nvSpPr>
        <p:spPr>
          <a:xfrm>
            <a:off x="502920" y="3657600"/>
            <a:ext cx="4754880" cy="347472"/>
          </a:xfrm>
          <a:prstGeom prst="rect">
            <a:avLst/>
          </a:prstGeom>
          <a:noFill/>
        </p:spPr>
        <p:txBody>
          <a:bodyPr wrap="square">
            <a:spAutoFit/>
          </a:bodyPr>
          <a:lstStyle/>
          <a:p>
            <a:pPr algn="l"/>
            <a:r>
              <a:rPr sz="1000" b="0" i="1">
                <a:solidFill>
                  <a:srgbClr val="B0B0C8"/>
                </a:solidFill>
              </a:rPr>
              <a:t>This over:   ·   1   4   W   ·   2</a:t>
            </a:r>
          </a:p>
        </p:txBody>
      </p:sp>
      <p:sp>
        <p:nvSpPr>
          <p:cNvPr id="13" name="Rectangle 12"/>
          <p:cNvSpPr/>
          <p:nvPr/>
        </p:nvSpPr>
        <p:spPr>
          <a:xfrm>
            <a:off x="502920" y="4114800"/>
            <a:ext cx="1078992" cy="530352"/>
          </a:xfrm>
          <a:prstGeom prst="rect">
            <a:avLst/>
          </a:prstGeom>
          <a:solidFill>
            <a:srgbClr val="2A2A3E"/>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187952"/>
            <a:ext cx="1078992" cy="411480"/>
          </a:xfrm>
          <a:prstGeom prst="rect">
            <a:avLst/>
          </a:prstGeom>
          <a:noFill/>
        </p:spPr>
        <p:txBody>
          <a:bodyPr wrap="square">
            <a:spAutoFit/>
          </a:bodyPr>
          <a:lstStyle/>
          <a:p>
            <a:pPr algn="ctr"/>
            <a:r>
              <a:rPr sz="1400" b="1" i="0">
                <a:solidFill>
                  <a:srgbClr val="FFFFFF"/>
                </a:solidFill>
              </a:rPr>
              <a:t>0</a:t>
            </a:r>
          </a:p>
        </p:txBody>
      </p:sp>
      <p:sp>
        <p:nvSpPr>
          <p:cNvPr id="15" name="Rectangle 14"/>
          <p:cNvSpPr/>
          <p:nvPr/>
        </p:nvSpPr>
        <p:spPr>
          <a:xfrm>
            <a:off x="1691640" y="4114800"/>
            <a:ext cx="1078992" cy="530352"/>
          </a:xfrm>
          <a:prstGeom prst="rect">
            <a:avLst/>
          </a:prstGeom>
          <a:solidFill>
            <a:srgbClr val="2A2A3E"/>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91640" y="4187952"/>
            <a:ext cx="1078992" cy="411480"/>
          </a:xfrm>
          <a:prstGeom prst="rect">
            <a:avLst/>
          </a:prstGeom>
          <a:noFill/>
        </p:spPr>
        <p:txBody>
          <a:bodyPr wrap="square">
            <a:spAutoFit/>
          </a:bodyPr>
          <a:lstStyle/>
          <a:p>
            <a:pPr algn="ctr"/>
            <a:r>
              <a:rPr sz="1400" b="1" i="0">
                <a:solidFill>
                  <a:srgbClr val="FFFFFF"/>
                </a:solidFill>
              </a:rPr>
              <a:t>1</a:t>
            </a:r>
          </a:p>
        </p:txBody>
      </p:sp>
      <p:sp>
        <p:nvSpPr>
          <p:cNvPr id="17" name="Rectangle 16"/>
          <p:cNvSpPr/>
          <p:nvPr/>
        </p:nvSpPr>
        <p:spPr>
          <a:xfrm>
            <a:off x="2880360" y="4114800"/>
            <a:ext cx="1078992" cy="530352"/>
          </a:xfrm>
          <a:prstGeom prst="rect">
            <a:avLst/>
          </a:prstGeom>
          <a:solidFill>
            <a:srgbClr val="2A2A3E"/>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4187952"/>
            <a:ext cx="1078992" cy="411480"/>
          </a:xfrm>
          <a:prstGeom prst="rect">
            <a:avLst/>
          </a:prstGeom>
          <a:noFill/>
        </p:spPr>
        <p:txBody>
          <a:bodyPr wrap="square">
            <a:spAutoFit/>
          </a:bodyPr>
          <a:lstStyle/>
          <a:p>
            <a:pPr algn="ctr"/>
            <a:r>
              <a:rPr sz="1400" b="1" i="0">
                <a:solidFill>
                  <a:srgbClr val="FFFFFF"/>
                </a:solidFill>
              </a:rPr>
              <a:t>2</a:t>
            </a:r>
          </a:p>
        </p:txBody>
      </p:sp>
      <p:sp>
        <p:nvSpPr>
          <p:cNvPr id="19" name="Rectangle 18"/>
          <p:cNvSpPr/>
          <p:nvPr/>
        </p:nvSpPr>
        <p:spPr>
          <a:xfrm>
            <a:off x="4069080" y="4114800"/>
            <a:ext cx="1078992" cy="530352"/>
          </a:xfrm>
          <a:prstGeom prst="rect">
            <a:avLst/>
          </a:prstGeom>
          <a:solidFill>
            <a:srgbClr val="2A2A3E"/>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69080" y="4187952"/>
            <a:ext cx="1078992" cy="411480"/>
          </a:xfrm>
          <a:prstGeom prst="rect">
            <a:avLst/>
          </a:prstGeom>
          <a:noFill/>
        </p:spPr>
        <p:txBody>
          <a:bodyPr wrap="square">
            <a:spAutoFit/>
          </a:bodyPr>
          <a:lstStyle/>
          <a:p>
            <a:pPr algn="ctr"/>
            <a:r>
              <a:rPr sz="1400" b="1" i="0">
                <a:solidFill>
                  <a:srgbClr val="FFFFFF"/>
                </a:solidFill>
              </a:rPr>
              <a:t>3</a:t>
            </a:r>
          </a:p>
        </p:txBody>
      </p:sp>
      <p:sp>
        <p:nvSpPr>
          <p:cNvPr id="21" name="Rectangle 20"/>
          <p:cNvSpPr/>
          <p:nvPr/>
        </p:nvSpPr>
        <p:spPr>
          <a:xfrm>
            <a:off x="502920" y="4754880"/>
            <a:ext cx="1078992" cy="530352"/>
          </a:xfrm>
          <a:prstGeom prst="rect">
            <a:avLst/>
          </a:prstGeom>
          <a:solidFill>
            <a:srgbClr val="1B3A1B"/>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828032"/>
            <a:ext cx="1078992" cy="411480"/>
          </a:xfrm>
          <a:prstGeom prst="rect">
            <a:avLst/>
          </a:prstGeom>
          <a:noFill/>
        </p:spPr>
        <p:txBody>
          <a:bodyPr wrap="square">
            <a:spAutoFit/>
          </a:bodyPr>
          <a:lstStyle/>
          <a:p>
            <a:pPr algn="ctr"/>
            <a:r>
              <a:rPr sz="1400" b="1" i="0">
                <a:solidFill>
                  <a:srgbClr val="80FF80"/>
                </a:solidFill>
              </a:rPr>
              <a:t>4</a:t>
            </a:r>
          </a:p>
        </p:txBody>
      </p:sp>
      <p:sp>
        <p:nvSpPr>
          <p:cNvPr id="23" name="Rectangle 22"/>
          <p:cNvSpPr/>
          <p:nvPr/>
        </p:nvSpPr>
        <p:spPr>
          <a:xfrm>
            <a:off x="1691640" y="4754880"/>
            <a:ext cx="1078992" cy="530352"/>
          </a:xfrm>
          <a:prstGeom prst="rect">
            <a:avLst/>
          </a:prstGeom>
          <a:solidFill>
            <a:srgbClr val="1B3A1B"/>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91640" y="4828032"/>
            <a:ext cx="1078992" cy="411480"/>
          </a:xfrm>
          <a:prstGeom prst="rect">
            <a:avLst/>
          </a:prstGeom>
          <a:noFill/>
        </p:spPr>
        <p:txBody>
          <a:bodyPr wrap="square">
            <a:spAutoFit/>
          </a:bodyPr>
          <a:lstStyle/>
          <a:p>
            <a:pPr algn="ctr"/>
            <a:r>
              <a:rPr sz="1400" b="1" i="0">
                <a:solidFill>
                  <a:srgbClr val="80FF80"/>
                </a:solidFill>
              </a:rPr>
              <a:t>6</a:t>
            </a:r>
          </a:p>
        </p:txBody>
      </p:sp>
      <p:sp>
        <p:nvSpPr>
          <p:cNvPr id="25" name="Rectangle 24"/>
          <p:cNvSpPr/>
          <p:nvPr/>
        </p:nvSpPr>
        <p:spPr>
          <a:xfrm>
            <a:off x="2880360" y="4754880"/>
            <a:ext cx="1078992" cy="530352"/>
          </a:xfrm>
          <a:prstGeom prst="rect">
            <a:avLst/>
          </a:prstGeom>
          <a:solidFill>
            <a:srgbClr val="5C1010"/>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4828032"/>
            <a:ext cx="1078992" cy="411480"/>
          </a:xfrm>
          <a:prstGeom prst="rect">
            <a:avLst/>
          </a:prstGeom>
          <a:noFill/>
        </p:spPr>
        <p:txBody>
          <a:bodyPr wrap="square">
            <a:spAutoFit/>
          </a:bodyPr>
          <a:lstStyle/>
          <a:p>
            <a:pPr algn="ctr"/>
            <a:r>
              <a:rPr sz="1400" b="1" i="0">
                <a:solidFill>
                  <a:srgbClr val="FF7070"/>
                </a:solidFill>
              </a:rPr>
              <a:t>W</a:t>
            </a:r>
          </a:p>
        </p:txBody>
      </p:sp>
      <p:sp>
        <p:nvSpPr>
          <p:cNvPr id="27" name="Rectangle 26"/>
          <p:cNvSpPr/>
          <p:nvPr/>
        </p:nvSpPr>
        <p:spPr>
          <a:xfrm>
            <a:off x="4069080" y="4754880"/>
            <a:ext cx="1078992" cy="530352"/>
          </a:xfrm>
          <a:prstGeom prst="rect">
            <a:avLst/>
          </a:prstGeom>
          <a:solidFill>
            <a:srgbClr val="332700"/>
          </a:solidFill>
          <a:ln w="9525">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69080" y="4828032"/>
            <a:ext cx="1078992" cy="411480"/>
          </a:xfrm>
          <a:prstGeom prst="rect">
            <a:avLst/>
          </a:prstGeom>
          <a:noFill/>
        </p:spPr>
        <p:txBody>
          <a:bodyPr wrap="square">
            <a:spAutoFit/>
          </a:bodyPr>
          <a:lstStyle/>
          <a:p>
            <a:pPr algn="ctr"/>
            <a:r>
              <a:rPr sz="1400" b="1" i="0">
                <a:solidFill>
                  <a:srgbClr val="FFCC00"/>
                </a:solidFill>
              </a:rPr>
              <a:t>↩</a:t>
            </a:r>
          </a:p>
        </p:txBody>
      </p:sp>
      <p:sp>
        <p:nvSpPr>
          <p:cNvPr id="29" name="Rectangle 28"/>
          <p:cNvSpPr/>
          <p:nvPr/>
        </p:nvSpPr>
        <p:spPr>
          <a:xfrm>
            <a:off x="502920" y="5349240"/>
            <a:ext cx="1078992" cy="384048"/>
          </a:xfrm>
          <a:prstGeom prst="rect">
            <a:avLst/>
          </a:prstGeom>
          <a:solidFill>
            <a:srgbClr val="222244"/>
          </a:solidFill>
          <a:ln w="6350">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367528"/>
            <a:ext cx="1078992" cy="347472"/>
          </a:xfrm>
          <a:prstGeom prst="rect">
            <a:avLst/>
          </a:prstGeom>
          <a:noFill/>
        </p:spPr>
        <p:txBody>
          <a:bodyPr wrap="square">
            <a:spAutoFit/>
          </a:bodyPr>
          <a:lstStyle/>
          <a:p>
            <a:pPr algn="ctr"/>
            <a:r>
              <a:rPr sz="800" b="0" i="0">
                <a:solidFill>
                  <a:srgbClr val="CCCCFF"/>
                </a:solidFill>
              </a:rPr>
              <a:t>Wide</a:t>
            </a:r>
          </a:p>
        </p:txBody>
      </p:sp>
      <p:sp>
        <p:nvSpPr>
          <p:cNvPr id="31" name="Rectangle 30"/>
          <p:cNvSpPr/>
          <p:nvPr/>
        </p:nvSpPr>
        <p:spPr>
          <a:xfrm>
            <a:off x="1691640" y="5349240"/>
            <a:ext cx="1078992" cy="384048"/>
          </a:xfrm>
          <a:prstGeom prst="rect">
            <a:avLst/>
          </a:prstGeom>
          <a:solidFill>
            <a:srgbClr val="222244"/>
          </a:solidFill>
          <a:ln w="6350">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91640" y="5367528"/>
            <a:ext cx="1078992" cy="347472"/>
          </a:xfrm>
          <a:prstGeom prst="rect">
            <a:avLst/>
          </a:prstGeom>
          <a:noFill/>
        </p:spPr>
        <p:txBody>
          <a:bodyPr wrap="square">
            <a:spAutoFit/>
          </a:bodyPr>
          <a:lstStyle/>
          <a:p>
            <a:pPr algn="ctr"/>
            <a:r>
              <a:rPr sz="800" b="0" i="0">
                <a:solidFill>
                  <a:srgbClr val="CCCCFF"/>
                </a:solidFill>
              </a:rPr>
              <a:t>No Ball</a:t>
            </a:r>
          </a:p>
        </p:txBody>
      </p:sp>
      <p:sp>
        <p:nvSpPr>
          <p:cNvPr id="33" name="Rectangle 32"/>
          <p:cNvSpPr/>
          <p:nvPr/>
        </p:nvSpPr>
        <p:spPr>
          <a:xfrm>
            <a:off x="2880360" y="5349240"/>
            <a:ext cx="1078992" cy="384048"/>
          </a:xfrm>
          <a:prstGeom prst="rect">
            <a:avLst/>
          </a:prstGeom>
          <a:solidFill>
            <a:srgbClr val="222244"/>
          </a:solidFill>
          <a:ln w="6350">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5367528"/>
            <a:ext cx="1078992" cy="347472"/>
          </a:xfrm>
          <a:prstGeom prst="rect">
            <a:avLst/>
          </a:prstGeom>
          <a:noFill/>
        </p:spPr>
        <p:txBody>
          <a:bodyPr wrap="square">
            <a:spAutoFit/>
          </a:bodyPr>
          <a:lstStyle/>
          <a:p>
            <a:pPr algn="ctr"/>
            <a:r>
              <a:rPr sz="800" b="0" i="0">
                <a:solidFill>
                  <a:srgbClr val="CCCCFF"/>
                </a:solidFill>
              </a:rPr>
              <a:t>Bye</a:t>
            </a:r>
          </a:p>
        </p:txBody>
      </p:sp>
      <p:sp>
        <p:nvSpPr>
          <p:cNvPr id="35" name="Rectangle 34"/>
          <p:cNvSpPr/>
          <p:nvPr/>
        </p:nvSpPr>
        <p:spPr>
          <a:xfrm>
            <a:off x="4069080" y="5349240"/>
            <a:ext cx="1078992" cy="384048"/>
          </a:xfrm>
          <a:prstGeom prst="rect">
            <a:avLst/>
          </a:prstGeom>
          <a:solidFill>
            <a:srgbClr val="222244"/>
          </a:solidFill>
          <a:ln w="6350">
            <a:solidFill>
              <a:srgbClr val="5555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69080" y="5367528"/>
            <a:ext cx="1078992" cy="347472"/>
          </a:xfrm>
          <a:prstGeom prst="rect">
            <a:avLst/>
          </a:prstGeom>
          <a:noFill/>
        </p:spPr>
        <p:txBody>
          <a:bodyPr wrap="square">
            <a:spAutoFit/>
          </a:bodyPr>
          <a:lstStyle/>
          <a:p>
            <a:pPr algn="ctr"/>
            <a:r>
              <a:rPr sz="800" b="0" i="0">
                <a:solidFill>
                  <a:srgbClr val="CCCCFF"/>
                </a:solidFill>
              </a:rPr>
              <a:t>Leg Bye</a:t>
            </a:r>
          </a:p>
        </p:txBody>
      </p:sp>
      <p:sp>
        <p:nvSpPr>
          <p:cNvPr id="37" name="Rectangle 36"/>
          <p:cNvSpPr/>
          <p:nvPr/>
        </p:nvSpPr>
        <p:spPr>
          <a:xfrm>
            <a:off x="5669280" y="17830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97880" y="1764792"/>
            <a:ext cx="5852160" cy="320040"/>
          </a:xfrm>
          <a:prstGeom prst="rect">
            <a:avLst/>
          </a:prstGeom>
          <a:noFill/>
        </p:spPr>
        <p:txBody>
          <a:bodyPr wrap="square">
            <a:spAutoFit/>
          </a:bodyPr>
          <a:lstStyle/>
          <a:p>
            <a:pPr algn="l"/>
            <a:r>
              <a:rPr sz="1100" b="1" i="0">
                <a:solidFill>
                  <a:srgbClr val="1A1A1A"/>
                </a:solidFill>
              </a:rPr>
              <a:t>All 12 Dismissal Types</a:t>
            </a:r>
          </a:p>
        </p:txBody>
      </p:sp>
      <p:sp>
        <p:nvSpPr>
          <p:cNvPr id="39" name="TextBox 38"/>
          <p:cNvSpPr txBox="1"/>
          <p:nvPr/>
        </p:nvSpPr>
        <p:spPr>
          <a:xfrm>
            <a:off x="5897880" y="2057400"/>
            <a:ext cx="5852160" cy="347472"/>
          </a:xfrm>
          <a:prstGeom prst="rect">
            <a:avLst/>
          </a:prstGeom>
          <a:noFill/>
        </p:spPr>
        <p:txBody>
          <a:bodyPr wrap="square">
            <a:spAutoFit/>
          </a:bodyPr>
          <a:lstStyle/>
          <a:p>
            <a:pPr algn="l"/>
            <a:r>
              <a:rPr sz="900" b="0" i="0">
                <a:solidFill>
                  <a:srgbClr val="555555"/>
                </a:solidFill>
              </a:rPr>
              <a:t>Bowled, caught, LBW, run out, stumped, hit wicket,
retired hurt/out, obstructing field, timed out, hit twice</a:t>
            </a:r>
          </a:p>
        </p:txBody>
      </p:sp>
      <p:sp>
        <p:nvSpPr>
          <p:cNvPr id="40" name="Rectangle 39"/>
          <p:cNvSpPr/>
          <p:nvPr/>
        </p:nvSpPr>
        <p:spPr>
          <a:xfrm>
            <a:off x="5669280" y="24688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97880" y="2450592"/>
            <a:ext cx="5852160" cy="320040"/>
          </a:xfrm>
          <a:prstGeom prst="rect">
            <a:avLst/>
          </a:prstGeom>
          <a:noFill/>
        </p:spPr>
        <p:txBody>
          <a:bodyPr wrap="square">
            <a:spAutoFit/>
          </a:bodyPr>
          <a:lstStyle/>
          <a:p>
            <a:pPr algn="l"/>
            <a:r>
              <a:rPr sz="1100" b="1" i="0">
                <a:solidFill>
                  <a:srgbClr val="1A1A1A"/>
                </a:solidFill>
              </a:rPr>
              <a:t>Accurate Strike Rotation</a:t>
            </a:r>
          </a:p>
        </p:txBody>
      </p:sp>
      <p:sp>
        <p:nvSpPr>
          <p:cNvPr id="42" name="TextBox 41"/>
          <p:cNvSpPr txBox="1"/>
          <p:nvPr/>
        </p:nvSpPr>
        <p:spPr>
          <a:xfrm>
            <a:off x="5897880" y="2743200"/>
            <a:ext cx="5852160" cy="347472"/>
          </a:xfrm>
          <a:prstGeom prst="rect">
            <a:avLst/>
          </a:prstGeom>
          <a:noFill/>
        </p:spPr>
        <p:txBody>
          <a:bodyPr wrap="square">
            <a:spAutoFit/>
          </a:bodyPr>
          <a:lstStyle/>
          <a:p>
            <a:pPr algn="l"/>
            <a:r>
              <a:rPr sz="900" b="0" i="0">
                <a:solidFill>
                  <a:srgbClr val="555555"/>
                </a:solidFill>
              </a:rPr>
              <a:t>Odd-run rotation applied before end-of-over swap;
no-ball uses runs off bat only (not penalty run)</a:t>
            </a:r>
          </a:p>
        </p:txBody>
      </p:sp>
      <p:sp>
        <p:nvSpPr>
          <p:cNvPr id="43" name="Rectangle 42"/>
          <p:cNvSpPr/>
          <p:nvPr/>
        </p:nvSpPr>
        <p:spPr>
          <a:xfrm>
            <a:off x="5669280" y="31546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97880" y="3136392"/>
            <a:ext cx="5852160" cy="320040"/>
          </a:xfrm>
          <a:prstGeom prst="rect">
            <a:avLst/>
          </a:prstGeom>
          <a:noFill/>
        </p:spPr>
        <p:txBody>
          <a:bodyPr wrap="square">
            <a:spAutoFit/>
          </a:bodyPr>
          <a:lstStyle/>
          <a:p>
            <a:pPr algn="l"/>
            <a:r>
              <a:rPr sz="1100" b="1" i="0">
                <a:solidFill>
                  <a:srgbClr val="1A1A1A"/>
                </a:solidFill>
              </a:rPr>
              <a:t>Free Hit Tracking</a:t>
            </a:r>
          </a:p>
        </p:txBody>
      </p:sp>
      <p:sp>
        <p:nvSpPr>
          <p:cNvPr id="45" name="TextBox 44"/>
          <p:cNvSpPr txBox="1"/>
          <p:nvPr/>
        </p:nvSpPr>
        <p:spPr>
          <a:xfrm>
            <a:off x="5897880" y="3429000"/>
            <a:ext cx="5852160" cy="347472"/>
          </a:xfrm>
          <a:prstGeom prst="rect">
            <a:avLst/>
          </a:prstGeom>
          <a:noFill/>
        </p:spPr>
        <p:txBody>
          <a:bodyPr wrap="square">
            <a:spAutoFit/>
          </a:bodyPr>
          <a:lstStyle/>
          <a:p>
            <a:pPr algn="l"/>
            <a:r>
              <a:rPr sz="900" b="0" i="0">
                <a:solidFill>
                  <a:srgbClr val="555555"/>
                </a:solidFill>
              </a:rPr>
              <a:t>Wide/NB triggers free hit on next delivery;
only run-out + retired-out valid — all others blocked</a:t>
            </a:r>
          </a:p>
        </p:txBody>
      </p:sp>
      <p:sp>
        <p:nvSpPr>
          <p:cNvPr id="46" name="Rectangle 45"/>
          <p:cNvSpPr/>
          <p:nvPr/>
        </p:nvSpPr>
        <p:spPr>
          <a:xfrm>
            <a:off x="5669280" y="3840479"/>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97880" y="3822191"/>
            <a:ext cx="5852160" cy="320040"/>
          </a:xfrm>
          <a:prstGeom prst="rect">
            <a:avLst/>
          </a:prstGeom>
          <a:noFill/>
        </p:spPr>
        <p:txBody>
          <a:bodyPr wrap="square">
            <a:spAutoFit/>
          </a:bodyPr>
          <a:lstStyle/>
          <a:p>
            <a:pPr algn="l"/>
            <a:r>
              <a:rPr sz="1100" b="1" i="0">
                <a:solidFill>
                  <a:srgbClr val="1A1A1A"/>
                </a:solidFill>
              </a:rPr>
              <a:t>Undo Stack</a:t>
            </a:r>
          </a:p>
        </p:txBody>
      </p:sp>
      <p:sp>
        <p:nvSpPr>
          <p:cNvPr id="48" name="TextBox 47"/>
          <p:cNvSpPr txBox="1"/>
          <p:nvPr/>
        </p:nvSpPr>
        <p:spPr>
          <a:xfrm>
            <a:off x="5897880" y="4114799"/>
            <a:ext cx="5852160" cy="347472"/>
          </a:xfrm>
          <a:prstGeom prst="rect">
            <a:avLst/>
          </a:prstGeom>
          <a:noFill/>
        </p:spPr>
        <p:txBody>
          <a:bodyPr wrap="square">
            <a:spAutoFit/>
          </a:bodyPr>
          <a:lstStyle/>
          <a:p>
            <a:pPr algn="l"/>
            <a:r>
              <a:rPr sz="900" b="0" i="0">
                <a:solidFill>
                  <a:srgbClr val="555555"/>
                </a:solidFill>
              </a:rPr>
              <a:t>Every ball snapshots innings state; unlimited undos;
persisted in match JSON (survives app restart)</a:t>
            </a:r>
          </a:p>
        </p:txBody>
      </p:sp>
      <p:sp>
        <p:nvSpPr>
          <p:cNvPr id="49" name="Rectangle 48"/>
          <p:cNvSpPr/>
          <p:nvPr/>
        </p:nvSpPr>
        <p:spPr>
          <a:xfrm>
            <a:off x="5669280" y="45262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97880" y="4507992"/>
            <a:ext cx="5852160" cy="320040"/>
          </a:xfrm>
          <a:prstGeom prst="rect">
            <a:avLst/>
          </a:prstGeom>
          <a:noFill/>
        </p:spPr>
        <p:txBody>
          <a:bodyPr wrap="square">
            <a:spAutoFit/>
          </a:bodyPr>
          <a:lstStyle/>
          <a:p>
            <a:pPr algn="l"/>
            <a:r>
              <a:rPr sz="1100" b="1" i="0">
                <a:solidFill>
                  <a:srgbClr val="1A1A1A"/>
                </a:solidFill>
              </a:rPr>
              <a:t>Extras Breakdown</a:t>
            </a:r>
          </a:p>
        </p:txBody>
      </p:sp>
      <p:sp>
        <p:nvSpPr>
          <p:cNvPr id="51" name="TextBox 50"/>
          <p:cNvSpPr txBox="1"/>
          <p:nvPr/>
        </p:nvSpPr>
        <p:spPr>
          <a:xfrm>
            <a:off x="5897880" y="4800600"/>
            <a:ext cx="5852160" cy="347472"/>
          </a:xfrm>
          <a:prstGeom prst="rect">
            <a:avLst/>
          </a:prstGeom>
          <a:noFill/>
        </p:spPr>
        <p:txBody>
          <a:bodyPr wrap="square">
            <a:spAutoFit/>
          </a:bodyPr>
          <a:lstStyle/>
          <a:p>
            <a:pPr algn="l"/>
            <a:r>
              <a:rPr sz="900" b="0" i="0">
                <a:solidFill>
                  <a:srgbClr val="555555"/>
                </a:solidFill>
              </a:rPr>
              <a:t>Wides, no balls, byes, leg byes tracked separately;
contribute correctly to bowler and innings totals</a:t>
            </a:r>
          </a:p>
        </p:txBody>
      </p:sp>
      <p:sp>
        <p:nvSpPr>
          <p:cNvPr id="52" name="Rectangle 51"/>
          <p:cNvSpPr/>
          <p:nvPr/>
        </p:nvSpPr>
        <p:spPr>
          <a:xfrm>
            <a:off x="5669280" y="52120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97880" y="5193792"/>
            <a:ext cx="5852160" cy="320040"/>
          </a:xfrm>
          <a:prstGeom prst="rect">
            <a:avLst/>
          </a:prstGeom>
          <a:noFill/>
        </p:spPr>
        <p:txBody>
          <a:bodyPr wrap="square">
            <a:spAutoFit/>
          </a:bodyPr>
          <a:lstStyle/>
          <a:p>
            <a:pPr algn="l"/>
            <a:r>
              <a:rPr sz="1100" b="1" i="0">
                <a:solidFill>
                  <a:srgbClr val="1A1A1A"/>
                </a:solidFill>
              </a:rPr>
              <a:t>Powerplay Zones</a:t>
            </a:r>
          </a:p>
        </p:txBody>
      </p:sp>
      <p:sp>
        <p:nvSpPr>
          <p:cNvPr id="54" name="TextBox 53"/>
          <p:cNvSpPr txBox="1"/>
          <p:nvPr/>
        </p:nvSpPr>
        <p:spPr>
          <a:xfrm>
            <a:off x="5897880" y="5486400"/>
            <a:ext cx="5852160" cy="347472"/>
          </a:xfrm>
          <a:prstGeom prst="rect">
            <a:avLst/>
          </a:prstGeom>
          <a:noFill/>
        </p:spPr>
        <p:txBody>
          <a:bodyPr wrap="square">
            <a:spAutoFit/>
          </a:bodyPr>
          <a:lstStyle/>
          <a:p>
            <a:pPr algn="l"/>
            <a:r>
              <a:rPr sz="900" b="0" i="0">
                <a:solidFill>
                  <a:srgbClr val="555555"/>
                </a:solidFill>
              </a:rPr>
              <a:t>T20: overs 1–6 mandatory;
ODI: 3 powerplay blocks; Test: none</a:t>
            </a:r>
          </a:p>
        </p:txBody>
      </p:sp>
      <p:sp>
        <p:nvSpPr>
          <p:cNvPr id="55" name="Rectangle 54"/>
          <p:cNvSpPr/>
          <p:nvPr/>
        </p:nvSpPr>
        <p:spPr>
          <a:xfrm>
            <a:off x="5669280" y="5897880"/>
            <a:ext cx="109728" cy="4114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97880" y="5879592"/>
            <a:ext cx="5852160" cy="320040"/>
          </a:xfrm>
          <a:prstGeom prst="rect">
            <a:avLst/>
          </a:prstGeom>
          <a:noFill/>
        </p:spPr>
        <p:txBody>
          <a:bodyPr wrap="square">
            <a:spAutoFit/>
          </a:bodyPr>
          <a:lstStyle/>
          <a:p>
            <a:pPr algn="l"/>
            <a:r>
              <a:rPr sz="1100" b="1" i="0">
                <a:solidFill>
                  <a:srgbClr val="1A1A1A"/>
                </a:solidFill>
              </a:rPr>
              <a:t>Maiden Detection</a:t>
            </a:r>
          </a:p>
        </p:txBody>
      </p:sp>
      <p:sp>
        <p:nvSpPr>
          <p:cNvPr id="57" name="TextBox 56"/>
          <p:cNvSpPr txBox="1"/>
          <p:nvPr/>
        </p:nvSpPr>
        <p:spPr>
          <a:xfrm>
            <a:off x="5897880" y="6172200"/>
            <a:ext cx="5852160" cy="347472"/>
          </a:xfrm>
          <a:prstGeom prst="rect">
            <a:avLst/>
          </a:prstGeom>
          <a:noFill/>
        </p:spPr>
        <p:txBody>
          <a:bodyPr wrap="square">
            <a:spAutoFit/>
          </a:bodyPr>
          <a:lstStyle/>
          <a:p>
            <a:pPr algn="l"/>
            <a:r>
              <a:rPr sz="900" b="0" i="0">
                <a:solidFill>
                  <a:srgbClr val="555555"/>
                </a:solidFill>
              </a:rPr>
              <a:t>Over marked maiden if 0 runs in 6 legal deliveries
(regardless of wickets in the 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Team &amp; Player Management</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Persistent rosters, roles, proximity discovery, and delegate access</a:t>
            </a:r>
          </a:p>
        </p:txBody>
      </p:sp>
      <p:sp>
        <p:nvSpPr>
          <p:cNvPr id="5" name="Rectangle 4"/>
          <p:cNvSpPr/>
          <p:nvPr/>
        </p:nvSpPr>
        <p:spPr>
          <a:xfrm>
            <a:off x="320040" y="1691640"/>
            <a:ext cx="3749039" cy="4983480"/>
          </a:xfrm>
          <a:prstGeom prst="rect">
            <a:avLst/>
          </a:prstGeom>
          <a:solidFill>
            <a:srgbClr val="FFFFFF"/>
          </a:solidFill>
          <a:ln w="190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91640"/>
            <a:ext cx="3749039" cy="50292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64792"/>
            <a:ext cx="3474720" cy="384048"/>
          </a:xfrm>
          <a:prstGeom prst="rect">
            <a:avLst/>
          </a:prstGeom>
          <a:noFill/>
        </p:spPr>
        <p:txBody>
          <a:bodyPr wrap="square">
            <a:spAutoFit/>
          </a:bodyPr>
          <a:lstStyle/>
          <a:p>
            <a:pPr algn="l"/>
            <a:r>
              <a:rPr sz="1100" b="1" i="0">
                <a:solidFill>
                  <a:srgbClr val="FFFFFF"/>
                </a:solidFill>
              </a:rPr>
              <a:t>Team Creation &amp; Discovery</a:t>
            </a:r>
          </a:p>
        </p:txBody>
      </p:sp>
      <p:sp>
        <p:nvSpPr>
          <p:cNvPr id="8" name="Rectangle 7"/>
          <p:cNvSpPr/>
          <p:nvPr/>
        </p:nvSpPr>
        <p:spPr>
          <a:xfrm>
            <a:off x="502920" y="24414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31720"/>
            <a:ext cx="3154680" cy="594360"/>
          </a:xfrm>
          <a:prstGeom prst="rect">
            <a:avLst/>
          </a:prstGeom>
          <a:noFill/>
        </p:spPr>
        <p:txBody>
          <a:bodyPr wrap="square">
            <a:spAutoFit/>
          </a:bodyPr>
          <a:lstStyle/>
          <a:p>
            <a:pPr algn="l"/>
            <a:r>
              <a:rPr sz="1000" b="0" i="0">
                <a:solidFill>
                  <a:srgbClr val="1A1A1A"/>
                </a:solidFill>
              </a:rPr>
              <a:t>Create teams with name, short code (≤5 chars), optional admin PIN</a:t>
            </a:r>
          </a:p>
        </p:txBody>
      </p:sp>
      <p:sp>
        <p:nvSpPr>
          <p:cNvPr id="10" name="Rectangle 9"/>
          <p:cNvSpPr/>
          <p:nvPr/>
        </p:nvSpPr>
        <p:spPr>
          <a:xfrm>
            <a:off x="502920" y="31272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17520"/>
            <a:ext cx="3154680" cy="594360"/>
          </a:xfrm>
          <a:prstGeom prst="rect">
            <a:avLst/>
          </a:prstGeom>
          <a:noFill/>
        </p:spPr>
        <p:txBody>
          <a:bodyPr wrap="square">
            <a:spAutoFit/>
          </a:bodyPr>
          <a:lstStyle/>
          <a:p>
            <a:pPr algn="l"/>
            <a:r>
              <a:rPr sz="1000" b="0" i="0">
                <a:solidFill>
                  <a:srgbClr val="1A1A1A"/>
                </a:solidFill>
              </a:rPr>
              <a:t>GPS coordinates captured at creation for proximity sorting</a:t>
            </a:r>
          </a:p>
        </p:txBody>
      </p:sp>
      <p:sp>
        <p:nvSpPr>
          <p:cNvPr id="12" name="Rectangle 11"/>
          <p:cNvSpPr/>
          <p:nvPr/>
        </p:nvSpPr>
        <p:spPr>
          <a:xfrm>
            <a:off x="502920" y="38130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03320"/>
            <a:ext cx="3154680" cy="594360"/>
          </a:xfrm>
          <a:prstGeom prst="rect">
            <a:avLst/>
          </a:prstGeom>
          <a:noFill/>
        </p:spPr>
        <p:txBody>
          <a:bodyPr wrap="square">
            <a:spAutoFit/>
          </a:bodyPr>
          <a:lstStyle/>
          <a:p>
            <a:pPr algn="l"/>
            <a:r>
              <a:rPr sz="1000" b="0" i="0">
                <a:solidFill>
                  <a:srgbClr val="1A1A1A"/>
                </a:solidFill>
              </a:rPr>
              <a:t>My Teams section always visible first</a:t>
            </a:r>
          </a:p>
        </p:txBody>
      </p:sp>
      <p:sp>
        <p:nvSpPr>
          <p:cNvPr id="14" name="Rectangle 13"/>
          <p:cNvSpPr/>
          <p:nvPr/>
        </p:nvSpPr>
        <p:spPr>
          <a:xfrm>
            <a:off x="502920" y="44988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89120"/>
            <a:ext cx="3154680" cy="594360"/>
          </a:xfrm>
          <a:prstGeom prst="rect">
            <a:avLst/>
          </a:prstGeom>
          <a:noFill/>
        </p:spPr>
        <p:txBody>
          <a:bodyPr wrap="square">
            <a:spAutoFit/>
          </a:bodyPr>
          <a:lstStyle/>
          <a:p>
            <a:pPr algn="l"/>
            <a:r>
              <a:rPr sz="1000" b="0" i="0">
                <a:solidFill>
                  <a:srgbClr val="1A1A1A"/>
                </a:solidFill>
              </a:rPr>
              <a:t>Nearby Teams: up to 10 within 50 miles (Haversine formula)</a:t>
            </a:r>
          </a:p>
        </p:txBody>
      </p:sp>
      <p:sp>
        <p:nvSpPr>
          <p:cNvPr id="16" name="Rectangle 15"/>
          <p:cNvSpPr/>
          <p:nvPr/>
        </p:nvSpPr>
        <p:spPr>
          <a:xfrm>
            <a:off x="502920" y="51846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74920"/>
            <a:ext cx="3154680" cy="594360"/>
          </a:xfrm>
          <a:prstGeom prst="rect">
            <a:avLst/>
          </a:prstGeom>
          <a:noFill/>
        </p:spPr>
        <p:txBody>
          <a:bodyPr wrap="square">
            <a:spAutoFit/>
          </a:bodyPr>
          <a:lstStyle/>
          <a:p>
            <a:pPr algn="l"/>
            <a:r>
              <a:rPr sz="1000" b="0" i="0">
                <a:solidFill>
                  <a:srgbClr val="1A1A1A"/>
                </a:solidFill>
              </a:rPr>
              <a:t>Search across all teams by name</a:t>
            </a:r>
          </a:p>
        </p:txBody>
      </p:sp>
      <p:sp>
        <p:nvSpPr>
          <p:cNvPr id="18" name="Rectangle 17"/>
          <p:cNvSpPr/>
          <p:nvPr/>
        </p:nvSpPr>
        <p:spPr>
          <a:xfrm>
            <a:off x="502920" y="5870448"/>
            <a:ext cx="164592" cy="164592"/>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760720"/>
            <a:ext cx="3154680" cy="594360"/>
          </a:xfrm>
          <a:prstGeom prst="rect">
            <a:avLst/>
          </a:prstGeom>
          <a:noFill/>
        </p:spPr>
        <p:txBody>
          <a:bodyPr wrap="square">
            <a:spAutoFit/>
          </a:bodyPr>
          <a:lstStyle/>
          <a:p>
            <a:pPr algn="l"/>
            <a:r>
              <a:rPr sz="1000" b="0" i="0">
                <a:solidFill>
                  <a:srgbClr val="1A1A1A"/>
                </a:solidFill>
              </a:rPr>
              <a:t>Admin PIN hashed with SHA-256 — plaintext never stored</a:t>
            </a:r>
          </a:p>
        </p:txBody>
      </p:sp>
      <p:sp>
        <p:nvSpPr>
          <p:cNvPr id="20" name="Rectangle 19"/>
          <p:cNvSpPr/>
          <p:nvPr/>
        </p:nvSpPr>
        <p:spPr>
          <a:xfrm>
            <a:off x="4251959" y="1691640"/>
            <a:ext cx="3749039" cy="4983480"/>
          </a:xfrm>
          <a:prstGeom prst="rect">
            <a:avLst/>
          </a:prstGeom>
          <a:solidFill>
            <a:srgbClr val="FFFFFF"/>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59" y="1691640"/>
            <a:ext cx="3749039" cy="50292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19" y="1764792"/>
            <a:ext cx="3474720" cy="384048"/>
          </a:xfrm>
          <a:prstGeom prst="rect">
            <a:avLst/>
          </a:prstGeom>
          <a:noFill/>
        </p:spPr>
        <p:txBody>
          <a:bodyPr wrap="square">
            <a:spAutoFit/>
          </a:bodyPr>
          <a:lstStyle/>
          <a:p>
            <a:pPr algn="l"/>
            <a:r>
              <a:rPr sz="1100" b="1" i="0">
                <a:solidFill>
                  <a:srgbClr val="FFFFFF"/>
                </a:solidFill>
              </a:rPr>
              <a:t>Player Profiles &amp; Roles</a:t>
            </a:r>
          </a:p>
        </p:txBody>
      </p:sp>
      <p:sp>
        <p:nvSpPr>
          <p:cNvPr id="23" name="Rectangle 22"/>
          <p:cNvSpPr/>
          <p:nvPr/>
        </p:nvSpPr>
        <p:spPr>
          <a:xfrm>
            <a:off x="4434839" y="24414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59" y="2331720"/>
            <a:ext cx="3154680" cy="594360"/>
          </a:xfrm>
          <a:prstGeom prst="rect">
            <a:avLst/>
          </a:prstGeom>
          <a:noFill/>
        </p:spPr>
        <p:txBody>
          <a:bodyPr wrap="square">
            <a:spAutoFit/>
          </a:bodyPr>
          <a:lstStyle/>
          <a:p>
            <a:pPr algn="l"/>
            <a:r>
              <a:rPr sz="1000" b="0" i="0">
                <a:solidFill>
                  <a:srgbClr val="1A1A1A"/>
                </a:solidFill>
              </a:rPr>
              <a:t>Batting style: Right-hand / Left-hand</a:t>
            </a:r>
          </a:p>
        </p:txBody>
      </p:sp>
      <p:sp>
        <p:nvSpPr>
          <p:cNvPr id="25" name="Rectangle 24"/>
          <p:cNvSpPr/>
          <p:nvPr/>
        </p:nvSpPr>
        <p:spPr>
          <a:xfrm>
            <a:off x="4434839" y="31272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59" y="3017520"/>
            <a:ext cx="3154680" cy="594360"/>
          </a:xfrm>
          <a:prstGeom prst="rect">
            <a:avLst/>
          </a:prstGeom>
          <a:noFill/>
        </p:spPr>
        <p:txBody>
          <a:bodyPr wrap="square">
            <a:spAutoFit/>
          </a:bodyPr>
          <a:lstStyle/>
          <a:p>
            <a:pPr algn="l"/>
            <a:r>
              <a:rPr sz="1000" b="0" i="0">
                <a:solidFill>
                  <a:srgbClr val="1A1A1A"/>
                </a:solidFill>
              </a:rPr>
              <a:t>Bowling style: 9 options (fast, medium, spin variants)</a:t>
            </a:r>
          </a:p>
        </p:txBody>
      </p:sp>
      <p:sp>
        <p:nvSpPr>
          <p:cNvPr id="27" name="Rectangle 26"/>
          <p:cNvSpPr/>
          <p:nvPr/>
        </p:nvSpPr>
        <p:spPr>
          <a:xfrm>
            <a:off x="4434839" y="38130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3703320"/>
            <a:ext cx="3154680" cy="594360"/>
          </a:xfrm>
          <a:prstGeom prst="rect">
            <a:avLst/>
          </a:prstGeom>
          <a:noFill/>
        </p:spPr>
        <p:txBody>
          <a:bodyPr wrap="square">
            <a:spAutoFit/>
          </a:bodyPr>
          <a:lstStyle/>
          <a:p>
            <a:pPr algn="l"/>
            <a:r>
              <a:rPr sz="1000" b="0" i="0">
                <a:solidFill>
                  <a:srgbClr val="1A1A1A"/>
                </a:solidFill>
              </a:rPr>
              <a:t>Roles: Captain (C), Vice-Captain (VC), Wicket Keeper (WK), All-Rounder (AR)</a:t>
            </a:r>
          </a:p>
        </p:txBody>
      </p:sp>
      <p:sp>
        <p:nvSpPr>
          <p:cNvPr id="29" name="Rectangle 28"/>
          <p:cNvSpPr/>
          <p:nvPr/>
        </p:nvSpPr>
        <p:spPr>
          <a:xfrm>
            <a:off x="4434839" y="44988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59" y="4389120"/>
            <a:ext cx="3154680" cy="594360"/>
          </a:xfrm>
          <a:prstGeom prst="rect">
            <a:avLst/>
          </a:prstGeom>
          <a:noFill/>
        </p:spPr>
        <p:txBody>
          <a:bodyPr wrap="square">
            <a:spAutoFit/>
          </a:bodyPr>
          <a:lstStyle/>
          <a:p>
            <a:pPr algn="l"/>
            <a:r>
              <a:rPr sz="1000" b="0" i="0">
                <a:solidFill>
                  <a:srgbClr val="1A1A1A"/>
                </a:solidFill>
              </a:rPr>
              <a:t>C and VC are mutually exclusive — enforced at entry</a:t>
            </a:r>
          </a:p>
        </p:txBody>
      </p:sp>
      <p:sp>
        <p:nvSpPr>
          <p:cNvPr id="31" name="Rectangle 30"/>
          <p:cNvSpPr/>
          <p:nvPr/>
        </p:nvSpPr>
        <p:spPr>
          <a:xfrm>
            <a:off x="4434839" y="51846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59" y="5074920"/>
            <a:ext cx="3154680" cy="594360"/>
          </a:xfrm>
          <a:prstGeom prst="rect">
            <a:avLst/>
          </a:prstGeom>
          <a:noFill/>
        </p:spPr>
        <p:txBody>
          <a:bodyPr wrap="square">
            <a:spAutoFit/>
          </a:bodyPr>
          <a:lstStyle/>
          <a:p>
            <a:pPr algn="l"/>
            <a:r>
              <a:rPr sz="1000" b="0" i="0">
                <a:solidFill>
                  <a:srgbClr val="1A1A1A"/>
                </a:solidFill>
              </a:rPr>
              <a:t>Optional phone number as cross-team identity key</a:t>
            </a:r>
          </a:p>
        </p:txBody>
      </p:sp>
      <p:sp>
        <p:nvSpPr>
          <p:cNvPr id="33" name="Rectangle 32"/>
          <p:cNvSpPr/>
          <p:nvPr/>
        </p:nvSpPr>
        <p:spPr>
          <a:xfrm>
            <a:off x="4434839" y="5870448"/>
            <a:ext cx="164592" cy="1645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09159" y="5760720"/>
            <a:ext cx="3154680" cy="594360"/>
          </a:xfrm>
          <a:prstGeom prst="rect">
            <a:avLst/>
          </a:prstGeom>
          <a:noFill/>
        </p:spPr>
        <p:txBody>
          <a:bodyPr wrap="square">
            <a:spAutoFit/>
          </a:bodyPr>
          <a:lstStyle/>
          <a:p>
            <a:pPr algn="l"/>
            <a:r>
              <a:rPr sz="1000" b="0" i="0">
                <a:solidFill>
                  <a:srgbClr val="1A1A1A"/>
                </a:solidFill>
              </a:rPr>
              <a:t>6-character shareable player code for profile lookup</a:t>
            </a:r>
          </a:p>
        </p:txBody>
      </p:sp>
      <p:sp>
        <p:nvSpPr>
          <p:cNvPr id="35" name="Rectangle 34"/>
          <p:cNvSpPr/>
          <p:nvPr/>
        </p:nvSpPr>
        <p:spPr>
          <a:xfrm>
            <a:off x="8183879" y="1691640"/>
            <a:ext cx="3749039" cy="498348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83879" y="1691640"/>
            <a:ext cx="3749039" cy="50292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39" y="1764792"/>
            <a:ext cx="3474720" cy="384048"/>
          </a:xfrm>
          <a:prstGeom prst="rect">
            <a:avLst/>
          </a:prstGeom>
          <a:noFill/>
        </p:spPr>
        <p:txBody>
          <a:bodyPr wrap="square">
            <a:spAutoFit/>
          </a:bodyPr>
          <a:lstStyle/>
          <a:p>
            <a:pPr algn="l"/>
            <a:r>
              <a:rPr sz="1100" b="1" i="0">
                <a:solidFill>
                  <a:srgbClr val="FFFFFF"/>
                </a:solidFill>
              </a:rPr>
              <a:t>Delegate Access</a:t>
            </a:r>
          </a:p>
        </p:txBody>
      </p:sp>
      <p:sp>
        <p:nvSpPr>
          <p:cNvPr id="38" name="Rectangle 37"/>
          <p:cNvSpPr/>
          <p:nvPr/>
        </p:nvSpPr>
        <p:spPr>
          <a:xfrm>
            <a:off x="8366759" y="24414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41079" y="2331720"/>
            <a:ext cx="3154680" cy="594360"/>
          </a:xfrm>
          <a:prstGeom prst="rect">
            <a:avLst/>
          </a:prstGeom>
          <a:noFill/>
        </p:spPr>
        <p:txBody>
          <a:bodyPr wrap="square">
            <a:spAutoFit/>
          </a:bodyPr>
          <a:lstStyle/>
          <a:p>
            <a:pPr algn="l"/>
            <a:r>
              <a:rPr sz="1000" b="0" i="0">
                <a:solidFill>
                  <a:srgbClr val="1A1A1A"/>
                </a:solidFill>
              </a:rPr>
              <a:t>Owner generates a 6-char one-time code (10-min TTL)</a:t>
            </a:r>
          </a:p>
        </p:txBody>
      </p:sp>
      <p:sp>
        <p:nvSpPr>
          <p:cNvPr id="40" name="Rectangle 39"/>
          <p:cNvSpPr/>
          <p:nvPr/>
        </p:nvSpPr>
        <p:spPr>
          <a:xfrm>
            <a:off x="8366759" y="31272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41079" y="3017520"/>
            <a:ext cx="3154680" cy="594360"/>
          </a:xfrm>
          <a:prstGeom prst="rect">
            <a:avLst/>
          </a:prstGeom>
          <a:noFill/>
        </p:spPr>
        <p:txBody>
          <a:bodyPr wrap="square">
            <a:spAutoFit/>
          </a:bodyPr>
          <a:lstStyle/>
          <a:p>
            <a:pPr algn="l"/>
            <a:r>
              <a:rPr sz="1000" b="0" i="0">
                <a:solidFill>
                  <a:srgbClr val="1A1A1A"/>
                </a:solidFill>
              </a:rPr>
              <a:t>Code stored in Supabase — single-use, deleted on redeem</a:t>
            </a:r>
          </a:p>
        </p:txBody>
      </p:sp>
      <p:sp>
        <p:nvSpPr>
          <p:cNvPr id="42" name="Rectangle 41"/>
          <p:cNvSpPr/>
          <p:nvPr/>
        </p:nvSpPr>
        <p:spPr>
          <a:xfrm>
            <a:off x="8366759" y="38130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41079" y="3703320"/>
            <a:ext cx="3154680" cy="594360"/>
          </a:xfrm>
          <a:prstGeom prst="rect">
            <a:avLst/>
          </a:prstGeom>
          <a:noFill/>
        </p:spPr>
        <p:txBody>
          <a:bodyPr wrap="square">
            <a:spAutoFit/>
          </a:bodyPr>
          <a:lstStyle/>
          <a:p>
            <a:pPr algn="l"/>
            <a:r>
              <a:rPr sz="1000" b="0" i="0">
                <a:solidFill>
                  <a:srgbClr val="1A1A1A"/>
                </a:solidFill>
              </a:rPr>
              <a:t>Another device enters code → granted editor access</a:t>
            </a:r>
          </a:p>
        </p:txBody>
      </p:sp>
      <p:sp>
        <p:nvSpPr>
          <p:cNvPr id="44" name="Rectangle 43"/>
          <p:cNvSpPr/>
          <p:nvPr/>
        </p:nvSpPr>
        <p:spPr>
          <a:xfrm>
            <a:off x="8366759" y="44988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41079" y="4389120"/>
            <a:ext cx="3154680" cy="594360"/>
          </a:xfrm>
          <a:prstGeom prst="rect">
            <a:avLst/>
          </a:prstGeom>
          <a:noFill/>
        </p:spPr>
        <p:txBody>
          <a:bodyPr wrap="square">
            <a:spAutoFit/>
          </a:bodyPr>
          <a:lstStyle/>
          <a:p>
            <a:pPr algn="l"/>
            <a:r>
              <a:rPr sz="1000" b="0" i="0">
                <a:solidFill>
                  <a:srgbClr val="1A1A1A"/>
                </a:solidFill>
              </a:rPr>
              <a:t>Delegate access stored locally in user_prefs</a:t>
            </a:r>
          </a:p>
        </p:txBody>
      </p:sp>
      <p:sp>
        <p:nvSpPr>
          <p:cNvPr id="46" name="Rectangle 45"/>
          <p:cNvSpPr/>
          <p:nvPr/>
        </p:nvSpPr>
        <p:spPr>
          <a:xfrm>
            <a:off x="8366759" y="51846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41079" y="5074920"/>
            <a:ext cx="3154680" cy="594360"/>
          </a:xfrm>
          <a:prstGeom prst="rect">
            <a:avLst/>
          </a:prstGeom>
          <a:noFill/>
        </p:spPr>
        <p:txBody>
          <a:bodyPr wrap="square">
            <a:spAutoFit/>
          </a:bodyPr>
          <a:lstStyle/>
          <a:p>
            <a:pPr algn="l"/>
            <a:r>
              <a:rPr sz="1000" b="0" i="0">
                <a:solidFill>
                  <a:srgbClr val="1A1A1A"/>
                </a:solidFill>
              </a:rPr>
              <a:t>No need to share admin PIN</a:t>
            </a:r>
          </a:p>
        </p:txBody>
      </p:sp>
      <p:sp>
        <p:nvSpPr>
          <p:cNvPr id="48" name="Rectangle 47"/>
          <p:cNvSpPr/>
          <p:nvPr/>
        </p:nvSpPr>
        <p:spPr>
          <a:xfrm>
            <a:off x="8366759" y="5870448"/>
            <a:ext cx="164592" cy="16459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1079" y="5760720"/>
            <a:ext cx="3154680" cy="594360"/>
          </a:xfrm>
          <a:prstGeom prst="rect">
            <a:avLst/>
          </a:prstGeom>
          <a:noFill/>
        </p:spPr>
        <p:txBody>
          <a:bodyPr wrap="square">
            <a:spAutoFit/>
          </a:bodyPr>
          <a:lstStyle/>
          <a:p>
            <a:pPr algn="l"/>
            <a:r>
              <a:rPr sz="1000" b="0" i="0">
                <a:solidFill>
                  <a:srgbClr val="1A1A1A"/>
                </a:solidFill>
              </a:rPr>
              <a:t>Requires cloud (Supabase) to be configured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Cloud &amp; Real-Time Features</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Optional Supabase integration — app works fully offline without it</a:t>
            </a:r>
          </a:p>
        </p:txBody>
      </p:sp>
      <p:sp>
        <p:nvSpPr>
          <p:cNvPr id="5" name="Rectangle 4"/>
          <p:cNvSpPr/>
          <p:nvPr/>
        </p:nvSpPr>
        <p:spPr>
          <a:xfrm>
            <a:off x="320040" y="1691640"/>
            <a:ext cx="11521440" cy="1920240"/>
          </a:xfrm>
          <a:prstGeom prst="rect">
            <a:avLst/>
          </a:prstGeom>
          <a:solidFill>
            <a:srgbClr val="F0FDFA"/>
          </a:solidFill>
          <a:ln w="127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83080"/>
            <a:ext cx="10972800" cy="365760"/>
          </a:xfrm>
          <a:prstGeom prst="rect">
            <a:avLst/>
          </a:prstGeom>
          <a:noFill/>
        </p:spPr>
        <p:txBody>
          <a:bodyPr wrap="square">
            <a:spAutoFit/>
          </a:bodyPr>
          <a:lstStyle/>
          <a:p>
            <a:pPr algn="l"/>
            <a:r>
              <a:rPr sz="1100" b="1" i="0">
                <a:solidFill>
                  <a:srgbClr val="00695C"/>
                </a:solidFill>
              </a:rPr>
              <a:t>📡  LIVE MATCH SCORES — 50-MILE BROADCAST</a:t>
            </a:r>
          </a:p>
        </p:txBody>
      </p:sp>
      <p:sp>
        <p:nvSpPr>
          <p:cNvPr id="7" name="Rectangle 6"/>
          <p:cNvSpPr/>
          <p:nvPr/>
        </p:nvSpPr>
        <p:spPr>
          <a:xfrm>
            <a:off x="548640" y="2176272"/>
            <a:ext cx="1097280" cy="1078992"/>
          </a:xfrm>
          <a:prstGeom prst="rect">
            <a:avLst/>
          </a:prstGeom>
          <a:solidFill>
            <a:srgbClr val="00695C"/>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76272"/>
            <a:ext cx="1097280" cy="457200"/>
          </a:xfrm>
          <a:prstGeom prst="rect">
            <a:avLst/>
          </a:prstGeom>
          <a:noFill/>
        </p:spPr>
        <p:txBody>
          <a:bodyPr wrap="square">
            <a:spAutoFit/>
          </a:bodyPr>
          <a:lstStyle/>
          <a:p>
            <a:pPr algn="ctr"/>
            <a:r>
              <a:rPr sz="1800" b="1" i="0">
                <a:solidFill>
                  <a:srgbClr val="FFFFFF"/>
                </a:solidFill>
              </a:rPr>
              <a:t>1</a:t>
            </a:r>
          </a:p>
        </p:txBody>
      </p:sp>
      <p:sp>
        <p:nvSpPr>
          <p:cNvPr id="9" name="TextBox 8"/>
          <p:cNvSpPr txBox="1"/>
          <p:nvPr/>
        </p:nvSpPr>
        <p:spPr>
          <a:xfrm>
            <a:off x="594360" y="2514600"/>
            <a:ext cx="1005840" cy="594360"/>
          </a:xfrm>
          <a:prstGeom prst="rect">
            <a:avLst/>
          </a:prstGeom>
          <a:noFill/>
        </p:spPr>
        <p:txBody>
          <a:bodyPr wrap="square">
            <a:spAutoFit/>
          </a:bodyPr>
          <a:lstStyle/>
          <a:p>
            <a:pPr algn="ctr"/>
            <a:r>
              <a:rPr sz="850" b="0" i="0">
                <a:solidFill>
                  <a:srgbClr val="1A1A1A"/>
                </a:solidFill>
              </a:rPr>
              <a:t>Scorer records
a ball</a:t>
            </a:r>
          </a:p>
        </p:txBody>
      </p:sp>
      <p:sp>
        <p:nvSpPr>
          <p:cNvPr id="10" name="TextBox 9"/>
          <p:cNvSpPr txBox="1"/>
          <p:nvPr/>
        </p:nvSpPr>
        <p:spPr>
          <a:xfrm>
            <a:off x="1828800" y="2286000"/>
            <a:ext cx="457200" cy="457200"/>
          </a:xfrm>
          <a:prstGeom prst="rect">
            <a:avLst/>
          </a:prstGeom>
          <a:noFill/>
        </p:spPr>
        <p:txBody>
          <a:bodyPr wrap="square">
            <a:spAutoFit/>
          </a:bodyPr>
          <a:lstStyle/>
          <a:p>
            <a:pPr algn="ctr"/>
            <a:r>
              <a:rPr sz="1600" b="1" i="0">
                <a:solidFill>
                  <a:srgbClr val="00695C"/>
                </a:solidFill>
              </a:rPr>
              <a:t>→</a:t>
            </a:r>
          </a:p>
        </p:txBody>
      </p:sp>
      <p:sp>
        <p:nvSpPr>
          <p:cNvPr id="11" name="Rectangle 10"/>
          <p:cNvSpPr/>
          <p:nvPr/>
        </p:nvSpPr>
        <p:spPr>
          <a:xfrm>
            <a:off x="3108960" y="2176272"/>
            <a:ext cx="1097280" cy="1078992"/>
          </a:xfrm>
          <a:prstGeom prst="rect">
            <a:avLst/>
          </a:prstGeom>
          <a:solidFill>
            <a:srgbClr val="00695C"/>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176272"/>
            <a:ext cx="1097280" cy="457200"/>
          </a:xfrm>
          <a:prstGeom prst="rect">
            <a:avLst/>
          </a:prstGeom>
          <a:noFill/>
        </p:spPr>
        <p:txBody>
          <a:bodyPr wrap="square">
            <a:spAutoFit/>
          </a:bodyPr>
          <a:lstStyle/>
          <a:p>
            <a:pPr algn="ctr"/>
            <a:r>
              <a:rPr sz="1800" b="1" i="0">
                <a:solidFill>
                  <a:srgbClr val="FFFFFF"/>
                </a:solidFill>
              </a:rPr>
              <a:t>2</a:t>
            </a:r>
          </a:p>
        </p:txBody>
      </p:sp>
      <p:sp>
        <p:nvSpPr>
          <p:cNvPr id="13" name="TextBox 12"/>
          <p:cNvSpPr txBox="1"/>
          <p:nvPr/>
        </p:nvSpPr>
        <p:spPr>
          <a:xfrm>
            <a:off x="3154680" y="2514600"/>
            <a:ext cx="1005840" cy="594360"/>
          </a:xfrm>
          <a:prstGeom prst="rect">
            <a:avLst/>
          </a:prstGeom>
          <a:noFill/>
        </p:spPr>
        <p:txBody>
          <a:bodyPr wrap="square">
            <a:spAutoFit/>
          </a:bodyPr>
          <a:lstStyle/>
          <a:p>
            <a:pPr algn="ctr"/>
            <a:r>
              <a:rPr sz="850" b="0" i="0">
                <a:solidFill>
                  <a:srgbClr val="1A1A1A"/>
                </a:solidFill>
              </a:rPr>
              <a:t>Match upserted
to Supabase
live_matches</a:t>
            </a:r>
          </a:p>
        </p:txBody>
      </p:sp>
      <p:sp>
        <p:nvSpPr>
          <p:cNvPr id="14" name="TextBox 13"/>
          <p:cNvSpPr txBox="1"/>
          <p:nvPr/>
        </p:nvSpPr>
        <p:spPr>
          <a:xfrm>
            <a:off x="4389119" y="2286000"/>
            <a:ext cx="457200" cy="457200"/>
          </a:xfrm>
          <a:prstGeom prst="rect">
            <a:avLst/>
          </a:prstGeom>
          <a:noFill/>
        </p:spPr>
        <p:txBody>
          <a:bodyPr wrap="square">
            <a:spAutoFit/>
          </a:bodyPr>
          <a:lstStyle/>
          <a:p>
            <a:pPr algn="ctr"/>
            <a:r>
              <a:rPr sz="1600" b="1" i="0">
                <a:solidFill>
                  <a:srgbClr val="00695C"/>
                </a:solidFill>
              </a:rPr>
              <a:t>→</a:t>
            </a:r>
          </a:p>
        </p:txBody>
      </p:sp>
      <p:sp>
        <p:nvSpPr>
          <p:cNvPr id="15" name="Rectangle 14"/>
          <p:cNvSpPr/>
          <p:nvPr/>
        </p:nvSpPr>
        <p:spPr>
          <a:xfrm>
            <a:off x="5669280" y="2176272"/>
            <a:ext cx="1097280" cy="1078992"/>
          </a:xfrm>
          <a:prstGeom prst="rect">
            <a:avLst/>
          </a:prstGeom>
          <a:solidFill>
            <a:srgbClr val="00695C"/>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0" y="2176272"/>
            <a:ext cx="1097280" cy="457200"/>
          </a:xfrm>
          <a:prstGeom prst="rect">
            <a:avLst/>
          </a:prstGeom>
          <a:noFill/>
        </p:spPr>
        <p:txBody>
          <a:bodyPr wrap="square">
            <a:spAutoFit/>
          </a:bodyPr>
          <a:lstStyle/>
          <a:p>
            <a:pPr algn="ctr"/>
            <a:r>
              <a:rPr sz="1800" b="1" i="0">
                <a:solidFill>
                  <a:srgbClr val="FFFFFF"/>
                </a:solidFill>
              </a:rPr>
              <a:t>3</a:t>
            </a:r>
          </a:p>
        </p:txBody>
      </p:sp>
      <p:sp>
        <p:nvSpPr>
          <p:cNvPr id="17" name="TextBox 16"/>
          <p:cNvSpPr txBox="1"/>
          <p:nvPr/>
        </p:nvSpPr>
        <p:spPr>
          <a:xfrm>
            <a:off x="5715000" y="2514600"/>
            <a:ext cx="1005840" cy="594360"/>
          </a:xfrm>
          <a:prstGeom prst="rect">
            <a:avLst/>
          </a:prstGeom>
          <a:noFill/>
        </p:spPr>
        <p:txBody>
          <a:bodyPr wrap="square">
            <a:spAutoFit/>
          </a:bodyPr>
          <a:lstStyle/>
          <a:p>
            <a:pPr algn="ctr"/>
            <a:r>
              <a:rPr sz="850" b="0" i="0">
                <a:solidFill>
                  <a:srgbClr val="1A1A1A"/>
                </a:solidFill>
              </a:rPr>
              <a:t>Postgres Realtime
triggers channel
event</a:t>
            </a:r>
          </a:p>
        </p:txBody>
      </p:sp>
      <p:sp>
        <p:nvSpPr>
          <p:cNvPr id="18" name="TextBox 17"/>
          <p:cNvSpPr txBox="1"/>
          <p:nvPr/>
        </p:nvSpPr>
        <p:spPr>
          <a:xfrm>
            <a:off x="6949440" y="2286000"/>
            <a:ext cx="457200" cy="457200"/>
          </a:xfrm>
          <a:prstGeom prst="rect">
            <a:avLst/>
          </a:prstGeom>
          <a:noFill/>
        </p:spPr>
        <p:txBody>
          <a:bodyPr wrap="square">
            <a:spAutoFit/>
          </a:bodyPr>
          <a:lstStyle/>
          <a:p>
            <a:pPr algn="ctr"/>
            <a:r>
              <a:rPr sz="1600" b="1" i="0">
                <a:solidFill>
                  <a:srgbClr val="00695C"/>
                </a:solidFill>
              </a:rPr>
              <a:t>→</a:t>
            </a:r>
          </a:p>
        </p:txBody>
      </p:sp>
      <p:sp>
        <p:nvSpPr>
          <p:cNvPr id="19" name="Rectangle 18"/>
          <p:cNvSpPr/>
          <p:nvPr/>
        </p:nvSpPr>
        <p:spPr>
          <a:xfrm>
            <a:off x="8229599" y="2176272"/>
            <a:ext cx="1097280" cy="1078992"/>
          </a:xfrm>
          <a:prstGeom prst="rect">
            <a:avLst/>
          </a:prstGeom>
          <a:solidFill>
            <a:srgbClr val="00695C"/>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9" y="2176272"/>
            <a:ext cx="1097280" cy="457200"/>
          </a:xfrm>
          <a:prstGeom prst="rect">
            <a:avLst/>
          </a:prstGeom>
          <a:noFill/>
        </p:spPr>
        <p:txBody>
          <a:bodyPr wrap="square">
            <a:spAutoFit/>
          </a:bodyPr>
          <a:lstStyle/>
          <a:p>
            <a:pPr algn="ctr"/>
            <a:r>
              <a:rPr sz="1800" b="1" i="0">
                <a:solidFill>
                  <a:srgbClr val="FFFFFF"/>
                </a:solidFill>
              </a:rPr>
              <a:t>4</a:t>
            </a:r>
          </a:p>
        </p:txBody>
      </p:sp>
      <p:sp>
        <p:nvSpPr>
          <p:cNvPr id="21" name="TextBox 20"/>
          <p:cNvSpPr txBox="1"/>
          <p:nvPr/>
        </p:nvSpPr>
        <p:spPr>
          <a:xfrm>
            <a:off x="8275319" y="2514600"/>
            <a:ext cx="1005840" cy="594360"/>
          </a:xfrm>
          <a:prstGeom prst="rect">
            <a:avLst/>
          </a:prstGeom>
          <a:noFill/>
        </p:spPr>
        <p:txBody>
          <a:bodyPr wrap="square">
            <a:spAutoFit/>
          </a:bodyPr>
          <a:lstStyle/>
          <a:p>
            <a:pPr algn="ctr"/>
            <a:r>
              <a:rPr sz="850" b="0" i="0">
                <a:solidFill>
                  <a:srgbClr val="1A1A1A"/>
                </a:solidFill>
              </a:rPr>
              <a:t>Viewer device
fetches nearby
matches (bbox)</a:t>
            </a:r>
          </a:p>
        </p:txBody>
      </p:sp>
      <p:sp>
        <p:nvSpPr>
          <p:cNvPr id="22" name="TextBox 21"/>
          <p:cNvSpPr txBox="1"/>
          <p:nvPr/>
        </p:nvSpPr>
        <p:spPr>
          <a:xfrm>
            <a:off x="9509759" y="2286000"/>
            <a:ext cx="457200" cy="457200"/>
          </a:xfrm>
          <a:prstGeom prst="rect">
            <a:avLst/>
          </a:prstGeom>
          <a:noFill/>
        </p:spPr>
        <p:txBody>
          <a:bodyPr wrap="square">
            <a:spAutoFit/>
          </a:bodyPr>
          <a:lstStyle/>
          <a:p>
            <a:pPr algn="ctr"/>
            <a:r>
              <a:rPr sz="1600" b="1" i="0">
                <a:solidFill>
                  <a:srgbClr val="00695C"/>
                </a:solidFill>
              </a:rPr>
              <a:t>→</a:t>
            </a:r>
          </a:p>
        </p:txBody>
      </p:sp>
      <p:sp>
        <p:nvSpPr>
          <p:cNvPr id="23" name="Rectangle 22"/>
          <p:cNvSpPr/>
          <p:nvPr/>
        </p:nvSpPr>
        <p:spPr>
          <a:xfrm>
            <a:off x="10789920" y="2176272"/>
            <a:ext cx="1097280" cy="1078992"/>
          </a:xfrm>
          <a:prstGeom prst="rect">
            <a:avLst/>
          </a:prstGeom>
          <a:solidFill>
            <a:srgbClr val="00695C"/>
          </a:solidFill>
          <a:ln>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0" y="2176272"/>
            <a:ext cx="1097280" cy="457200"/>
          </a:xfrm>
          <a:prstGeom prst="rect">
            <a:avLst/>
          </a:prstGeom>
          <a:noFill/>
        </p:spPr>
        <p:txBody>
          <a:bodyPr wrap="square">
            <a:spAutoFit/>
          </a:bodyPr>
          <a:lstStyle/>
          <a:p>
            <a:pPr algn="ctr"/>
            <a:r>
              <a:rPr sz="1800" b="1" i="0">
                <a:solidFill>
                  <a:srgbClr val="FFFFFF"/>
                </a:solidFill>
              </a:rPr>
              <a:t>5</a:t>
            </a:r>
          </a:p>
        </p:txBody>
      </p:sp>
      <p:sp>
        <p:nvSpPr>
          <p:cNvPr id="25" name="TextBox 24"/>
          <p:cNvSpPr txBox="1"/>
          <p:nvPr/>
        </p:nvSpPr>
        <p:spPr>
          <a:xfrm>
            <a:off x="10835640" y="2514600"/>
            <a:ext cx="1005840" cy="594360"/>
          </a:xfrm>
          <a:prstGeom prst="rect">
            <a:avLst/>
          </a:prstGeom>
          <a:noFill/>
        </p:spPr>
        <p:txBody>
          <a:bodyPr wrap="square">
            <a:spAutoFit/>
          </a:bodyPr>
          <a:lstStyle/>
          <a:p>
            <a:pPr algn="ctr"/>
            <a:r>
              <a:rPr sz="850" b="0" i="0">
                <a:solidFill>
                  <a:srgbClr val="1A1A1A"/>
                </a:solidFill>
              </a:rPr>
              <a:t>Home screen
updates in
real time</a:t>
            </a:r>
          </a:p>
        </p:txBody>
      </p:sp>
      <p:sp>
        <p:nvSpPr>
          <p:cNvPr id="26" name="Rectangle 25"/>
          <p:cNvSpPr/>
          <p:nvPr/>
        </p:nvSpPr>
        <p:spPr>
          <a:xfrm>
            <a:off x="320040" y="3749039"/>
            <a:ext cx="2834640" cy="2926080"/>
          </a:xfrm>
          <a:prstGeom prst="rect">
            <a:avLst/>
          </a:prstGeom>
          <a:solidFill>
            <a:srgbClr val="FFFFFF"/>
          </a:solidFill>
          <a:ln w="1905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749039"/>
            <a:ext cx="2834640" cy="45720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 y="3813048"/>
            <a:ext cx="2615184" cy="347472"/>
          </a:xfrm>
          <a:prstGeom prst="rect">
            <a:avLst/>
          </a:prstGeom>
          <a:noFill/>
        </p:spPr>
        <p:txBody>
          <a:bodyPr wrap="square">
            <a:spAutoFit/>
          </a:bodyPr>
          <a:lstStyle/>
          <a:p>
            <a:pPr algn="l"/>
            <a:r>
              <a:rPr sz="1000" b="1" i="0">
                <a:solidFill>
                  <a:srgbClr val="FFFFFF"/>
                </a:solidFill>
              </a:rPr>
              <a:t>🗺️  Proximity Query</a:t>
            </a:r>
          </a:p>
        </p:txBody>
      </p:sp>
      <p:sp>
        <p:nvSpPr>
          <p:cNvPr id="29" name="TextBox 28"/>
          <p:cNvSpPr txBox="1"/>
          <p:nvPr/>
        </p:nvSpPr>
        <p:spPr>
          <a:xfrm>
            <a:off x="429768" y="4279392"/>
            <a:ext cx="2615184" cy="2194560"/>
          </a:xfrm>
          <a:prstGeom prst="rect">
            <a:avLst/>
          </a:prstGeom>
          <a:noFill/>
        </p:spPr>
        <p:txBody>
          <a:bodyPr wrap="square">
            <a:spAutoFit/>
          </a:bodyPr>
          <a:lstStyle/>
          <a:p>
            <a:pPr algn="l"/>
            <a:r>
              <a:rPr sz="950" b="0" i="0">
                <a:solidFill>
                  <a:srgbClr val="1A1A1A"/>
                </a:solidFill>
              </a:rPr>
              <a:t>Bounding-box query on lat/lon. Returns up to 20 matches
updated in the last 24 hours within 50-mile radius.
No PostGIS required — fast index-only scan.</a:t>
            </a:r>
          </a:p>
        </p:txBody>
      </p:sp>
      <p:sp>
        <p:nvSpPr>
          <p:cNvPr id="30" name="Rectangle 29"/>
          <p:cNvSpPr/>
          <p:nvPr/>
        </p:nvSpPr>
        <p:spPr>
          <a:xfrm>
            <a:off x="3291840" y="3749039"/>
            <a:ext cx="2834640" cy="2926080"/>
          </a:xfrm>
          <a:prstGeom prst="rect">
            <a:avLst/>
          </a:prstGeom>
          <a:solidFill>
            <a:srgbClr val="FFFFFF"/>
          </a:solidFill>
          <a:ln w="190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91840" y="3749039"/>
            <a:ext cx="2834640" cy="45720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1568" y="3813048"/>
            <a:ext cx="2615184" cy="347472"/>
          </a:xfrm>
          <a:prstGeom prst="rect">
            <a:avLst/>
          </a:prstGeom>
          <a:noFill/>
        </p:spPr>
        <p:txBody>
          <a:bodyPr wrap="square">
            <a:spAutoFit/>
          </a:bodyPr>
          <a:lstStyle/>
          <a:p>
            <a:pPr algn="l"/>
            <a:r>
              <a:rPr sz="1000" b="1" i="0">
                <a:solidFill>
                  <a:srgbClr val="FFFFFF"/>
                </a:solidFill>
              </a:rPr>
              <a:t>💬  Team Chat</a:t>
            </a:r>
          </a:p>
        </p:txBody>
      </p:sp>
      <p:sp>
        <p:nvSpPr>
          <p:cNvPr id="33" name="TextBox 32"/>
          <p:cNvSpPr txBox="1"/>
          <p:nvPr/>
        </p:nvSpPr>
        <p:spPr>
          <a:xfrm>
            <a:off x="3401568" y="4279392"/>
            <a:ext cx="2615184" cy="2194560"/>
          </a:xfrm>
          <a:prstGeom prst="rect">
            <a:avLst/>
          </a:prstGeom>
          <a:noFill/>
        </p:spPr>
        <p:txBody>
          <a:bodyPr wrap="square">
            <a:spAutoFit/>
          </a:bodyPr>
          <a:lstStyle/>
          <a:p>
            <a:pPr algn="l"/>
            <a:r>
              <a:rPr sz="950" b="0" i="0">
                <a:solidFill>
                  <a:srgbClr val="1A1A1A"/>
                </a:solidFill>
              </a:rPr>
              <a:t>Per-team Supabase real-time channel. Last 100 messages
loaded on open; new messages arrive via postgres_changes.
No user accounts — identity from player profile.</a:t>
            </a:r>
          </a:p>
        </p:txBody>
      </p:sp>
      <p:sp>
        <p:nvSpPr>
          <p:cNvPr id="34" name="Rectangle 33"/>
          <p:cNvSpPr/>
          <p:nvPr/>
        </p:nvSpPr>
        <p:spPr>
          <a:xfrm>
            <a:off x="6263640" y="3749039"/>
            <a:ext cx="2834640" cy="2926080"/>
          </a:xfrm>
          <a:prstGeom prst="rect">
            <a:avLst/>
          </a:prstGeom>
          <a:solidFill>
            <a:srgbClr val="FFFFFF"/>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3749039"/>
            <a:ext cx="283464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3368" y="3813048"/>
            <a:ext cx="2615184" cy="347472"/>
          </a:xfrm>
          <a:prstGeom prst="rect">
            <a:avLst/>
          </a:prstGeom>
          <a:noFill/>
        </p:spPr>
        <p:txBody>
          <a:bodyPr wrap="square">
            <a:spAutoFit/>
          </a:bodyPr>
          <a:lstStyle/>
          <a:p>
            <a:pPr algn="l"/>
            <a:r>
              <a:rPr sz="1000" b="1" i="0">
                <a:solidFill>
                  <a:srgbClr val="FFFFFF"/>
                </a:solidFill>
              </a:rPr>
              <a:t>🔐  Security Model</a:t>
            </a:r>
          </a:p>
        </p:txBody>
      </p:sp>
      <p:sp>
        <p:nvSpPr>
          <p:cNvPr id="37" name="TextBox 36"/>
          <p:cNvSpPr txBox="1"/>
          <p:nvPr/>
        </p:nvSpPr>
        <p:spPr>
          <a:xfrm>
            <a:off x="6373368" y="4279392"/>
            <a:ext cx="2615184" cy="2194560"/>
          </a:xfrm>
          <a:prstGeom prst="rect">
            <a:avLst/>
          </a:prstGeom>
          <a:noFill/>
        </p:spPr>
        <p:txBody>
          <a:bodyPr wrap="square">
            <a:spAutoFit/>
          </a:bodyPr>
          <a:lstStyle/>
          <a:p>
            <a:pPr algn="l"/>
            <a:r>
              <a:rPr sz="950" b="0" i="0">
                <a:solidFill>
                  <a:srgbClr val="1A1A1A"/>
                </a:solidFill>
              </a:rPr>
              <a:t>Anon key (public read/write) + Row Level Security.
Admin PIN is SHA-256 client-side only — never sent to cloud.
Delegate codes single-use + time-limited (10 min TTL).</a:t>
            </a:r>
          </a:p>
        </p:txBody>
      </p:sp>
      <p:sp>
        <p:nvSpPr>
          <p:cNvPr id="38" name="Rectangle 37"/>
          <p:cNvSpPr/>
          <p:nvPr/>
        </p:nvSpPr>
        <p:spPr>
          <a:xfrm>
            <a:off x="9235440" y="3749039"/>
            <a:ext cx="2834640" cy="2926080"/>
          </a:xfrm>
          <a:prstGeom prst="rect">
            <a:avLst/>
          </a:prstGeom>
          <a:solidFill>
            <a:srgbClr val="FFFFFF"/>
          </a:solidFill>
          <a:ln w="19050">
            <a:solidFill>
              <a:srgbClr val="3747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235440" y="3749039"/>
            <a:ext cx="2834640" cy="45720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3813048"/>
            <a:ext cx="2615184" cy="347472"/>
          </a:xfrm>
          <a:prstGeom prst="rect">
            <a:avLst/>
          </a:prstGeom>
          <a:noFill/>
        </p:spPr>
        <p:txBody>
          <a:bodyPr wrap="square">
            <a:spAutoFit/>
          </a:bodyPr>
          <a:lstStyle/>
          <a:p>
            <a:pPr algn="l"/>
            <a:r>
              <a:rPr sz="1000" b="1" i="0">
                <a:solidFill>
                  <a:srgbClr val="FFFFFF"/>
                </a:solidFill>
              </a:rPr>
              <a:t>🌐  Graceful Degradation</a:t>
            </a:r>
          </a:p>
        </p:txBody>
      </p:sp>
      <p:sp>
        <p:nvSpPr>
          <p:cNvPr id="41" name="TextBox 40"/>
          <p:cNvSpPr txBox="1"/>
          <p:nvPr/>
        </p:nvSpPr>
        <p:spPr>
          <a:xfrm>
            <a:off x="9345168" y="4279392"/>
            <a:ext cx="2615184" cy="2194560"/>
          </a:xfrm>
          <a:prstGeom prst="rect">
            <a:avLst/>
          </a:prstGeom>
          <a:noFill/>
        </p:spPr>
        <p:txBody>
          <a:bodyPr wrap="square">
            <a:spAutoFit/>
          </a:bodyPr>
          <a:lstStyle/>
          <a:p>
            <a:pPr algn="l"/>
            <a:r>
              <a:rPr sz="950" b="0" i="0">
                <a:solidFill>
                  <a:srgbClr val="1A1A1A"/>
                </a:solidFill>
              </a:rPr>
              <a:t>PGRST205 (table not found) silently ignored — cloud
features simply don't show until SQL is run in Supabase.
All four cloud tables optional independently.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Leagues &amp; Career Statistics</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CE93D8"/>
                </a:solidFill>
              </a:rPr>
              <a:t>Run tournaments, track career milestones, celebrate achievements</a:t>
            </a:r>
          </a:p>
        </p:txBody>
      </p:sp>
      <p:sp>
        <p:nvSpPr>
          <p:cNvPr id="5" name="Rectangle 4"/>
          <p:cNvSpPr/>
          <p:nvPr/>
        </p:nvSpPr>
        <p:spPr>
          <a:xfrm>
            <a:off x="320040" y="1691640"/>
            <a:ext cx="5486400" cy="4983480"/>
          </a:xfrm>
          <a:prstGeom prst="rect">
            <a:avLst/>
          </a:prstGeom>
          <a:solidFill>
            <a:srgbClr val="FFFFFF"/>
          </a:solidFill>
          <a:ln w="1905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91640"/>
            <a:ext cx="5486400" cy="5029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64792"/>
            <a:ext cx="5120640" cy="365760"/>
          </a:xfrm>
          <a:prstGeom prst="rect">
            <a:avLst/>
          </a:prstGeom>
          <a:noFill/>
        </p:spPr>
        <p:txBody>
          <a:bodyPr wrap="square">
            <a:spAutoFit/>
          </a:bodyPr>
          <a:lstStyle/>
          <a:p>
            <a:pPr algn="l"/>
            <a:r>
              <a:rPr sz="1200" b="1" i="0">
                <a:solidFill>
                  <a:srgbClr val="FFFFFF"/>
                </a:solidFill>
              </a:rPr>
              <a:t>🏅  LEAGUES</a:t>
            </a:r>
          </a:p>
        </p:txBody>
      </p:sp>
      <p:sp>
        <p:nvSpPr>
          <p:cNvPr id="8" name="TextBox 7"/>
          <p:cNvSpPr txBox="1"/>
          <p:nvPr/>
        </p:nvSpPr>
        <p:spPr>
          <a:xfrm>
            <a:off x="457200" y="2304288"/>
            <a:ext cx="5212080" cy="347472"/>
          </a:xfrm>
          <a:prstGeom prst="rect">
            <a:avLst/>
          </a:prstGeom>
          <a:noFill/>
        </p:spPr>
        <p:txBody>
          <a:bodyPr wrap="square">
            <a:spAutoFit/>
          </a:bodyPr>
          <a:lstStyle/>
          <a:p>
            <a:pPr algn="l"/>
            <a:r>
              <a:rPr sz="1000" b="1" i="0">
                <a:solidFill>
                  <a:srgbClr val="4A148C"/>
                </a:solidFill>
              </a:rPr>
              <a:t>#   Team            P   W   L   Pts</a:t>
            </a:r>
          </a:p>
        </p:txBody>
      </p:sp>
      <p:sp>
        <p:nvSpPr>
          <p:cNvPr id="9" name="Rectangle 8"/>
          <p:cNvSpPr/>
          <p:nvPr/>
        </p:nvSpPr>
        <p:spPr>
          <a:xfrm>
            <a:off x="411480" y="2651760"/>
            <a:ext cx="5212080" cy="438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715768"/>
            <a:ext cx="5120640" cy="347472"/>
          </a:xfrm>
          <a:prstGeom prst="rect">
            <a:avLst/>
          </a:prstGeom>
          <a:noFill/>
        </p:spPr>
        <p:txBody>
          <a:bodyPr wrap="square">
            <a:spAutoFit/>
          </a:bodyPr>
          <a:lstStyle/>
          <a:p>
            <a:pPr algn="l"/>
            <a:r>
              <a:rPr sz="1000" b="1" i="0">
                <a:solidFill>
                  <a:srgbClr val="4A148C"/>
                </a:solidFill>
              </a:rPr>
              <a:t>  1   Thunderbolts      4   4   0   8</a:t>
            </a:r>
          </a:p>
        </p:txBody>
      </p:sp>
      <p:sp>
        <p:nvSpPr>
          <p:cNvPr id="11" name="Rectangle 10"/>
          <p:cNvSpPr/>
          <p:nvPr/>
        </p:nvSpPr>
        <p:spPr>
          <a:xfrm>
            <a:off x="411480" y="3154680"/>
            <a:ext cx="52120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18688"/>
            <a:ext cx="5120640" cy="347472"/>
          </a:xfrm>
          <a:prstGeom prst="rect">
            <a:avLst/>
          </a:prstGeom>
          <a:noFill/>
        </p:spPr>
        <p:txBody>
          <a:bodyPr wrap="square">
            <a:spAutoFit/>
          </a:bodyPr>
          <a:lstStyle/>
          <a:p>
            <a:pPr algn="l"/>
            <a:r>
              <a:rPr sz="1000" b="0" i="0">
                <a:solidFill>
                  <a:srgbClr val="1A1A1A"/>
                </a:solidFill>
              </a:rPr>
              <a:t>  2   Royal Strikers    4   3   1   6</a:t>
            </a:r>
          </a:p>
        </p:txBody>
      </p:sp>
      <p:sp>
        <p:nvSpPr>
          <p:cNvPr id="13" name="Rectangle 12"/>
          <p:cNvSpPr/>
          <p:nvPr/>
        </p:nvSpPr>
        <p:spPr>
          <a:xfrm>
            <a:off x="411480" y="3657600"/>
            <a:ext cx="52120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721608"/>
            <a:ext cx="5120640" cy="347472"/>
          </a:xfrm>
          <a:prstGeom prst="rect">
            <a:avLst/>
          </a:prstGeom>
          <a:noFill/>
        </p:spPr>
        <p:txBody>
          <a:bodyPr wrap="square">
            <a:spAutoFit/>
          </a:bodyPr>
          <a:lstStyle/>
          <a:p>
            <a:pPr algn="l"/>
            <a:r>
              <a:rPr sz="1000" b="0" i="0">
                <a:solidFill>
                  <a:srgbClr val="1A1A1A"/>
                </a:solidFill>
              </a:rPr>
              <a:t>  3   Blaze XI          4   1   3   2</a:t>
            </a:r>
          </a:p>
        </p:txBody>
      </p:sp>
      <p:sp>
        <p:nvSpPr>
          <p:cNvPr id="15" name="Rectangle 14"/>
          <p:cNvSpPr/>
          <p:nvPr/>
        </p:nvSpPr>
        <p:spPr>
          <a:xfrm>
            <a:off x="411480" y="4160520"/>
            <a:ext cx="52120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24528"/>
            <a:ext cx="5120640" cy="347472"/>
          </a:xfrm>
          <a:prstGeom prst="rect">
            <a:avLst/>
          </a:prstGeom>
          <a:noFill/>
        </p:spPr>
        <p:txBody>
          <a:bodyPr wrap="square">
            <a:spAutoFit/>
          </a:bodyPr>
          <a:lstStyle/>
          <a:p>
            <a:pPr algn="l"/>
            <a:r>
              <a:rPr sz="1000" b="0" i="0">
                <a:solidFill>
                  <a:srgbClr val="1A1A1A"/>
                </a:solidFill>
              </a:rPr>
              <a:t>  4   Sky Hawks         4   0   4   0</a:t>
            </a:r>
          </a:p>
        </p:txBody>
      </p:sp>
      <p:sp>
        <p:nvSpPr>
          <p:cNvPr id="17" name="Rectangle 16"/>
          <p:cNvSpPr/>
          <p:nvPr/>
        </p:nvSpPr>
        <p:spPr>
          <a:xfrm>
            <a:off x="502920" y="4617720"/>
            <a:ext cx="128016" cy="128016"/>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590288"/>
            <a:ext cx="4937760" cy="347472"/>
          </a:xfrm>
          <a:prstGeom prst="rect">
            <a:avLst/>
          </a:prstGeom>
          <a:noFill/>
        </p:spPr>
        <p:txBody>
          <a:bodyPr wrap="square">
            <a:spAutoFit/>
          </a:bodyPr>
          <a:lstStyle/>
          <a:p>
            <a:pPr algn="l"/>
            <a:r>
              <a:rPr sz="1000" b="0" i="0">
                <a:solidFill>
                  <a:srgbClr val="1A1A1A"/>
                </a:solidFill>
              </a:rPr>
              <a:t>Create leagues with any number of teams</a:t>
            </a:r>
          </a:p>
        </p:txBody>
      </p:sp>
      <p:sp>
        <p:nvSpPr>
          <p:cNvPr id="19" name="Rectangle 18"/>
          <p:cNvSpPr/>
          <p:nvPr/>
        </p:nvSpPr>
        <p:spPr>
          <a:xfrm>
            <a:off x="502920" y="4965192"/>
            <a:ext cx="128016" cy="128016"/>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37759"/>
            <a:ext cx="4937760" cy="347472"/>
          </a:xfrm>
          <a:prstGeom prst="rect">
            <a:avLst/>
          </a:prstGeom>
          <a:noFill/>
        </p:spPr>
        <p:txBody>
          <a:bodyPr wrap="square">
            <a:spAutoFit/>
          </a:bodyPr>
          <a:lstStyle/>
          <a:p>
            <a:pPr algn="l"/>
            <a:r>
              <a:rPr sz="1000" b="0" i="0">
                <a:solidFill>
                  <a:srgbClr val="1A1A1A"/>
                </a:solidFill>
              </a:rPr>
              <a:t>Round-robin fixture generation</a:t>
            </a:r>
          </a:p>
        </p:txBody>
      </p:sp>
      <p:sp>
        <p:nvSpPr>
          <p:cNvPr id="21" name="Rectangle 20"/>
          <p:cNvSpPr/>
          <p:nvPr/>
        </p:nvSpPr>
        <p:spPr>
          <a:xfrm>
            <a:off x="502920" y="5312664"/>
            <a:ext cx="128016" cy="128016"/>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285231"/>
            <a:ext cx="4937760" cy="347472"/>
          </a:xfrm>
          <a:prstGeom prst="rect">
            <a:avLst/>
          </a:prstGeom>
          <a:noFill/>
        </p:spPr>
        <p:txBody>
          <a:bodyPr wrap="square">
            <a:spAutoFit/>
          </a:bodyPr>
          <a:lstStyle/>
          <a:p>
            <a:pPr algn="l"/>
            <a:r>
              <a:rPr sz="1000" b="0" i="0">
                <a:solidFill>
                  <a:srgbClr val="1A1A1A"/>
                </a:solidFill>
              </a:rPr>
              <a:t>Link real match results to fixtures</a:t>
            </a:r>
          </a:p>
        </p:txBody>
      </p:sp>
      <p:sp>
        <p:nvSpPr>
          <p:cNvPr id="23" name="Rectangle 22"/>
          <p:cNvSpPr/>
          <p:nvPr/>
        </p:nvSpPr>
        <p:spPr>
          <a:xfrm>
            <a:off x="502920" y="5660136"/>
            <a:ext cx="128016" cy="128016"/>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632704"/>
            <a:ext cx="4937760" cy="347472"/>
          </a:xfrm>
          <a:prstGeom prst="rect">
            <a:avLst/>
          </a:prstGeom>
          <a:noFill/>
        </p:spPr>
        <p:txBody>
          <a:bodyPr wrap="square">
            <a:spAutoFit/>
          </a:bodyPr>
          <a:lstStyle/>
          <a:p>
            <a:pPr algn="l"/>
            <a:r>
              <a:rPr sz="1000" b="0" i="0">
                <a:solidFill>
                  <a:srgbClr val="1A1A1A"/>
                </a:solidFill>
              </a:rPr>
              <a:t>Live standings update automatically</a:t>
            </a:r>
          </a:p>
        </p:txBody>
      </p:sp>
      <p:sp>
        <p:nvSpPr>
          <p:cNvPr id="25" name="Rectangle 24"/>
          <p:cNvSpPr/>
          <p:nvPr/>
        </p:nvSpPr>
        <p:spPr>
          <a:xfrm>
            <a:off x="502920" y="6007608"/>
            <a:ext cx="128016" cy="128016"/>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980175"/>
            <a:ext cx="4937760" cy="347472"/>
          </a:xfrm>
          <a:prstGeom prst="rect">
            <a:avLst/>
          </a:prstGeom>
          <a:noFill/>
        </p:spPr>
        <p:txBody>
          <a:bodyPr wrap="square">
            <a:spAutoFit/>
          </a:bodyPr>
          <a:lstStyle/>
          <a:p>
            <a:pPr algn="l"/>
            <a:r>
              <a:rPr sz="1000" b="0" i="0">
                <a:solidFill>
                  <a:srgbClr val="1A1A1A"/>
                </a:solidFill>
              </a:rPr>
              <a:t>Scheduled, completed + abandoned states</a:t>
            </a:r>
          </a:p>
        </p:txBody>
      </p:sp>
      <p:sp>
        <p:nvSpPr>
          <p:cNvPr id="27" name="Rectangle 26"/>
          <p:cNvSpPr/>
          <p:nvPr/>
        </p:nvSpPr>
        <p:spPr>
          <a:xfrm>
            <a:off x="6126480" y="1691640"/>
            <a:ext cx="5715000" cy="4983480"/>
          </a:xfrm>
          <a:prstGeom prst="rect">
            <a:avLst/>
          </a:prstGeom>
          <a:solidFill>
            <a:srgbClr val="FFFFFF"/>
          </a:solidFill>
          <a:ln w="1905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1691640"/>
            <a:ext cx="5715000" cy="50292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1764792"/>
            <a:ext cx="5394960" cy="365760"/>
          </a:xfrm>
          <a:prstGeom prst="rect">
            <a:avLst/>
          </a:prstGeom>
          <a:noFill/>
        </p:spPr>
        <p:txBody>
          <a:bodyPr wrap="square">
            <a:spAutoFit/>
          </a:bodyPr>
          <a:lstStyle/>
          <a:p>
            <a:pPr algn="l"/>
            <a:r>
              <a:rPr sz="1200" b="1" i="0">
                <a:solidFill>
                  <a:srgbClr val="FFFFFF"/>
                </a:solidFill>
              </a:rPr>
              <a:t>📊  CAREER STATISTICS</a:t>
            </a:r>
          </a:p>
        </p:txBody>
      </p:sp>
      <p:sp>
        <p:nvSpPr>
          <p:cNvPr id="30" name="TextBox 29"/>
          <p:cNvSpPr txBox="1"/>
          <p:nvPr/>
        </p:nvSpPr>
        <p:spPr>
          <a:xfrm>
            <a:off x="6263640" y="2286000"/>
            <a:ext cx="5394960" cy="347472"/>
          </a:xfrm>
          <a:prstGeom prst="rect">
            <a:avLst/>
          </a:prstGeom>
          <a:noFill/>
        </p:spPr>
        <p:txBody>
          <a:bodyPr wrap="square">
            <a:spAutoFit/>
          </a:bodyPr>
          <a:lstStyle/>
          <a:p>
            <a:pPr algn="l"/>
            <a:r>
              <a:rPr sz="1000" b="1" i="0">
                <a:solidFill>
                  <a:srgbClr val="1B6B28"/>
                </a:solidFill>
              </a:rPr>
              <a:t>BATTING — Ravi Kumar</a:t>
            </a:r>
          </a:p>
        </p:txBody>
      </p:sp>
      <p:sp>
        <p:nvSpPr>
          <p:cNvPr id="31" name="TextBox 30"/>
          <p:cNvSpPr txBox="1"/>
          <p:nvPr/>
        </p:nvSpPr>
        <p:spPr>
          <a:xfrm>
            <a:off x="6263640" y="2633472"/>
            <a:ext cx="1554480" cy="365760"/>
          </a:xfrm>
          <a:prstGeom prst="rect">
            <a:avLst/>
          </a:prstGeom>
          <a:noFill/>
        </p:spPr>
        <p:txBody>
          <a:bodyPr wrap="square">
            <a:spAutoFit/>
          </a:bodyPr>
          <a:lstStyle/>
          <a:p>
            <a:pPr algn="l"/>
            <a:r>
              <a:rPr sz="950" b="0" i="0">
                <a:solidFill>
                  <a:srgbClr val="555555"/>
                </a:solidFill>
              </a:rPr>
              <a:t>Matches:</a:t>
            </a:r>
          </a:p>
        </p:txBody>
      </p:sp>
      <p:sp>
        <p:nvSpPr>
          <p:cNvPr id="32" name="TextBox 31"/>
          <p:cNvSpPr txBox="1"/>
          <p:nvPr/>
        </p:nvSpPr>
        <p:spPr>
          <a:xfrm>
            <a:off x="7726680" y="2633472"/>
            <a:ext cx="1234440" cy="365760"/>
          </a:xfrm>
          <a:prstGeom prst="rect">
            <a:avLst/>
          </a:prstGeom>
          <a:noFill/>
        </p:spPr>
        <p:txBody>
          <a:bodyPr wrap="square">
            <a:spAutoFit/>
          </a:bodyPr>
          <a:lstStyle/>
          <a:p>
            <a:pPr algn="l"/>
            <a:r>
              <a:rPr sz="950" b="1" i="0">
                <a:solidFill>
                  <a:srgbClr val="1A1A1A"/>
                </a:solidFill>
              </a:rPr>
              <a:t>8</a:t>
            </a:r>
          </a:p>
        </p:txBody>
      </p:sp>
      <p:sp>
        <p:nvSpPr>
          <p:cNvPr id="33" name="TextBox 32"/>
          <p:cNvSpPr txBox="1"/>
          <p:nvPr/>
        </p:nvSpPr>
        <p:spPr>
          <a:xfrm>
            <a:off x="9006840" y="2633472"/>
            <a:ext cx="1554480" cy="365760"/>
          </a:xfrm>
          <a:prstGeom prst="rect">
            <a:avLst/>
          </a:prstGeom>
          <a:noFill/>
        </p:spPr>
        <p:txBody>
          <a:bodyPr wrap="square">
            <a:spAutoFit/>
          </a:bodyPr>
          <a:lstStyle/>
          <a:p>
            <a:pPr algn="l"/>
            <a:r>
              <a:rPr sz="950" b="0" i="0">
                <a:solidFill>
                  <a:srgbClr val="555555"/>
                </a:solidFill>
              </a:rPr>
              <a:t>Innings:</a:t>
            </a:r>
          </a:p>
        </p:txBody>
      </p:sp>
      <p:sp>
        <p:nvSpPr>
          <p:cNvPr id="34" name="TextBox 33"/>
          <p:cNvSpPr txBox="1"/>
          <p:nvPr/>
        </p:nvSpPr>
        <p:spPr>
          <a:xfrm>
            <a:off x="10469880" y="2633472"/>
            <a:ext cx="1234440" cy="365760"/>
          </a:xfrm>
          <a:prstGeom prst="rect">
            <a:avLst/>
          </a:prstGeom>
          <a:noFill/>
        </p:spPr>
        <p:txBody>
          <a:bodyPr wrap="square">
            <a:spAutoFit/>
          </a:bodyPr>
          <a:lstStyle/>
          <a:p>
            <a:pPr algn="l"/>
            <a:r>
              <a:rPr sz="950" b="1" i="0">
                <a:solidFill>
                  <a:srgbClr val="1A1A1A"/>
                </a:solidFill>
              </a:rPr>
              <a:t>7</a:t>
            </a:r>
          </a:p>
        </p:txBody>
      </p:sp>
      <p:sp>
        <p:nvSpPr>
          <p:cNvPr id="35" name="TextBox 34"/>
          <p:cNvSpPr txBox="1"/>
          <p:nvPr/>
        </p:nvSpPr>
        <p:spPr>
          <a:xfrm>
            <a:off x="6263640" y="3072384"/>
            <a:ext cx="1554480" cy="365760"/>
          </a:xfrm>
          <a:prstGeom prst="rect">
            <a:avLst/>
          </a:prstGeom>
          <a:noFill/>
        </p:spPr>
        <p:txBody>
          <a:bodyPr wrap="square">
            <a:spAutoFit/>
          </a:bodyPr>
          <a:lstStyle/>
          <a:p>
            <a:pPr algn="l"/>
            <a:r>
              <a:rPr sz="950" b="0" i="0">
                <a:solidFill>
                  <a:srgbClr val="555555"/>
                </a:solidFill>
              </a:rPr>
              <a:t>Runs:</a:t>
            </a:r>
          </a:p>
        </p:txBody>
      </p:sp>
      <p:sp>
        <p:nvSpPr>
          <p:cNvPr id="36" name="TextBox 35"/>
          <p:cNvSpPr txBox="1"/>
          <p:nvPr/>
        </p:nvSpPr>
        <p:spPr>
          <a:xfrm>
            <a:off x="7726680" y="3072384"/>
            <a:ext cx="1234440" cy="365760"/>
          </a:xfrm>
          <a:prstGeom prst="rect">
            <a:avLst/>
          </a:prstGeom>
          <a:noFill/>
        </p:spPr>
        <p:txBody>
          <a:bodyPr wrap="square">
            <a:spAutoFit/>
          </a:bodyPr>
          <a:lstStyle/>
          <a:p>
            <a:pPr algn="l"/>
            <a:r>
              <a:rPr sz="950" b="1" i="0">
                <a:solidFill>
                  <a:srgbClr val="1A1A1A"/>
                </a:solidFill>
              </a:rPr>
              <a:t>312</a:t>
            </a:r>
          </a:p>
        </p:txBody>
      </p:sp>
      <p:sp>
        <p:nvSpPr>
          <p:cNvPr id="37" name="TextBox 36"/>
          <p:cNvSpPr txBox="1"/>
          <p:nvPr/>
        </p:nvSpPr>
        <p:spPr>
          <a:xfrm>
            <a:off x="9006840" y="3072384"/>
            <a:ext cx="1554480" cy="365760"/>
          </a:xfrm>
          <a:prstGeom prst="rect">
            <a:avLst/>
          </a:prstGeom>
          <a:noFill/>
        </p:spPr>
        <p:txBody>
          <a:bodyPr wrap="square">
            <a:spAutoFit/>
          </a:bodyPr>
          <a:lstStyle/>
          <a:p>
            <a:pPr algn="l"/>
            <a:r>
              <a:rPr sz="950" b="0" i="0">
                <a:solidFill>
                  <a:srgbClr val="555555"/>
                </a:solidFill>
              </a:rPr>
              <a:t>Highest:</a:t>
            </a:r>
          </a:p>
        </p:txBody>
      </p:sp>
      <p:sp>
        <p:nvSpPr>
          <p:cNvPr id="38" name="TextBox 37"/>
          <p:cNvSpPr txBox="1"/>
          <p:nvPr/>
        </p:nvSpPr>
        <p:spPr>
          <a:xfrm>
            <a:off x="10469880" y="3072384"/>
            <a:ext cx="1234440" cy="365760"/>
          </a:xfrm>
          <a:prstGeom prst="rect">
            <a:avLst/>
          </a:prstGeom>
          <a:noFill/>
        </p:spPr>
        <p:txBody>
          <a:bodyPr wrap="square">
            <a:spAutoFit/>
          </a:bodyPr>
          <a:lstStyle/>
          <a:p>
            <a:pPr algn="l"/>
            <a:r>
              <a:rPr sz="950" b="1" i="0">
                <a:solidFill>
                  <a:srgbClr val="1A1A1A"/>
                </a:solidFill>
              </a:rPr>
              <a:t>87</a:t>
            </a:r>
          </a:p>
        </p:txBody>
      </p:sp>
      <p:sp>
        <p:nvSpPr>
          <p:cNvPr id="39" name="TextBox 38"/>
          <p:cNvSpPr txBox="1"/>
          <p:nvPr/>
        </p:nvSpPr>
        <p:spPr>
          <a:xfrm>
            <a:off x="6263640" y="3511296"/>
            <a:ext cx="1554480" cy="365760"/>
          </a:xfrm>
          <a:prstGeom prst="rect">
            <a:avLst/>
          </a:prstGeom>
          <a:noFill/>
        </p:spPr>
        <p:txBody>
          <a:bodyPr wrap="square">
            <a:spAutoFit/>
          </a:bodyPr>
          <a:lstStyle/>
          <a:p>
            <a:pPr algn="l"/>
            <a:r>
              <a:rPr sz="950" b="0" i="0">
                <a:solidFill>
                  <a:srgbClr val="555555"/>
                </a:solidFill>
              </a:rPr>
              <a:t>Average:</a:t>
            </a:r>
          </a:p>
        </p:txBody>
      </p:sp>
      <p:sp>
        <p:nvSpPr>
          <p:cNvPr id="40" name="TextBox 39"/>
          <p:cNvSpPr txBox="1"/>
          <p:nvPr/>
        </p:nvSpPr>
        <p:spPr>
          <a:xfrm>
            <a:off x="7726680" y="3511296"/>
            <a:ext cx="1234440" cy="365760"/>
          </a:xfrm>
          <a:prstGeom prst="rect">
            <a:avLst/>
          </a:prstGeom>
          <a:noFill/>
        </p:spPr>
        <p:txBody>
          <a:bodyPr wrap="square">
            <a:spAutoFit/>
          </a:bodyPr>
          <a:lstStyle/>
          <a:p>
            <a:pPr algn="l"/>
            <a:r>
              <a:rPr sz="950" b="1" i="0">
                <a:solidFill>
                  <a:srgbClr val="1A1A1A"/>
                </a:solidFill>
              </a:rPr>
              <a:t>52.0</a:t>
            </a:r>
          </a:p>
        </p:txBody>
      </p:sp>
      <p:sp>
        <p:nvSpPr>
          <p:cNvPr id="41" name="TextBox 40"/>
          <p:cNvSpPr txBox="1"/>
          <p:nvPr/>
        </p:nvSpPr>
        <p:spPr>
          <a:xfrm>
            <a:off x="9006840" y="3511296"/>
            <a:ext cx="1554480" cy="365760"/>
          </a:xfrm>
          <a:prstGeom prst="rect">
            <a:avLst/>
          </a:prstGeom>
          <a:noFill/>
        </p:spPr>
        <p:txBody>
          <a:bodyPr wrap="square">
            <a:spAutoFit/>
          </a:bodyPr>
          <a:lstStyle/>
          <a:p>
            <a:pPr algn="l"/>
            <a:r>
              <a:rPr sz="950" b="0" i="0">
                <a:solidFill>
                  <a:srgbClr val="555555"/>
                </a:solidFill>
              </a:rPr>
              <a:t>Strike Rate:</a:t>
            </a:r>
          </a:p>
        </p:txBody>
      </p:sp>
      <p:sp>
        <p:nvSpPr>
          <p:cNvPr id="42" name="TextBox 41"/>
          <p:cNvSpPr txBox="1"/>
          <p:nvPr/>
        </p:nvSpPr>
        <p:spPr>
          <a:xfrm>
            <a:off x="10469880" y="3511296"/>
            <a:ext cx="1234440" cy="365760"/>
          </a:xfrm>
          <a:prstGeom prst="rect">
            <a:avLst/>
          </a:prstGeom>
          <a:noFill/>
        </p:spPr>
        <p:txBody>
          <a:bodyPr wrap="square">
            <a:spAutoFit/>
          </a:bodyPr>
          <a:lstStyle/>
          <a:p>
            <a:pPr algn="l"/>
            <a:r>
              <a:rPr sz="950" b="1" i="0">
                <a:solidFill>
                  <a:srgbClr val="1A1A1A"/>
                </a:solidFill>
              </a:rPr>
              <a:t>145.8</a:t>
            </a:r>
          </a:p>
        </p:txBody>
      </p:sp>
      <p:sp>
        <p:nvSpPr>
          <p:cNvPr id="43" name="TextBox 42"/>
          <p:cNvSpPr txBox="1"/>
          <p:nvPr/>
        </p:nvSpPr>
        <p:spPr>
          <a:xfrm>
            <a:off x="6263640" y="3950208"/>
            <a:ext cx="1554480" cy="365760"/>
          </a:xfrm>
          <a:prstGeom prst="rect">
            <a:avLst/>
          </a:prstGeom>
          <a:noFill/>
        </p:spPr>
        <p:txBody>
          <a:bodyPr wrap="square">
            <a:spAutoFit/>
          </a:bodyPr>
          <a:lstStyle/>
          <a:p>
            <a:pPr algn="l"/>
            <a:r>
              <a:rPr sz="950" b="0" i="0">
                <a:solidFill>
                  <a:srgbClr val="555555"/>
                </a:solidFill>
              </a:rPr>
              <a:t>50s / 100s:</a:t>
            </a:r>
          </a:p>
        </p:txBody>
      </p:sp>
      <p:sp>
        <p:nvSpPr>
          <p:cNvPr id="44" name="TextBox 43"/>
          <p:cNvSpPr txBox="1"/>
          <p:nvPr/>
        </p:nvSpPr>
        <p:spPr>
          <a:xfrm>
            <a:off x="7726680" y="3950208"/>
            <a:ext cx="1234440" cy="365760"/>
          </a:xfrm>
          <a:prstGeom prst="rect">
            <a:avLst/>
          </a:prstGeom>
          <a:noFill/>
        </p:spPr>
        <p:txBody>
          <a:bodyPr wrap="square">
            <a:spAutoFit/>
          </a:bodyPr>
          <a:lstStyle/>
          <a:p>
            <a:pPr algn="l"/>
            <a:r>
              <a:rPr sz="950" b="1" i="0">
                <a:solidFill>
                  <a:srgbClr val="1A1A1A"/>
                </a:solidFill>
              </a:rPr>
              <a:t>2 / 0</a:t>
            </a:r>
          </a:p>
        </p:txBody>
      </p:sp>
      <p:sp>
        <p:nvSpPr>
          <p:cNvPr id="45" name="TextBox 44"/>
          <p:cNvSpPr txBox="1"/>
          <p:nvPr/>
        </p:nvSpPr>
        <p:spPr>
          <a:xfrm>
            <a:off x="9006840" y="3950208"/>
            <a:ext cx="1554480" cy="365760"/>
          </a:xfrm>
          <a:prstGeom prst="rect">
            <a:avLst/>
          </a:prstGeom>
          <a:noFill/>
        </p:spPr>
        <p:txBody>
          <a:bodyPr wrap="square">
            <a:spAutoFit/>
          </a:bodyPr>
          <a:lstStyle/>
          <a:p>
            <a:pPr algn="l"/>
            <a:r>
              <a:rPr sz="950" b="0" i="0">
                <a:solidFill>
                  <a:srgbClr val="555555"/>
                </a:solidFill>
              </a:rPr>
              <a:t>Fours / Sixes:</a:t>
            </a:r>
          </a:p>
        </p:txBody>
      </p:sp>
      <p:sp>
        <p:nvSpPr>
          <p:cNvPr id="46" name="TextBox 45"/>
          <p:cNvSpPr txBox="1"/>
          <p:nvPr/>
        </p:nvSpPr>
        <p:spPr>
          <a:xfrm>
            <a:off x="10469880" y="3950208"/>
            <a:ext cx="1234440" cy="365760"/>
          </a:xfrm>
          <a:prstGeom prst="rect">
            <a:avLst/>
          </a:prstGeom>
          <a:noFill/>
        </p:spPr>
        <p:txBody>
          <a:bodyPr wrap="square">
            <a:spAutoFit/>
          </a:bodyPr>
          <a:lstStyle/>
          <a:p>
            <a:pPr algn="l"/>
            <a:r>
              <a:rPr sz="950" b="1" i="0">
                <a:solidFill>
                  <a:srgbClr val="1A1A1A"/>
                </a:solidFill>
              </a:rPr>
              <a:t>18 / 9</a:t>
            </a:r>
          </a:p>
        </p:txBody>
      </p:sp>
      <p:sp>
        <p:nvSpPr>
          <p:cNvPr id="47" name="TextBox 46"/>
          <p:cNvSpPr txBox="1"/>
          <p:nvPr/>
        </p:nvSpPr>
        <p:spPr>
          <a:xfrm>
            <a:off x="6263640" y="4389120"/>
            <a:ext cx="5394960" cy="347472"/>
          </a:xfrm>
          <a:prstGeom prst="rect">
            <a:avLst/>
          </a:prstGeom>
          <a:noFill/>
        </p:spPr>
        <p:txBody>
          <a:bodyPr wrap="square">
            <a:spAutoFit/>
          </a:bodyPr>
          <a:lstStyle/>
          <a:p>
            <a:pPr algn="l"/>
            <a:r>
              <a:rPr sz="1000" b="1" i="0">
                <a:solidFill>
                  <a:srgbClr val="1B6B28"/>
                </a:solidFill>
              </a:rPr>
              <a:t>BOWLING — Ravi Kumar</a:t>
            </a:r>
          </a:p>
        </p:txBody>
      </p:sp>
      <p:sp>
        <p:nvSpPr>
          <p:cNvPr id="48" name="TextBox 47"/>
          <p:cNvSpPr txBox="1"/>
          <p:nvPr/>
        </p:nvSpPr>
        <p:spPr>
          <a:xfrm>
            <a:off x="6263640" y="4736592"/>
            <a:ext cx="1554480" cy="365760"/>
          </a:xfrm>
          <a:prstGeom prst="rect">
            <a:avLst/>
          </a:prstGeom>
          <a:noFill/>
        </p:spPr>
        <p:txBody>
          <a:bodyPr wrap="square">
            <a:spAutoFit/>
          </a:bodyPr>
          <a:lstStyle/>
          <a:p>
            <a:pPr algn="l"/>
            <a:r>
              <a:rPr sz="950" b="0" i="0">
                <a:solidFill>
                  <a:srgbClr val="555555"/>
                </a:solidFill>
              </a:rPr>
              <a:t>Overs:</a:t>
            </a:r>
          </a:p>
        </p:txBody>
      </p:sp>
      <p:sp>
        <p:nvSpPr>
          <p:cNvPr id="49" name="TextBox 48"/>
          <p:cNvSpPr txBox="1"/>
          <p:nvPr/>
        </p:nvSpPr>
        <p:spPr>
          <a:xfrm>
            <a:off x="7726680" y="4736592"/>
            <a:ext cx="1234440" cy="365760"/>
          </a:xfrm>
          <a:prstGeom prst="rect">
            <a:avLst/>
          </a:prstGeom>
          <a:noFill/>
        </p:spPr>
        <p:txBody>
          <a:bodyPr wrap="square">
            <a:spAutoFit/>
          </a:bodyPr>
          <a:lstStyle/>
          <a:p>
            <a:pPr algn="l"/>
            <a:r>
              <a:rPr sz="950" b="1" i="0">
                <a:solidFill>
                  <a:srgbClr val="1A1A1A"/>
                </a:solidFill>
              </a:rPr>
              <a:t>12</a:t>
            </a:r>
          </a:p>
        </p:txBody>
      </p:sp>
      <p:sp>
        <p:nvSpPr>
          <p:cNvPr id="50" name="TextBox 49"/>
          <p:cNvSpPr txBox="1"/>
          <p:nvPr/>
        </p:nvSpPr>
        <p:spPr>
          <a:xfrm>
            <a:off x="9006840" y="4736592"/>
            <a:ext cx="1554480" cy="365760"/>
          </a:xfrm>
          <a:prstGeom prst="rect">
            <a:avLst/>
          </a:prstGeom>
          <a:noFill/>
        </p:spPr>
        <p:txBody>
          <a:bodyPr wrap="square">
            <a:spAutoFit/>
          </a:bodyPr>
          <a:lstStyle/>
          <a:p>
            <a:pPr algn="l"/>
            <a:r>
              <a:rPr sz="950" b="0" i="0">
                <a:solidFill>
                  <a:srgbClr val="555555"/>
                </a:solidFill>
              </a:rPr>
              <a:t>Wickets:</a:t>
            </a:r>
          </a:p>
        </p:txBody>
      </p:sp>
      <p:sp>
        <p:nvSpPr>
          <p:cNvPr id="51" name="TextBox 50"/>
          <p:cNvSpPr txBox="1"/>
          <p:nvPr/>
        </p:nvSpPr>
        <p:spPr>
          <a:xfrm>
            <a:off x="10469880" y="4736592"/>
            <a:ext cx="1234440" cy="365760"/>
          </a:xfrm>
          <a:prstGeom prst="rect">
            <a:avLst/>
          </a:prstGeom>
          <a:noFill/>
        </p:spPr>
        <p:txBody>
          <a:bodyPr wrap="square">
            <a:spAutoFit/>
          </a:bodyPr>
          <a:lstStyle/>
          <a:p>
            <a:pPr algn="l"/>
            <a:r>
              <a:rPr sz="950" b="1" i="0">
                <a:solidFill>
                  <a:srgbClr val="1A1A1A"/>
                </a:solidFill>
              </a:rPr>
              <a:t>8</a:t>
            </a:r>
          </a:p>
        </p:txBody>
      </p:sp>
      <p:sp>
        <p:nvSpPr>
          <p:cNvPr id="52" name="TextBox 51"/>
          <p:cNvSpPr txBox="1"/>
          <p:nvPr/>
        </p:nvSpPr>
        <p:spPr>
          <a:xfrm>
            <a:off x="6263640" y="5175504"/>
            <a:ext cx="1554480" cy="365760"/>
          </a:xfrm>
          <a:prstGeom prst="rect">
            <a:avLst/>
          </a:prstGeom>
          <a:noFill/>
        </p:spPr>
        <p:txBody>
          <a:bodyPr wrap="square">
            <a:spAutoFit/>
          </a:bodyPr>
          <a:lstStyle/>
          <a:p>
            <a:pPr algn="l"/>
            <a:r>
              <a:rPr sz="950" b="0" i="0">
                <a:solidFill>
                  <a:srgbClr val="555555"/>
                </a:solidFill>
              </a:rPr>
              <a:t>Runs:</a:t>
            </a:r>
          </a:p>
        </p:txBody>
      </p:sp>
      <p:sp>
        <p:nvSpPr>
          <p:cNvPr id="53" name="TextBox 52"/>
          <p:cNvSpPr txBox="1"/>
          <p:nvPr/>
        </p:nvSpPr>
        <p:spPr>
          <a:xfrm>
            <a:off x="7726680" y="5175504"/>
            <a:ext cx="1234440" cy="365760"/>
          </a:xfrm>
          <a:prstGeom prst="rect">
            <a:avLst/>
          </a:prstGeom>
          <a:noFill/>
        </p:spPr>
        <p:txBody>
          <a:bodyPr wrap="square">
            <a:spAutoFit/>
          </a:bodyPr>
          <a:lstStyle/>
          <a:p>
            <a:pPr algn="l"/>
            <a:r>
              <a:rPr sz="950" b="1" i="0">
                <a:solidFill>
                  <a:srgbClr val="1A1A1A"/>
                </a:solidFill>
              </a:rPr>
              <a:t>96</a:t>
            </a:r>
          </a:p>
        </p:txBody>
      </p:sp>
      <p:sp>
        <p:nvSpPr>
          <p:cNvPr id="54" name="TextBox 53"/>
          <p:cNvSpPr txBox="1"/>
          <p:nvPr/>
        </p:nvSpPr>
        <p:spPr>
          <a:xfrm>
            <a:off x="9006840" y="5175504"/>
            <a:ext cx="1554480" cy="365760"/>
          </a:xfrm>
          <a:prstGeom prst="rect">
            <a:avLst/>
          </a:prstGeom>
          <a:noFill/>
        </p:spPr>
        <p:txBody>
          <a:bodyPr wrap="square">
            <a:spAutoFit/>
          </a:bodyPr>
          <a:lstStyle/>
          <a:p>
            <a:pPr algn="l"/>
            <a:r>
              <a:rPr sz="950" b="0" i="0">
                <a:solidFill>
                  <a:srgbClr val="555555"/>
                </a:solidFill>
              </a:rPr>
              <a:t>Economy:</a:t>
            </a:r>
          </a:p>
        </p:txBody>
      </p:sp>
      <p:sp>
        <p:nvSpPr>
          <p:cNvPr id="55" name="TextBox 54"/>
          <p:cNvSpPr txBox="1"/>
          <p:nvPr/>
        </p:nvSpPr>
        <p:spPr>
          <a:xfrm>
            <a:off x="10469880" y="5175504"/>
            <a:ext cx="1234440" cy="365760"/>
          </a:xfrm>
          <a:prstGeom prst="rect">
            <a:avLst/>
          </a:prstGeom>
          <a:noFill/>
        </p:spPr>
        <p:txBody>
          <a:bodyPr wrap="square">
            <a:spAutoFit/>
          </a:bodyPr>
          <a:lstStyle/>
          <a:p>
            <a:pPr algn="l"/>
            <a:r>
              <a:rPr sz="950" b="1" i="0">
                <a:solidFill>
                  <a:srgbClr val="1A1A1A"/>
                </a:solidFill>
              </a:rPr>
              <a:t>8.0</a:t>
            </a:r>
          </a:p>
        </p:txBody>
      </p:sp>
      <p:sp>
        <p:nvSpPr>
          <p:cNvPr id="56" name="TextBox 55"/>
          <p:cNvSpPr txBox="1"/>
          <p:nvPr/>
        </p:nvSpPr>
        <p:spPr>
          <a:xfrm>
            <a:off x="6263640" y="5614416"/>
            <a:ext cx="1554480" cy="365760"/>
          </a:xfrm>
          <a:prstGeom prst="rect">
            <a:avLst/>
          </a:prstGeom>
          <a:noFill/>
        </p:spPr>
        <p:txBody>
          <a:bodyPr wrap="square">
            <a:spAutoFit/>
          </a:bodyPr>
          <a:lstStyle/>
          <a:p>
            <a:pPr algn="l"/>
            <a:r>
              <a:rPr sz="950" b="0" i="0">
                <a:solidFill>
                  <a:srgbClr val="555555"/>
                </a:solidFill>
              </a:rPr>
              <a:t>Average:</a:t>
            </a:r>
          </a:p>
        </p:txBody>
      </p:sp>
      <p:sp>
        <p:nvSpPr>
          <p:cNvPr id="57" name="TextBox 56"/>
          <p:cNvSpPr txBox="1"/>
          <p:nvPr/>
        </p:nvSpPr>
        <p:spPr>
          <a:xfrm>
            <a:off x="7726680" y="5614416"/>
            <a:ext cx="1234440" cy="365760"/>
          </a:xfrm>
          <a:prstGeom prst="rect">
            <a:avLst/>
          </a:prstGeom>
          <a:noFill/>
        </p:spPr>
        <p:txBody>
          <a:bodyPr wrap="square">
            <a:spAutoFit/>
          </a:bodyPr>
          <a:lstStyle/>
          <a:p>
            <a:pPr algn="l"/>
            <a:r>
              <a:rPr sz="950" b="1" i="0">
                <a:solidFill>
                  <a:srgbClr val="1A1A1A"/>
                </a:solidFill>
              </a:rPr>
              <a:t>12.0</a:t>
            </a:r>
          </a:p>
        </p:txBody>
      </p:sp>
      <p:sp>
        <p:nvSpPr>
          <p:cNvPr id="58" name="TextBox 57"/>
          <p:cNvSpPr txBox="1"/>
          <p:nvPr/>
        </p:nvSpPr>
        <p:spPr>
          <a:xfrm>
            <a:off x="9006840" y="5614416"/>
            <a:ext cx="1554480" cy="365760"/>
          </a:xfrm>
          <a:prstGeom prst="rect">
            <a:avLst/>
          </a:prstGeom>
          <a:noFill/>
        </p:spPr>
        <p:txBody>
          <a:bodyPr wrap="square">
            <a:spAutoFit/>
          </a:bodyPr>
          <a:lstStyle/>
          <a:p>
            <a:pPr algn="l"/>
            <a:r>
              <a:rPr sz="950" b="0" i="0">
                <a:solidFill>
                  <a:srgbClr val="555555"/>
                </a:solidFill>
              </a:rPr>
              <a:t>Best Figures:</a:t>
            </a:r>
          </a:p>
        </p:txBody>
      </p:sp>
      <p:sp>
        <p:nvSpPr>
          <p:cNvPr id="59" name="TextBox 58"/>
          <p:cNvSpPr txBox="1"/>
          <p:nvPr/>
        </p:nvSpPr>
        <p:spPr>
          <a:xfrm>
            <a:off x="10469880" y="5614416"/>
            <a:ext cx="1234440" cy="365760"/>
          </a:xfrm>
          <a:prstGeom prst="rect">
            <a:avLst/>
          </a:prstGeom>
          <a:noFill/>
        </p:spPr>
        <p:txBody>
          <a:bodyPr wrap="square">
            <a:spAutoFit/>
          </a:bodyPr>
          <a:lstStyle/>
          <a:p>
            <a:pPr algn="l"/>
            <a:r>
              <a:rPr sz="950" b="1" i="0">
                <a:solidFill>
                  <a:srgbClr val="1A1A1A"/>
                </a:solidFill>
              </a:rPr>
              <a:t>3/18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Platform &amp; Deployment</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B0BEC5"/>
                </a:solidFill>
              </a:rPr>
              <a:t>One codebase — Android, iOS, and mobile web</a:t>
            </a:r>
          </a:p>
        </p:txBody>
      </p:sp>
      <p:sp>
        <p:nvSpPr>
          <p:cNvPr id="5" name="Rectangle 4"/>
          <p:cNvSpPr/>
          <p:nvPr/>
        </p:nvSpPr>
        <p:spPr>
          <a:xfrm>
            <a:off x="320040" y="1691640"/>
            <a:ext cx="3749039" cy="2743200"/>
          </a:xfrm>
          <a:prstGeom prst="rect">
            <a:avLst/>
          </a:prstGeom>
          <a:solidFill>
            <a:srgbClr val="FFFFFF"/>
          </a:solidFill>
          <a:ln w="25400">
            <a:solidFill>
              <a:srgbClr val="3DDC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28800"/>
            <a:ext cx="914400" cy="640080"/>
          </a:xfrm>
          <a:prstGeom prst="rect">
            <a:avLst/>
          </a:prstGeom>
          <a:noFill/>
        </p:spPr>
        <p:txBody>
          <a:bodyPr wrap="square">
            <a:spAutoFit/>
          </a:bodyPr>
          <a:lstStyle/>
          <a:p>
            <a:pPr algn="l"/>
            <a:r>
              <a:rPr sz="3200" b="0" i="0">
                <a:solidFill>
                  <a:srgbClr val="1A1A1A"/>
                </a:solidFill>
              </a:rPr>
              <a:t>🤖</a:t>
            </a:r>
          </a:p>
        </p:txBody>
      </p:sp>
      <p:sp>
        <p:nvSpPr>
          <p:cNvPr id="7" name="TextBox 6"/>
          <p:cNvSpPr txBox="1"/>
          <p:nvPr/>
        </p:nvSpPr>
        <p:spPr>
          <a:xfrm>
            <a:off x="1325880" y="1901952"/>
            <a:ext cx="2560320" cy="502920"/>
          </a:xfrm>
          <a:prstGeom prst="rect">
            <a:avLst/>
          </a:prstGeom>
          <a:noFill/>
        </p:spPr>
        <p:txBody>
          <a:bodyPr wrap="square">
            <a:spAutoFit/>
          </a:bodyPr>
          <a:lstStyle/>
          <a:p>
            <a:pPr algn="l"/>
            <a:r>
              <a:rPr sz="1800" b="1" i="0">
                <a:solidFill>
                  <a:srgbClr val="3DDC84"/>
                </a:solidFill>
              </a:rPr>
              <a:t>Android</a:t>
            </a:r>
          </a:p>
        </p:txBody>
      </p:sp>
      <p:sp>
        <p:nvSpPr>
          <p:cNvPr id="8" name="TextBox 7"/>
          <p:cNvSpPr txBox="1"/>
          <p:nvPr/>
        </p:nvSpPr>
        <p:spPr>
          <a:xfrm>
            <a:off x="502920" y="2514600"/>
            <a:ext cx="3383280" cy="1645920"/>
          </a:xfrm>
          <a:prstGeom prst="rect">
            <a:avLst/>
          </a:prstGeom>
          <a:noFill/>
        </p:spPr>
        <p:txBody>
          <a:bodyPr wrap="square">
            <a:spAutoFit/>
          </a:bodyPr>
          <a:lstStyle/>
          <a:p>
            <a:pPr algn="l"/>
            <a:r>
              <a:rPr sz="1100" b="0" i="0">
                <a:solidFill>
                  <a:srgbClr val="1A1A1A"/>
                </a:solidFill>
              </a:rPr>
              <a:t>Native APK via EAS Build
Expo Go for development
SQLite persistence
Target: Android 8+</a:t>
            </a:r>
          </a:p>
        </p:txBody>
      </p:sp>
      <p:sp>
        <p:nvSpPr>
          <p:cNvPr id="9" name="Rectangle 8"/>
          <p:cNvSpPr/>
          <p:nvPr/>
        </p:nvSpPr>
        <p:spPr>
          <a:xfrm>
            <a:off x="4251959" y="1691640"/>
            <a:ext cx="3749039" cy="2743200"/>
          </a:xfrm>
          <a:prstGeom prst="rect">
            <a:avLst/>
          </a:prstGeom>
          <a:solidFill>
            <a:srgbClr val="FFFFFF"/>
          </a:solidFill>
          <a:ln w="25400">
            <a:solidFill>
              <a:srgbClr val="A2AA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39" y="1828800"/>
            <a:ext cx="914400" cy="640080"/>
          </a:xfrm>
          <a:prstGeom prst="rect">
            <a:avLst/>
          </a:prstGeom>
          <a:noFill/>
        </p:spPr>
        <p:txBody>
          <a:bodyPr wrap="square">
            <a:spAutoFit/>
          </a:bodyPr>
          <a:lstStyle/>
          <a:p>
            <a:pPr algn="l"/>
            <a:r>
              <a:rPr sz="3200" b="0" i="0">
                <a:solidFill>
                  <a:srgbClr val="1A1A1A"/>
                </a:solidFill>
              </a:rPr>
              <a:t>🍎</a:t>
            </a:r>
          </a:p>
        </p:txBody>
      </p:sp>
      <p:sp>
        <p:nvSpPr>
          <p:cNvPr id="11" name="TextBox 10"/>
          <p:cNvSpPr txBox="1"/>
          <p:nvPr/>
        </p:nvSpPr>
        <p:spPr>
          <a:xfrm>
            <a:off x="5257799" y="1901952"/>
            <a:ext cx="2560320" cy="502920"/>
          </a:xfrm>
          <a:prstGeom prst="rect">
            <a:avLst/>
          </a:prstGeom>
          <a:noFill/>
        </p:spPr>
        <p:txBody>
          <a:bodyPr wrap="square">
            <a:spAutoFit/>
          </a:bodyPr>
          <a:lstStyle/>
          <a:p>
            <a:pPr algn="l"/>
            <a:r>
              <a:rPr sz="1800" b="1" i="0">
                <a:solidFill>
                  <a:srgbClr val="A2AAAD"/>
                </a:solidFill>
              </a:rPr>
              <a:t>iOS</a:t>
            </a:r>
          </a:p>
        </p:txBody>
      </p:sp>
      <p:sp>
        <p:nvSpPr>
          <p:cNvPr id="12" name="TextBox 11"/>
          <p:cNvSpPr txBox="1"/>
          <p:nvPr/>
        </p:nvSpPr>
        <p:spPr>
          <a:xfrm>
            <a:off x="4434839" y="2514600"/>
            <a:ext cx="3383280" cy="1645920"/>
          </a:xfrm>
          <a:prstGeom prst="rect">
            <a:avLst/>
          </a:prstGeom>
          <a:noFill/>
        </p:spPr>
        <p:txBody>
          <a:bodyPr wrap="square">
            <a:spAutoFit/>
          </a:bodyPr>
          <a:lstStyle/>
          <a:p>
            <a:pPr algn="l"/>
            <a:r>
              <a:rPr sz="1100" b="0" i="0">
                <a:solidFill>
                  <a:srgbClr val="1A1A1A"/>
                </a:solidFill>
              </a:rPr>
              <a:t>Native IPA via EAS Build
Expo Go for development
SQLite persistence
Target: iOS 15+</a:t>
            </a:r>
          </a:p>
        </p:txBody>
      </p:sp>
      <p:sp>
        <p:nvSpPr>
          <p:cNvPr id="13" name="Rectangle 12"/>
          <p:cNvSpPr/>
          <p:nvPr/>
        </p:nvSpPr>
        <p:spPr>
          <a:xfrm>
            <a:off x="8183879" y="1691640"/>
            <a:ext cx="3749039" cy="2743200"/>
          </a:xfrm>
          <a:prstGeom prst="rect">
            <a:avLst/>
          </a:prstGeom>
          <a:solidFill>
            <a:srgbClr val="FFFFFF"/>
          </a:solidFill>
          <a:ln w="25400">
            <a:solidFill>
              <a:srgbClr val="61D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59" y="1828800"/>
            <a:ext cx="914400" cy="640080"/>
          </a:xfrm>
          <a:prstGeom prst="rect">
            <a:avLst/>
          </a:prstGeom>
          <a:noFill/>
        </p:spPr>
        <p:txBody>
          <a:bodyPr wrap="square">
            <a:spAutoFit/>
          </a:bodyPr>
          <a:lstStyle/>
          <a:p>
            <a:pPr algn="l"/>
            <a:r>
              <a:rPr sz="3200" b="0" i="0">
                <a:solidFill>
                  <a:srgbClr val="1A1A1A"/>
                </a:solidFill>
              </a:rPr>
              <a:t>🌐</a:t>
            </a:r>
          </a:p>
        </p:txBody>
      </p:sp>
      <p:sp>
        <p:nvSpPr>
          <p:cNvPr id="15" name="TextBox 14"/>
          <p:cNvSpPr txBox="1"/>
          <p:nvPr/>
        </p:nvSpPr>
        <p:spPr>
          <a:xfrm>
            <a:off x="9189719" y="1901952"/>
            <a:ext cx="2560320" cy="502920"/>
          </a:xfrm>
          <a:prstGeom prst="rect">
            <a:avLst/>
          </a:prstGeom>
          <a:noFill/>
        </p:spPr>
        <p:txBody>
          <a:bodyPr wrap="square">
            <a:spAutoFit/>
          </a:bodyPr>
          <a:lstStyle/>
          <a:p>
            <a:pPr algn="l"/>
            <a:r>
              <a:rPr sz="1800" b="1" i="0">
                <a:solidFill>
                  <a:srgbClr val="61DBFB"/>
                </a:solidFill>
              </a:rPr>
              <a:t>Mobile Web</a:t>
            </a:r>
          </a:p>
        </p:txBody>
      </p:sp>
      <p:sp>
        <p:nvSpPr>
          <p:cNvPr id="16" name="TextBox 15"/>
          <p:cNvSpPr txBox="1"/>
          <p:nvPr/>
        </p:nvSpPr>
        <p:spPr>
          <a:xfrm>
            <a:off x="8366759" y="2514600"/>
            <a:ext cx="3383280" cy="1645920"/>
          </a:xfrm>
          <a:prstGeom prst="rect">
            <a:avLst/>
          </a:prstGeom>
          <a:noFill/>
        </p:spPr>
        <p:txBody>
          <a:bodyPr wrap="square">
            <a:spAutoFit/>
          </a:bodyPr>
          <a:lstStyle/>
          <a:p>
            <a:pPr algn="l"/>
            <a:r>
              <a:rPr sz="1100" b="0" i="0">
                <a:solidFill>
                  <a:srgbClr val="1A1A1A"/>
                </a:solidFill>
              </a:rPr>
              <a:t>Progressive Web App
Run: expo start --web
localStorage persistence
MD3 responsive layout</a:t>
            </a:r>
          </a:p>
        </p:txBody>
      </p:sp>
      <p:sp>
        <p:nvSpPr>
          <p:cNvPr id="17" name="Rectangle 16"/>
          <p:cNvSpPr/>
          <p:nvPr/>
        </p:nvSpPr>
        <p:spPr>
          <a:xfrm>
            <a:off x="320040" y="4617720"/>
            <a:ext cx="11521440" cy="2011680"/>
          </a:xfrm>
          <a:prstGeom prst="rect">
            <a:avLst/>
          </a:prstGeom>
          <a:solidFill>
            <a:srgbClr val="273238"/>
          </a:solidFill>
          <a:ln w="6350">
            <a:solidFill>
              <a:srgbClr val="445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09160"/>
            <a:ext cx="10972800" cy="347472"/>
          </a:xfrm>
          <a:prstGeom prst="rect">
            <a:avLst/>
          </a:prstGeom>
          <a:noFill/>
        </p:spPr>
        <p:txBody>
          <a:bodyPr wrap="square">
            <a:spAutoFit/>
          </a:bodyPr>
          <a:lstStyle/>
          <a:p>
            <a:pPr algn="l"/>
            <a:r>
              <a:rPr sz="1000" b="1" i="0">
                <a:solidFill>
                  <a:srgbClr val="B0BEC5"/>
                </a:solidFill>
              </a:rPr>
              <a:t>DEPLOYMENT PIPELINE</a:t>
            </a:r>
          </a:p>
        </p:txBody>
      </p:sp>
      <p:sp>
        <p:nvSpPr>
          <p:cNvPr id="19" name="Rectangle 18"/>
          <p:cNvSpPr/>
          <p:nvPr/>
        </p:nvSpPr>
        <p:spPr>
          <a:xfrm>
            <a:off x="502920" y="5120640"/>
            <a:ext cx="2057400" cy="1325880"/>
          </a:xfrm>
          <a:prstGeom prst="rect">
            <a:avLst/>
          </a:prstGeom>
          <a:solidFill>
            <a:srgbClr val="37474F"/>
          </a:solidFill>
          <a:ln w="9525">
            <a:solidFill>
              <a:srgbClr val="55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166360"/>
            <a:ext cx="1874519" cy="347472"/>
          </a:xfrm>
          <a:prstGeom prst="rect">
            <a:avLst/>
          </a:prstGeom>
          <a:noFill/>
        </p:spPr>
        <p:txBody>
          <a:bodyPr wrap="square">
            <a:spAutoFit/>
          </a:bodyPr>
          <a:lstStyle/>
          <a:p>
            <a:pPr algn="l"/>
            <a:r>
              <a:rPr sz="900" b="1" i="0">
                <a:solidFill>
                  <a:srgbClr val="80CBC4"/>
                </a:solidFill>
              </a:rPr>
              <a:t>DEV</a:t>
            </a:r>
          </a:p>
        </p:txBody>
      </p:sp>
      <p:sp>
        <p:nvSpPr>
          <p:cNvPr id="21" name="TextBox 20"/>
          <p:cNvSpPr txBox="1"/>
          <p:nvPr/>
        </p:nvSpPr>
        <p:spPr>
          <a:xfrm>
            <a:off x="594360" y="5486400"/>
            <a:ext cx="1874519" cy="822960"/>
          </a:xfrm>
          <a:prstGeom prst="rect">
            <a:avLst/>
          </a:prstGeom>
          <a:noFill/>
        </p:spPr>
        <p:txBody>
          <a:bodyPr wrap="square">
            <a:spAutoFit/>
          </a:bodyPr>
          <a:lstStyle/>
          <a:p>
            <a:pPr algn="l"/>
            <a:r>
              <a:rPr sz="950" b="0" i="0">
                <a:solidFill>
                  <a:srgbClr val="FFFFFF"/>
                </a:solidFill>
              </a:rPr>
              <a:t>Expo Go on device
(LAN, instant reload)</a:t>
            </a:r>
          </a:p>
        </p:txBody>
      </p:sp>
      <p:sp>
        <p:nvSpPr>
          <p:cNvPr id="22" name="TextBox 21"/>
          <p:cNvSpPr txBox="1"/>
          <p:nvPr/>
        </p:nvSpPr>
        <p:spPr>
          <a:xfrm>
            <a:off x="2560320" y="5486400"/>
            <a:ext cx="256032" cy="347472"/>
          </a:xfrm>
          <a:prstGeom prst="rect">
            <a:avLst/>
          </a:prstGeom>
          <a:noFill/>
        </p:spPr>
        <p:txBody>
          <a:bodyPr wrap="square">
            <a:spAutoFit/>
          </a:bodyPr>
          <a:lstStyle/>
          <a:p>
            <a:pPr algn="ctr"/>
            <a:r>
              <a:rPr sz="1400" b="1" i="0">
                <a:solidFill>
                  <a:srgbClr val="80CBC4"/>
                </a:solidFill>
              </a:rPr>
              <a:t>→</a:t>
            </a:r>
          </a:p>
        </p:txBody>
      </p:sp>
      <p:sp>
        <p:nvSpPr>
          <p:cNvPr id="23" name="Rectangle 22"/>
          <p:cNvSpPr/>
          <p:nvPr/>
        </p:nvSpPr>
        <p:spPr>
          <a:xfrm>
            <a:off x="2788920" y="5120640"/>
            <a:ext cx="2057400" cy="1325880"/>
          </a:xfrm>
          <a:prstGeom prst="rect">
            <a:avLst/>
          </a:prstGeom>
          <a:solidFill>
            <a:srgbClr val="37474F"/>
          </a:solidFill>
          <a:ln w="9525">
            <a:solidFill>
              <a:srgbClr val="55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0360" y="5166360"/>
            <a:ext cx="1874519" cy="347472"/>
          </a:xfrm>
          <a:prstGeom prst="rect">
            <a:avLst/>
          </a:prstGeom>
          <a:noFill/>
        </p:spPr>
        <p:txBody>
          <a:bodyPr wrap="square">
            <a:spAutoFit/>
          </a:bodyPr>
          <a:lstStyle/>
          <a:p>
            <a:pPr algn="l"/>
            <a:r>
              <a:rPr sz="900" b="1" i="0">
                <a:solidFill>
                  <a:srgbClr val="80CBC4"/>
                </a:solidFill>
              </a:rPr>
              <a:t>TEST</a:t>
            </a:r>
          </a:p>
        </p:txBody>
      </p:sp>
      <p:sp>
        <p:nvSpPr>
          <p:cNvPr id="25" name="TextBox 24"/>
          <p:cNvSpPr txBox="1"/>
          <p:nvPr/>
        </p:nvSpPr>
        <p:spPr>
          <a:xfrm>
            <a:off x="2880360" y="5486400"/>
            <a:ext cx="1874519" cy="822960"/>
          </a:xfrm>
          <a:prstGeom prst="rect">
            <a:avLst/>
          </a:prstGeom>
          <a:noFill/>
        </p:spPr>
        <p:txBody>
          <a:bodyPr wrap="square">
            <a:spAutoFit/>
          </a:bodyPr>
          <a:lstStyle/>
          <a:p>
            <a:pPr algn="l"/>
            <a:r>
              <a:rPr sz="950" b="0" i="0">
                <a:solidFill>
                  <a:srgbClr val="FFFFFF"/>
                </a:solidFill>
              </a:rPr>
              <a:t>Jest 150+ tests
(engine rules)</a:t>
            </a:r>
          </a:p>
        </p:txBody>
      </p:sp>
      <p:sp>
        <p:nvSpPr>
          <p:cNvPr id="26" name="TextBox 25"/>
          <p:cNvSpPr txBox="1"/>
          <p:nvPr/>
        </p:nvSpPr>
        <p:spPr>
          <a:xfrm>
            <a:off x="4846320" y="5486400"/>
            <a:ext cx="256032" cy="347472"/>
          </a:xfrm>
          <a:prstGeom prst="rect">
            <a:avLst/>
          </a:prstGeom>
          <a:noFill/>
        </p:spPr>
        <p:txBody>
          <a:bodyPr wrap="square">
            <a:spAutoFit/>
          </a:bodyPr>
          <a:lstStyle/>
          <a:p>
            <a:pPr algn="ctr"/>
            <a:r>
              <a:rPr sz="1400" b="1" i="0">
                <a:solidFill>
                  <a:srgbClr val="80CBC4"/>
                </a:solidFill>
              </a:rPr>
              <a:t>→</a:t>
            </a:r>
          </a:p>
        </p:txBody>
      </p:sp>
      <p:sp>
        <p:nvSpPr>
          <p:cNvPr id="27" name="Rectangle 26"/>
          <p:cNvSpPr/>
          <p:nvPr/>
        </p:nvSpPr>
        <p:spPr>
          <a:xfrm>
            <a:off x="5074920" y="5120640"/>
            <a:ext cx="2057400" cy="1325880"/>
          </a:xfrm>
          <a:prstGeom prst="rect">
            <a:avLst/>
          </a:prstGeom>
          <a:solidFill>
            <a:srgbClr val="37474F"/>
          </a:solidFill>
          <a:ln w="9525">
            <a:solidFill>
              <a:srgbClr val="55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6360" y="5166360"/>
            <a:ext cx="1874519" cy="347472"/>
          </a:xfrm>
          <a:prstGeom prst="rect">
            <a:avLst/>
          </a:prstGeom>
          <a:noFill/>
        </p:spPr>
        <p:txBody>
          <a:bodyPr wrap="square">
            <a:spAutoFit/>
          </a:bodyPr>
          <a:lstStyle/>
          <a:p>
            <a:pPr algn="l"/>
            <a:r>
              <a:rPr sz="900" b="1" i="0">
                <a:solidFill>
                  <a:srgbClr val="80CBC4"/>
                </a:solidFill>
              </a:rPr>
              <a:t>BUILD</a:t>
            </a:r>
          </a:p>
        </p:txBody>
      </p:sp>
      <p:sp>
        <p:nvSpPr>
          <p:cNvPr id="29" name="TextBox 28"/>
          <p:cNvSpPr txBox="1"/>
          <p:nvPr/>
        </p:nvSpPr>
        <p:spPr>
          <a:xfrm>
            <a:off x="5166360" y="5486400"/>
            <a:ext cx="1874519" cy="822960"/>
          </a:xfrm>
          <a:prstGeom prst="rect">
            <a:avLst/>
          </a:prstGeom>
          <a:noFill/>
        </p:spPr>
        <p:txBody>
          <a:bodyPr wrap="square">
            <a:spAutoFit/>
          </a:bodyPr>
          <a:lstStyle/>
          <a:p>
            <a:pPr algn="l"/>
            <a:r>
              <a:rPr sz="950" b="0" i="0">
                <a:solidFill>
                  <a:srgbClr val="FFFFFF"/>
                </a:solidFill>
              </a:rPr>
              <a:t>EAS Build
(cloud compile)</a:t>
            </a:r>
          </a:p>
        </p:txBody>
      </p:sp>
      <p:sp>
        <p:nvSpPr>
          <p:cNvPr id="30" name="TextBox 29"/>
          <p:cNvSpPr txBox="1"/>
          <p:nvPr/>
        </p:nvSpPr>
        <p:spPr>
          <a:xfrm>
            <a:off x="7132320" y="5486400"/>
            <a:ext cx="256032" cy="347472"/>
          </a:xfrm>
          <a:prstGeom prst="rect">
            <a:avLst/>
          </a:prstGeom>
          <a:noFill/>
        </p:spPr>
        <p:txBody>
          <a:bodyPr wrap="square">
            <a:spAutoFit/>
          </a:bodyPr>
          <a:lstStyle/>
          <a:p>
            <a:pPr algn="ctr"/>
            <a:r>
              <a:rPr sz="1400" b="1" i="0">
                <a:solidFill>
                  <a:srgbClr val="80CBC4"/>
                </a:solidFill>
              </a:rPr>
              <a:t>→</a:t>
            </a:r>
          </a:p>
        </p:txBody>
      </p:sp>
      <p:sp>
        <p:nvSpPr>
          <p:cNvPr id="31" name="Rectangle 30"/>
          <p:cNvSpPr/>
          <p:nvPr/>
        </p:nvSpPr>
        <p:spPr>
          <a:xfrm>
            <a:off x="7360920" y="5120640"/>
            <a:ext cx="2057400" cy="1325880"/>
          </a:xfrm>
          <a:prstGeom prst="rect">
            <a:avLst/>
          </a:prstGeom>
          <a:solidFill>
            <a:srgbClr val="37474F"/>
          </a:solidFill>
          <a:ln w="9525">
            <a:solidFill>
              <a:srgbClr val="55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5166360"/>
            <a:ext cx="1874519" cy="347472"/>
          </a:xfrm>
          <a:prstGeom prst="rect">
            <a:avLst/>
          </a:prstGeom>
          <a:noFill/>
        </p:spPr>
        <p:txBody>
          <a:bodyPr wrap="square">
            <a:spAutoFit/>
          </a:bodyPr>
          <a:lstStyle/>
          <a:p>
            <a:pPr algn="l"/>
            <a:r>
              <a:rPr sz="900" b="1" i="0">
                <a:solidFill>
                  <a:srgbClr val="80CBC4"/>
                </a:solidFill>
              </a:rPr>
              <a:t>DISTRIBUTE</a:t>
            </a:r>
          </a:p>
        </p:txBody>
      </p:sp>
      <p:sp>
        <p:nvSpPr>
          <p:cNvPr id="33" name="TextBox 32"/>
          <p:cNvSpPr txBox="1"/>
          <p:nvPr/>
        </p:nvSpPr>
        <p:spPr>
          <a:xfrm>
            <a:off x="7452360" y="5486400"/>
            <a:ext cx="1874519" cy="822960"/>
          </a:xfrm>
          <a:prstGeom prst="rect">
            <a:avLst/>
          </a:prstGeom>
          <a:noFill/>
        </p:spPr>
        <p:txBody>
          <a:bodyPr wrap="square">
            <a:spAutoFit/>
          </a:bodyPr>
          <a:lstStyle/>
          <a:p>
            <a:pPr algn="l"/>
            <a:r>
              <a:rPr sz="950" b="0" i="0">
                <a:solidFill>
                  <a:srgbClr val="FFFFFF"/>
                </a:solidFill>
              </a:rPr>
              <a:t>Internal / TestFlight
/ Play Store</a:t>
            </a:r>
          </a:p>
        </p:txBody>
      </p:sp>
      <p:sp>
        <p:nvSpPr>
          <p:cNvPr id="34" name="TextBox 33"/>
          <p:cNvSpPr txBox="1"/>
          <p:nvPr/>
        </p:nvSpPr>
        <p:spPr>
          <a:xfrm>
            <a:off x="9418320" y="5486400"/>
            <a:ext cx="256032" cy="347472"/>
          </a:xfrm>
          <a:prstGeom prst="rect">
            <a:avLst/>
          </a:prstGeom>
          <a:noFill/>
        </p:spPr>
        <p:txBody>
          <a:bodyPr wrap="square">
            <a:spAutoFit/>
          </a:bodyPr>
          <a:lstStyle/>
          <a:p>
            <a:pPr algn="ctr"/>
            <a:r>
              <a:rPr sz="1400" b="1" i="0">
                <a:solidFill>
                  <a:srgbClr val="80CBC4"/>
                </a:solidFill>
              </a:rPr>
              <a:t>→</a:t>
            </a:r>
          </a:p>
        </p:txBody>
      </p:sp>
      <p:sp>
        <p:nvSpPr>
          <p:cNvPr id="35" name="Rectangle 34"/>
          <p:cNvSpPr/>
          <p:nvPr/>
        </p:nvSpPr>
        <p:spPr>
          <a:xfrm>
            <a:off x="9646920" y="5120640"/>
            <a:ext cx="2057400" cy="1325880"/>
          </a:xfrm>
          <a:prstGeom prst="rect">
            <a:avLst/>
          </a:prstGeom>
          <a:solidFill>
            <a:srgbClr val="37474F"/>
          </a:solidFill>
          <a:ln w="9525">
            <a:solidFill>
              <a:srgbClr val="5566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5166360"/>
            <a:ext cx="1874519" cy="347472"/>
          </a:xfrm>
          <a:prstGeom prst="rect">
            <a:avLst/>
          </a:prstGeom>
          <a:noFill/>
        </p:spPr>
        <p:txBody>
          <a:bodyPr wrap="square">
            <a:spAutoFit/>
          </a:bodyPr>
          <a:lstStyle/>
          <a:p>
            <a:pPr algn="l"/>
            <a:r>
              <a:rPr sz="900" b="1" i="0">
                <a:solidFill>
                  <a:srgbClr val="80CBC4"/>
                </a:solidFill>
              </a:rPr>
              <a:t>CLOUD</a:t>
            </a:r>
          </a:p>
        </p:txBody>
      </p:sp>
      <p:sp>
        <p:nvSpPr>
          <p:cNvPr id="37" name="TextBox 36"/>
          <p:cNvSpPr txBox="1"/>
          <p:nvPr/>
        </p:nvSpPr>
        <p:spPr>
          <a:xfrm>
            <a:off x="9738360" y="5486400"/>
            <a:ext cx="1874519" cy="822960"/>
          </a:xfrm>
          <a:prstGeom prst="rect">
            <a:avLst/>
          </a:prstGeom>
          <a:noFill/>
        </p:spPr>
        <p:txBody>
          <a:bodyPr wrap="square">
            <a:spAutoFit/>
          </a:bodyPr>
          <a:lstStyle/>
          <a:p>
            <a:pPr algn="l"/>
            <a:r>
              <a:rPr sz="950" b="0" i="0">
                <a:solidFill>
                  <a:srgbClr val="FFFFFF"/>
                </a:solidFill>
              </a:rPr>
              <a:t>Run supabase-setup.sql
Add .env creds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183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Security &amp; Privacy</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A8DBAB"/>
                </a:solidFill>
              </a:rPr>
              <a:t>Built with data minimisation and user trust at the core</a:t>
            </a:r>
          </a:p>
        </p:txBody>
      </p:sp>
      <p:sp>
        <p:nvSpPr>
          <p:cNvPr id="5" name="Rectangle 4"/>
          <p:cNvSpPr/>
          <p:nvPr/>
        </p:nvSpPr>
        <p:spPr>
          <a:xfrm>
            <a:off x="320040" y="169164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9164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01368"/>
            <a:ext cx="548640" cy="502920"/>
          </a:xfrm>
          <a:prstGeom prst="rect">
            <a:avLst/>
          </a:prstGeom>
          <a:noFill/>
        </p:spPr>
        <p:txBody>
          <a:bodyPr wrap="square">
            <a:spAutoFit/>
          </a:bodyPr>
          <a:lstStyle/>
          <a:p>
            <a:pPr algn="l"/>
            <a:r>
              <a:rPr sz="2200" b="0" i="0">
                <a:solidFill>
                  <a:srgbClr val="1A1A1A"/>
                </a:solidFill>
              </a:rPr>
              <a:t>🔒</a:t>
            </a:r>
          </a:p>
        </p:txBody>
      </p:sp>
      <p:sp>
        <p:nvSpPr>
          <p:cNvPr id="8" name="TextBox 7"/>
          <p:cNvSpPr txBox="1"/>
          <p:nvPr/>
        </p:nvSpPr>
        <p:spPr>
          <a:xfrm>
            <a:off x="1051560" y="1856232"/>
            <a:ext cx="2926080" cy="384048"/>
          </a:xfrm>
          <a:prstGeom prst="rect">
            <a:avLst/>
          </a:prstGeom>
          <a:noFill/>
        </p:spPr>
        <p:txBody>
          <a:bodyPr wrap="square">
            <a:spAutoFit/>
          </a:bodyPr>
          <a:lstStyle/>
          <a:p>
            <a:pPr algn="l"/>
            <a:r>
              <a:rPr sz="1200" b="1" i="0">
                <a:solidFill>
                  <a:srgbClr val="1B6B28"/>
                </a:solidFill>
              </a:rPr>
              <a:t>Admin PIN (SHA-256)</a:t>
            </a:r>
          </a:p>
        </p:txBody>
      </p:sp>
      <p:sp>
        <p:nvSpPr>
          <p:cNvPr id="9" name="TextBox 8"/>
          <p:cNvSpPr txBox="1"/>
          <p:nvPr/>
        </p:nvSpPr>
        <p:spPr>
          <a:xfrm>
            <a:off x="457200" y="2331720"/>
            <a:ext cx="3474720" cy="1508760"/>
          </a:xfrm>
          <a:prstGeom prst="rect">
            <a:avLst/>
          </a:prstGeom>
          <a:noFill/>
        </p:spPr>
        <p:txBody>
          <a:bodyPr wrap="square">
            <a:spAutoFit/>
          </a:bodyPr>
          <a:lstStyle/>
          <a:p>
            <a:pPr algn="l"/>
            <a:r>
              <a:rPr sz="950" b="0" i="0">
                <a:solidFill>
                  <a:srgbClr val="555555"/>
                </a:solidFill>
              </a:rPr>
              <a:t>Team admin PINs hashed with SHA-256 via expo-crypto before storage.
Plaintext never stored in SQLite or transmitted to cloud.
Auth state held in-memory only — clears on app restart by design.</a:t>
            </a:r>
          </a:p>
        </p:txBody>
      </p:sp>
      <p:sp>
        <p:nvSpPr>
          <p:cNvPr id="10" name="Rectangle 9"/>
          <p:cNvSpPr/>
          <p:nvPr/>
        </p:nvSpPr>
        <p:spPr>
          <a:xfrm>
            <a:off x="4251959" y="169164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59" y="169164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19" y="1801368"/>
            <a:ext cx="548640" cy="502920"/>
          </a:xfrm>
          <a:prstGeom prst="rect">
            <a:avLst/>
          </a:prstGeom>
          <a:noFill/>
        </p:spPr>
        <p:txBody>
          <a:bodyPr wrap="square">
            <a:spAutoFit/>
          </a:bodyPr>
          <a:lstStyle/>
          <a:p>
            <a:pPr algn="l"/>
            <a:r>
              <a:rPr sz="2200" b="0" i="0">
                <a:solidFill>
                  <a:srgbClr val="1A1A1A"/>
                </a:solidFill>
              </a:rPr>
              <a:t>💾</a:t>
            </a:r>
          </a:p>
        </p:txBody>
      </p:sp>
      <p:sp>
        <p:nvSpPr>
          <p:cNvPr id="13" name="TextBox 12"/>
          <p:cNvSpPr txBox="1"/>
          <p:nvPr/>
        </p:nvSpPr>
        <p:spPr>
          <a:xfrm>
            <a:off x="4983479" y="1856232"/>
            <a:ext cx="2926080" cy="384048"/>
          </a:xfrm>
          <a:prstGeom prst="rect">
            <a:avLst/>
          </a:prstGeom>
          <a:noFill/>
        </p:spPr>
        <p:txBody>
          <a:bodyPr wrap="square">
            <a:spAutoFit/>
          </a:bodyPr>
          <a:lstStyle/>
          <a:p>
            <a:pPr algn="l"/>
            <a:r>
              <a:rPr sz="1200" b="1" i="0">
                <a:solidFill>
                  <a:srgbClr val="1B6B28"/>
                </a:solidFill>
              </a:rPr>
              <a:t>Local-First Data</a:t>
            </a:r>
          </a:p>
        </p:txBody>
      </p:sp>
      <p:sp>
        <p:nvSpPr>
          <p:cNvPr id="14" name="TextBox 13"/>
          <p:cNvSpPr txBox="1"/>
          <p:nvPr/>
        </p:nvSpPr>
        <p:spPr>
          <a:xfrm>
            <a:off x="4389119" y="2331720"/>
            <a:ext cx="3474720" cy="1508760"/>
          </a:xfrm>
          <a:prstGeom prst="rect">
            <a:avLst/>
          </a:prstGeom>
          <a:noFill/>
        </p:spPr>
        <p:txBody>
          <a:bodyPr wrap="square">
            <a:spAutoFit/>
          </a:bodyPr>
          <a:lstStyle/>
          <a:p>
            <a:pPr algn="l"/>
            <a:r>
              <a:rPr sz="950" b="0" i="0">
                <a:solidFill>
                  <a:srgbClr val="555555"/>
                </a:solidFill>
              </a:rPr>
              <a:t>All match data, player records, and team info stored exclusively on-device
(SQLite native / localStorage web). No automatic cloud upload of match data.
Users own their data entirely.</a:t>
            </a:r>
          </a:p>
        </p:txBody>
      </p:sp>
      <p:sp>
        <p:nvSpPr>
          <p:cNvPr id="15" name="Rectangle 14"/>
          <p:cNvSpPr/>
          <p:nvPr/>
        </p:nvSpPr>
        <p:spPr>
          <a:xfrm>
            <a:off x="8183879" y="169164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169164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801368"/>
            <a:ext cx="548640" cy="502920"/>
          </a:xfrm>
          <a:prstGeom prst="rect">
            <a:avLst/>
          </a:prstGeom>
          <a:noFill/>
        </p:spPr>
        <p:txBody>
          <a:bodyPr wrap="square">
            <a:spAutoFit/>
          </a:bodyPr>
          <a:lstStyle/>
          <a:p>
            <a:pPr algn="l"/>
            <a:r>
              <a:rPr sz="2200" b="0" i="0">
                <a:solidFill>
                  <a:srgbClr val="1A1A1A"/>
                </a:solidFill>
              </a:rPr>
              <a:t>🛡️</a:t>
            </a:r>
          </a:p>
        </p:txBody>
      </p:sp>
      <p:sp>
        <p:nvSpPr>
          <p:cNvPr id="18" name="TextBox 17"/>
          <p:cNvSpPr txBox="1"/>
          <p:nvPr/>
        </p:nvSpPr>
        <p:spPr>
          <a:xfrm>
            <a:off x="8915399" y="1856232"/>
            <a:ext cx="2926080" cy="384048"/>
          </a:xfrm>
          <a:prstGeom prst="rect">
            <a:avLst/>
          </a:prstGeom>
          <a:noFill/>
        </p:spPr>
        <p:txBody>
          <a:bodyPr wrap="square">
            <a:spAutoFit/>
          </a:bodyPr>
          <a:lstStyle/>
          <a:p>
            <a:pPr algn="l"/>
            <a:r>
              <a:rPr sz="1200" b="1" i="0">
                <a:solidFill>
                  <a:srgbClr val="1B6B28"/>
                </a:solidFill>
              </a:rPr>
              <a:t>Parameterised Queries</a:t>
            </a:r>
          </a:p>
        </p:txBody>
      </p:sp>
      <p:sp>
        <p:nvSpPr>
          <p:cNvPr id="19" name="TextBox 18"/>
          <p:cNvSpPr txBox="1"/>
          <p:nvPr/>
        </p:nvSpPr>
        <p:spPr>
          <a:xfrm>
            <a:off x="8321039" y="2331720"/>
            <a:ext cx="3474720" cy="1508760"/>
          </a:xfrm>
          <a:prstGeom prst="rect">
            <a:avLst/>
          </a:prstGeom>
          <a:noFill/>
        </p:spPr>
        <p:txBody>
          <a:bodyPr wrap="square">
            <a:spAutoFit/>
          </a:bodyPr>
          <a:lstStyle/>
          <a:p>
            <a:pPr algn="l"/>
            <a:r>
              <a:rPr sz="950" b="0" i="0">
                <a:solidFill>
                  <a:srgbClr val="555555"/>
                </a:solidFill>
              </a:rPr>
              <a:t>All SQLite operations use parameterised statements — SQL injection is
architecturally impossible. Input validation at store boundaries.</a:t>
            </a:r>
          </a:p>
        </p:txBody>
      </p:sp>
      <p:sp>
        <p:nvSpPr>
          <p:cNvPr id="20" name="Rectangle 19"/>
          <p:cNvSpPr/>
          <p:nvPr/>
        </p:nvSpPr>
        <p:spPr>
          <a:xfrm>
            <a:off x="320040" y="416052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416052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270248"/>
            <a:ext cx="548640" cy="502920"/>
          </a:xfrm>
          <a:prstGeom prst="rect">
            <a:avLst/>
          </a:prstGeom>
          <a:noFill/>
        </p:spPr>
        <p:txBody>
          <a:bodyPr wrap="square">
            <a:spAutoFit/>
          </a:bodyPr>
          <a:lstStyle/>
          <a:p>
            <a:pPr algn="l"/>
            <a:r>
              <a:rPr sz="2200" b="0" i="0">
                <a:solidFill>
                  <a:srgbClr val="1A1A1A"/>
                </a:solidFill>
              </a:rPr>
              <a:t>☁️</a:t>
            </a:r>
          </a:p>
        </p:txBody>
      </p:sp>
      <p:sp>
        <p:nvSpPr>
          <p:cNvPr id="23" name="TextBox 22"/>
          <p:cNvSpPr txBox="1"/>
          <p:nvPr/>
        </p:nvSpPr>
        <p:spPr>
          <a:xfrm>
            <a:off x="1051560" y="4325112"/>
            <a:ext cx="2926080" cy="384048"/>
          </a:xfrm>
          <a:prstGeom prst="rect">
            <a:avLst/>
          </a:prstGeom>
          <a:noFill/>
        </p:spPr>
        <p:txBody>
          <a:bodyPr wrap="square">
            <a:spAutoFit/>
          </a:bodyPr>
          <a:lstStyle/>
          <a:p>
            <a:pPr algn="l"/>
            <a:r>
              <a:rPr sz="1200" b="1" i="0">
                <a:solidFill>
                  <a:srgbClr val="1B6B28"/>
                </a:solidFill>
              </a:rPr>
              <a:t>Cloud Opt-In Only</a:t>
            </a:r>
          </a:p>
        </p:txBody>
      </p:sp>
      <p:sp>
        <p:nvSpPr>
          <p:cNvPr id="24" name="TextBox 23"/>
          <p:cNvSpPr txBox="1"/>
          <p:nvPr/>
        </p:nvSpPr>
        <p:spPr>
          <a:xfrm>
            <a:off x="457200" y="4800600"/>
            <a:ext cx="3474720" cy="1508760"/>
          </a:xfrm>
          <a:prstGeom prst="rect">
            <a:avLst/>
          </a:prstGeom>
          <a:noFill/>
        </p:spPr>
        <p:txBody>
          <a:bodyPr wrap="square">
            <a:spAutoFit/>
          </a:bodyPr>
          <a:lstStyle/>
          <a:p>
            <a:pPr algn="l"/>
            <a:r>
              <a:rPr sz="950" b="0" i="0">
                <a:solidFill>
                  <a:srgbClr val="555555"/>
                </a:solidFill>
              </a:rPr>
              <a:t>Supabase integration requires explicit credential setup in .env.
isCloudEnabled guards every remote call — cloud is never silently enabled.
PGRST205 errors (missing table) silently suppressed — graceful degradation.</a:t>
            </a:r>
          </a:p>
        </p:txBody>
      </p:sp>
      <p:sp>
        <p:nvSpPr>
          <p:cNvPr id="25" name="Rectangle 24"/>
          <p:cNvSpPr/>
          <p:nvPr/>
        </p:nvSpPr>
        <p:spPr>
          <a:xfrm>
            <a:off x="4251959" y="416052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59" y="416052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19" y="4270248"/>
            <a:ext cx="548640" cy="502920"/>
          </a:xfrm>
          <a:prstGeom prst="rect">
            <a:avLst/>
          </a:prstGeom>
          <a:noFill/>
        </p:spPr>
        <p:txBody>
          <a:bodyPr wrap="square">
            <a:spAutoFit/>
          </a:bodyPr>
          <a:lstStyle/>
          <a:p>
            <a:pPr algn="l"/>
            <a:r>
              <a:rPr sz="2200" b="0" i="0">
                <a:solidFill>
                  <a:srgbClr val="1A1A1A"/>
                </a:solidFill>
              </a:rPr>
              <a:t>🔑</a:t>
            </a:r>
          </a:p>
        </p:txBody>
      </p:sp>
      <p:sp>
        <p:nvSpPr>
          <p:cNvPr id="28" name="TextBox 27"/>
          <p:cNvSpPr txBox="1"/>
          <p:nvPr/>
        </p:nvSpPr>
        <p:spPr>
          <a:xfrm>
            <a:off x="4983479" y="4325112"/>
            <a:ext cx="2926080" cy="384048"/>
          </a:xfrm>
          <a:prstGeom prst="rect">
            <a:avLst/>
          </a:prstGeom>
          <a:noFill/>
        </p:spPr>
        <p:txBody>
          <a:bodyPr wrap="square">
            <a:spAutoFit/>
          </a:bodyPr>
          <a:lstStyle/>
          <a:p>
            <a:pPr algn="l"/>
            <a:r>
              <a:rPr sz="1200" b="1" i="0">
                <a:solidFill>
                  <a:srgbClr val="1B6B28"/>
                </a:solidFill>
              </a:rPr>
              <a:t>Delegate Codes</a:t>
            </a:r>
          </a:p>
        </p:txBody>
      </p:sp>
      <p:sp>
        <p:nvSpPr>
          <p:cNvPr id="29" name="TextBox 28"/>
          <p:cNvSpPr txBox="1"/>
          <p:nvPr/>
        </p:nvSpPr>
        <p:spPr>
          <a:xfrm>
            <a:off x="4389119" y="4800600"/>
            <a:ext cx="3474720" cy="1508760"/>
          </a:xfrm>
          <a:prstGeom prst="rect">
            <a:avLst/>
          </a:prstGeom>
          <a:noFill/>
        </p:spPr>
        <p:txBody>
          <a:bodyPr wrap="square">
            <a:spAutoFit/>
          </a:bodyPr>
          <a:lstStyle/>
          <a:p>
            <a:pPr algn="l"/>
            <a:r>
              <a:rPr sz="950" b="0" i="0">
                <a:solidFill>
                  <a:srgbClr val="555555"/>
                </a:solidFill>
              </a:rPr>
              <a:t>Single-use, time-limited (10 min) codes for sharing team access.
Stored in Supabase and deleted immediately on first successful claim.
No persistent credentials shared — codes cannot be replayed.</a:t>
            </a:r>
          </a:p>
        </p:txBody>
      </p:sp>
      <p:sp>
        <p:nvSpPr>
          <p:cNvPr id="30" name="Rectangle 29"/>
          <p:cNvSpPr/>
          <p:nvPr/>
        </p:nvSpPr>
        <p:spPr>
          <a:xfrm>
            <a:off x="8183879" y="4160520"/>
            <a:ext cx="3749039" cy="2286000"/>
          </a:xfrm>
          <a:prstGeom prst="rect">
            <a:avLst/>
          </a:prstGeom>
          <a:solidFill>
            <a:srgbClr val="FFFFFF"/>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4160520"/>
            <a:ext cx="3749039" cy="54864"/>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4270248"/>
            <a:ext cx="548640" cy="502920"/>
          </a:xfrm>
          <a:prstGeom prst="rect">
            <a:avLst/>
          </a:prstGeom>
          <a:noFill/>
        </p:spPr>
        <p:txBody>
          <a:bodyPr wrap="square">
            <a:spAutoFit/>
          </a:bodyPr>
          <a:lstStyle/>
          <a:p>
            <a:pPr algn="l"/>
            <a:r>
              <a:rPr sz="2200" b="0" i="0">
                <a:solidFill>
                  <a:srgbClr val="1A1A1A"/>
                </a:solidFill>
              </a:rPr>
              <a:t>📵</a:t>
            </a:r>
          </a:p>
        </p:txBody>
      </p:sp>
      <p:sp>
        <p:nvSpPr>
          <p:cNvPr id="33" name="TextBox 32"/>
          <p:cNvSpPr txBox="1"/>
          <p:nvPr/>
        </p:nvSpPr>
        <p:spPr>
          <a:xfrm>
            <a:off x="8915399" y="4325112"/>
            <a:ext cx="2926080" cy="384048"/>
          </a:xfrm>
          <a:prstGeom prst="rect">
            <a:avLst/>
          </a:prstGeom>
          <a:noFill/>
        </p:spPr>
        <p:txBody>
          <a:bodyPr wrap="square">
            <a:spAutoFit/>
          </a:bodyPr>
          <a:lstStyle/>
          <a:p>
            <a:pPr algn="l"/>
            <a:r>
              <a:rPr sz="1200" b="1" i="0">
                <a:solidFill>
                  <a:srgbClr val="1B6B28"/>
                </a:solidFill>
              </a:rPr>
              <a:t>No PII Transmission</a:t>
            </a:r>
          </a:p>
        </p:txBody>
      </p:sp>
      <p:sp>
        <p:nvSpPr>
          <p:cNvPr id="34" name="TextBox 33"/>
          <p:cNvSpPr txBox="1"/>
          <p:nvPr/>
        </p:nvSpPr>
        <p:spPr>
          <a:xfrm>
            <a:off x="8321039" y="4800600"/>
            <a:ext cx="3474720" cy="1508760"/>
          </a:xfrm>
          <a:prstGeom prst="rect">
            <a:avLst/>
          </a:prstGeom>
          <a:noFill/>
        </p:spPr>
        <p:txBody>
          <a:bodyPr wrap="square">
            <a:spAutoFit/>
          </a:bodyPr>
          <a:lstStyle/>
          <a:p>
            <a:pPr algn="l"/>
            <a:r>
              <a:rPr sz="950" b="0" i="0">
                <a:solidFill>
                  <a:srgbClr val="555555"/>
                </a:solidFill>
              </a:rPr>
              <a:t>Player names and match data are never sent to Anthropic or any third party.
Phone numbers are optional and stored locally only.
Cloud tables contain only team metadata and live match scores.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5087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914400"/>
          </a:xfrm>
          <a:prstGeom prst="rect">
            <a:avLst/>
          </a:prstGeom>
          <a:noFill/>
        </p:spPr>
        <p:txBody>
          <a:bodyPr wrap="square">
            <a:spAutoFit/>
          </a:bodyPr>
          <a:lstStyle/>
          <a:p>
            <a:pPr algn="l"/>
            <a:r>
              <a:rPr sz="3000" b="1" i="0">
                <a:solidFill>
                  <a:srgbClr val="FFFFFF"/>
                </a:solidFill>
              </a:rPr>
              <a:t>Product Roadmap</a:t>
            </a:r>
          </a:p>
        </p:txBody>
      </p:sp>
      <p:sp>
        <p:nvSpPr>
          <p:cNvPr id="4" name="TextBox 3"/>
          <p:cNvSpPr txBox="1"/>
          <p:nvPr/>
        </p:nvSpPr>
        <p:spPr>
          <a:xfrm>
            <a:off x="548640" y="914400"/>
            <a:ext cx="10058400" cy="457200"/>
          </a:xfrm>
          <a:prstGeom prst="rect">
            <a:avLst/>
          </a:prstGeom>
          <a:noFill/>
        </p:spPr>
        <p:txBody>
          <a:bodyPr wrap="square">
            <a:spAutoFit/>
          </a:bodyPr>
          <a:lstStyle/>
          <a:p>
            <a:pPr algn="l"/>
            <a:r>
              <a:rPr sz="1300" b="0" i="0">
                <a:solidFill>
                  <a:srgbClr val="FFCCAA"/>
                </a:solidFill>
              </a:rPr>
              <a:t>From foundation to community platform</a:t>
            </a:r>
          </a:p>
        </p:txBody>
      </p:sp>
      <p:sp>
        <p:nvSpPr>
          <p:cNvPr id="5" name="Rectangle 4"/>
          <p:cNvSpPr/>
          <p:nvPr/>
        </p:nvSpPr>
        <p:spPr>
          <a:xfrm>
            <a:off x="320040" y="1691640"/>
            <a:ext cx="3749039" cy="4983480"/>
          </a:xfrm>
          <a:prstGeom prst="rect">
            <a:avLst/>
          </a:prstGeom>
          <a:solidFill>
            <a:srgbClr val="FFFFFF"/>
          </a:solidFill>
          <a:ln w="254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91640"/>
            <a:ext cx="3749039" cy="82296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37360"/>
            <a:ext cx="3474720" cy="320040"/>
          </a:xfrm>
          <a:prstGeom prst="rect">
            <a:avLst/>
          </a:prstGeom>
          <a:noFill/>
        </p:spPr>
        <p:txBody>
          <a:bodyPr wrap="square">
            <a:spAutoFit/>
          </a:bodyPr>
          <a:lstStyle/>
          <a:p>
            <a:pPr algn="l"/>
            <a:r>
              <a:rPr sz="900" b="1" i="0">
                <a:solidFill>
                  <a:srgbClr val="FFFFFF"/>
                </a:solidFill>
              </a:rPr>
              <a:t>Phase 1</a:t>
            </a:r>
          </a:p>
        </p:txBody>
      </p:sp>
      <p:sp>
        <p:nvSpPr>
          <p:cNvPr id="8" name="TextBox 7"/>
          <p:cNvSpPr txBox="1"/>
          <p:nvPr/>
        </p:nvSpPr>
        <p:spPr>
          <a:xfrm>
            <a:off x="457200" y="2011680"/>
            <a:ext cx="3474720" cy="384048"/>
          </a:xfrm>
          <a:prstGeom prst="rect">
            <a:avLst/>
          </a:prstGeom>
          <a:noFill/>
        </p:spPr>
        <p:txBody>
          <a:bodyPr wrap="square">
            <a:spAutoFit/>
          </a:bodyPr>
          <a:lstStyle/>
          <a:p>
            <a:pPr algn="l"/>
            <a:r>
              <a:rPr sz="1400" b="1" i="0">
                <a:solidFill>
                  <a:srgbClr val="FFFFFF"/>
                </a:solidFill>
              </a:rPr>
              <a:t>Foundation</a:t>
            </a:r>
          </a:p>
        </p:txBody>
      </p:sp>
      <p:sp>
        <p:nvSpPr>
          <p:cNvPr id="9" name="Rectangle 8"/>
          <p:cNvSpPr/>
          <p:nvPr/>
        </p:nvSpPr>
        <p:spPr>
          <a:xfrm>
            <a:off x="2148840" y="2423160"/>
            <a:ext cx="1783080" cy="347472"/>
          </a:xfrm>
          <a:prstGeom prst="rect">
            <a:avLst/>
          </a:prstGeom>
          <a:solidFill>
            <a:srgbClr val="EAF7EB"/>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2441448"/>
            <a:ext cx="1783080" cy="292608"/>
          </a:xfrm>
          <a:prstGeom prst="rect">
            <a:avLst/>
          </a:prstGeom>
          <a:noFill/>
        </p:spPr>
        <p:txBody>
          <a:bodyPr wrap="square">
            <a:spAutoFit/>
          </a:bodyPr>
          <a:lstStyle/>
          <a:p>
            <a:pPr algn="ctr"/>
            <a:r>
              <a:rPr sz="800" b="1" i="0">
                <a:solidFill>
                  <a:srgbClr val="1B6B28"/>
                </a:solidFill>
              </a:rPr>
              <a:t>COMPLETE ✓</a:t>
            </a:r>
          </a:p>
        </p:txBody>
      </p:sp>
      <p:sp>
        <p:nvSpPr>
          <p:cNvPr id="11" name="Rectangle 10"/>
          <p:cNvSpPr/>
          <p:nvPr/>
        </p:nvSpPr>
        <p:spPr>
          <a:xfrm>
            <a:off x="502920" y="273405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3200400" cy="502920"/>
          </a:xfrm>
          <a:prstGeom prst="rect">
            <a:avLst/>
          </a:prstGeom>
          <a:noFill/>
        </p:spPr>
        <p:txBody>
          <a:bodyPr wrap="square">
            <a:spAutoFit/>
          </a:bodyPr>
          <a:lstStyle/>
          <a:p>
            <a:pPr algn="l"/>
            <a:r>
              <a:rPr sz="1000" b="0" i="0">
                <a:solidFill>
                  <a:srgbClr val="1A1A1A"/>
                </a:solidFill>
              </a:rPr>
              <a:t>T20, ODI, Test, Custom formats</a:t>
            </a:r>
          </a:p>
        </p:txBody>
      </p:sp>
      <p:sp>
        <p:nvSpPr>
          <p:cNvPr id="13" name="Rectangle 12"/>
          <p:cNvSpPr/>
          <p:nvPr/>
        </p:nvSpPr>
        <p:spPr>
          <a:xfrm>
            <a:off x="502920" y="328269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54680"/>
            <a:ext cx="3200400" cy="502920"/>
          </a:xfrm>
          <a:prstGeom prst="rect">
            <a:avLst/>
          </a:prstGeom>
          <a:noFill/>
        </p:spPr>
        <p:txBody>
          <a:bodyPr wrap="square">
            <a:spAutoFit/>
          </a:bodyPr>
          <a:lstStyle/>
          <a:p>
            <a:pPr algn="l"/>
            <a:r>
              <a:rPr sz="1000" b="0" i="0">
                <a:solidFill>
                  <a:srgbClr val="1A1A1A"/>
                </a:solidFill>
              </a:rPr>
              <a:t>Ball-by-ball scoring + undo</a:t>
            </a:r>
          </a:p>
        </p:txBody>
      </p:sp>
      <p:sp>
        <p:nvSpPr>
          <p:cNvPr id="15" name="Rectangle 14"/>
          <p:cNvSpPr/>
          <p:nvPr/>
        </p:nvSpPr>
        <p:spPr>
          <a:xfrm>
            <a:off x="502920" y="383133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03320"/>
            <a:ext cx="3200400" cy="502920"/>
          </a:xfrm>
          <a:prstGeom prst="rect">
            <a:avLst/>
          </a:prstGeom>
          <a:noFill/>
        </p:spPr>
        <p:txBody>
          <a:bodyPr wrap="square">
            <a:spAutoFit/>
          </a:bodyPr>
          <a:lstStyle/>
          <a:p>
            <a:pPr algn="l"/>
            <a:r>
              <a:rPr sz="1000" b="0" i="0">
                <a:solidFill>
                  <a:srgbClr val="1A1A1A"/>
                </a:solidFill>
              </a:rPr>
              <a:t>All dismissal types + free hit</a:t>
            </a:r>
          </a:p>
        </p:txBody>
      </p:sp>
      <p:sp>
        <p:nvSpPr>
          <p:cNvPr id="17" name="Rectangle 16"/>
          <p:cNvSpPr/>
          <p:nvPr/>
        </p:nvSpPr>
        <p:spPr>
          <a:xfrm>
            <a:off x="502920" y="437997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251960"/>
            <a:ext cx="3200400" cy="502920"/>
          </a:xfrm>
          <a:prstGeom prst="rect">
            <a:avLst/>
          </a:prstGeom>
          <a:noFill/>
        </p:spPr>
        <p:txBody>
          <a:bodyPr wrap="square">
            <a:spAutoFit/>
          </a:bodyPr>
          <a:lstStyle/>
          <a:p>
            <a:pPr algn="l"/>
            <a:r>
              <a:rPr sz="1000" b="0" i="0">
                <a:solidFill>
                  <a:srgbClr val="1A1A1A"/>
                </a:solidFill>
              </a:rPr>
              <a:t>Team + player management</a:t>
            </a:r>
          </a:p>
        </p:txBody>
      </p:sp>
      <p:sp>
        <p:nvSpPr>
          <p:cNvPr id="19" name="Rectangle 18"/>
          <p:cNvSpPr/>
          <p:nvPr/>
        </p:nvSpPr>
        <p:spPr>
          <a:xfrm>
            <a:off x="502920" y="492861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00600"/>
            <a:ext cx="3200400" cy="502920"/>
          </a:xfrm>
          <a:prstGeom prst="rect">
            <a:avLst/>
          </a:prstGeom>
          <a:noFill/>
        </p:spPr>
        <p:txBody>
          <a:bodyPr wrap="square">
            <a:spAutoFit/>
          </a:bodyPr>
          <a:lstStyle/>
          <a:p>
            <a:pPr algn="l"/>
            <a:r>
              <a:rPr sz="1000" b="0" i="0">
                <a:solidFill>
                  <a:srgbClr val="1A1A1A"/>
                </a:solidFill>
              </a:rPr>
              <a:t>Full scorecard + partnerships</a:t>
            </a:r>
          </a:p>
        </p:txBody>
      </p:sp>
      <p:sp>
        <p:nvSpPr>
          <p:cNvPr id="21" name="Rectangle 20"/>
          <p:cNvSpPr/>
          <p:nvPr/>
        </p:nvSpPr>
        <p:spPr>
          <a:xfrm>
            <a:off x="502920" y="547725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349240"/>
            <a:ext cx="3200400" cy="502920"/>
          </a:xfrm>
          <a:prstGeom prst="rect">
            <a:avLst/>
          </a:prstGeom>
          <a:noFill/>
        </p:spPr>
        <p:txBody>
          <a:bodyPr wrap="square">
            <a:spAutoFit/>
          </a:bodyPr>
          <a:lstStyle/>
          <a:p>
            <a:pPr algn="l"/>
            <a:r>
              <a:rPr sz="1000" b="0" i="0">
                <a:solidFill>
                  <a:srgbClr val="1A1A1A"/>
                </a:solidFill>
              </a:rPr>
              <a:t>Career stats (batting + bowling)</a:t>
            </a:r>
          </a:p>
        </p:txBody>
      </p:sp>
      <p:sp>
        <p:nvSpPr>
          <p:cNvPr id="23" name="Rectangle 22"/>
          <p:cNvSpPr/>
          <p:nvPr/>
        </p:nvSpPr>
        <p:spPr>
          <a:xfrm>
            <a:off x="502920" y="6025895"/>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897879"/>
            <a:ext cx="3200400" cy="502920"/>
          </a:xfrm>
          <a:prstGeom prst="rect">
            <a:avLst/>
          </a:prstGeom>
          <a:noFill/>
        </p:spPr>
        <p:txBody>
          <a:bodyPr wrap="square">
            <a:spAutoFit/>
          </a:bodyPr>
          <a:lstStyle/>
          <a:p>
            <a:pPr algn="l"/>
            <a:r>
              <a:rPr sz="1000" b="0" i="0">
                <a:solidFill>
                  <a:srgbClr val="1A1A1A"/>
                </a:solidFill>
              </a:rPr>
              <a:t>SQLite + localStorage persistence</a:t>
            </a:r>
          </a:p>
        </p:txBody>
      </p:sp>
      <p:sp>
        <p:nvSpPr>
          <p:cNvPr id="25" name="Rectangle 24"/>
          <p:cNvSpPr/>
          <p:nvPr/>
        </p:nvSpPr>
        <p:spPr>
          <a:xfrm>
            <a:off x="502920" y="6574536"/>
            <a:ext cx="128016" cy="128016"/>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446520"/>
            <a:ext cx="3200400" cy="502920"/>
          </a:xfrm>
          <a:prstGeom prst="rect">
            <a:avLst/>
          </a:prstGeom>
          <a:noFill/>
        </p:spPr>
        <p:txBody>
          <a:bodyPr wrap="square">
            <a:spAutoFit/>
          </a:bodyPr>
          <a:lstStyle/>
          <a:p>
            <a:pPr algn="l"/>
            <a:r>
              <a:rPr sz="1000" b="0" i="0">
                <a:solidFill>
                  <a:srgbClr val="1A1A1A"/>
                </a:solidFill>
              </a:rPr>
              <a:t>150+ unit + functional tests</a:t>
            </a:r>
          </a:p>
        </p:txBody>
      </p:sp>
      <p:sp>
        <p:nvSpPr>
          <p:cNvPr id="27" name="Rectangle 26"/>
          <p:cNvSpPr/>
          <p:nvPr/>
        </p:nvSpPr>
        <p:spPr>
          <a:xfrm>
            <a:off x="4251959" y="1691640"/>
            <a:ext cx="3749039" cy="4983480"/>
          </a:xfrm>
          <a:prstGeom prst="rect">
            <a:avLst/>
          </a:prstGeom>
          <a:solidFill>
            <a:srgbClr val="FFFFFF"/>
          </a:solidFill>
          <a:ln w="25400">
            <a:solidFill>
              <a:srgbClr val="0069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51959" y="1691640"/>
            <a:ext cx="3749039" cy="82296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19" y="1737360"/>
            <a:ext cx="3474720" cy="320040"/>
          </a:xfrm>
          <a:prstGeom prst="rect">
            <a:avLst/>
          </a:prstGeom>
          <a:noFill/>
        </p:spPr>
        <p:txBody>
          <a:bodyPr wrap="square">
            <a:spAutoFit/>
          </a:bodyPr>
          <a:lstStyle/>
          <a:p>
            <a:pPr algn="l"/>
            <a:r>
              <a:rPr sz="900" b="1" i="0">
                <a:solidFill>
                  <a:srgbClr val="FFFFFF"/>
                </a:solidFill>
              </a:rPr>
              <a:t>Phase 2</a:t>
            </a:r>
          </a:p>
        </p:txBody>
      </p:sp>
      <p:sp>
        <p:nvSpPr>
          <p:cNvPr id="30" name="TextBox 29"/>
          <p:cNvSpPr txBox="1"/>
          <p:nvPr/>
        </p:nvSpPr>
        <p:spPr>
          <a:xfrm>
            <a:off x="4389119" y="2011680"/>
            <a:ext cx="3474720" cy="384048"/>
          </a:xfrm>
          <a:prstGeom prst="rect">
            <a:avLst/>
          </a:prstGeom>
          <a:noFill/>
        </p:spPr>
        <p:txBody>
          <a:bodyPr wrap="square">
            <a:spAutoFit/>
          </a:bodyPr>
          <a:lstStyle/>
          <a:p>
            <a:pPr algn="l"/>
            <a:r>
              <a:rPr sz="1400" b="1" i="0">
                <a:solidFill>
                  <a:srgbClr val="FFFFFF"/>
                </a:solidFill>
              </a:rPr>
              <a:t>Cloud &amp; Community</a:t>
            </a:r>
          </a:p>
        </p:txBody>
      </p:sp>
      <p:sp>
        <p:nvSpPr>
          <p:cNvPr id="31" name="Rectangle 30"/>
          <p:cNvSpPr/>
          <p:nvPr/>
        </p:nvSpPr>
        <p:spPr>
          <a:xfrm>
            <a:off x="6080759" y="2423160"/>
            <a:ext cx="1783080" cy="347472"/>
          </a:xfrm>
          <a:prstGeom prst="rect">
            <a:avLst/>
          </a:prstGeom>
          <a:solidFill>
            <a:srgbClr val="EAF7EB"/>
          </a:solidFill>
          <a:ln w="12700">
            <a:solidFill>
              <a:srgbClr val="1B6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59" y="2441448"/>
            <a:ext cx="1783080" cy="292608"/>
          </a:xfrm>
          <a:prstGeom prst="rect">
            <a:avLst/>
          </a:prstGeom>
          <a:noFill/>
        </p:spPr>
        <p:txBody>
          <a:bodyPr wrap="square">
            <a:spAutoFit/>
          </a:bodyPr>
          <a:lstStyle/>
          <a:p>
            <a:pPr algn="ctr"/>
            <a:r>
              <a:rPr sz="800" b="1" i="0">
                <a:solidFill>
                  <a:srgbClr val="1B6B28"/>
                </a:solidFill>
              </a:rPr>
              <a:t>COMPLETE ✓</a:t>
            </a:r>
          </a:p>
        </p:txBody>
      </p:sp>
      <p:sp>
        <p:nvSpPr>
          <p:cNvPr id="33" name="Rectangle 32"/>
          <p:cNvSpPr/>
          <p:nvPr/>
        </p:nvSpPr>
        <p:spPr>
          <a:xfrm>
            <a:off x="4434839" y="273405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39" y="2606040"/>
            <a:ext cx="3200400" cy="502920"/>
          </a:xfrm>
          <a:prstGeom prst="rect">
            <a:avLst/>
          </a:prstGeom>
          <a:noFill/>
        </p:spPr>
        <p:txBody>
          <a:bodyPr wrap="square">
            <a:spAutoFit/>
          </a:bodyPr>
          <a:lstStyle/>
          <a:p>
            <a:pPr algn="l"/>
            <a:r>
              <a:rPr sz="1000" b="0" i="0">
                <a:solidFill>
                  <a:srgbClr val="1A1A1A"/>
                </a:solidFill>
              </a:rPr>
              <a:t>Supabase cloud sync</a:t>
            </a:r>
          </a:p>
        </p:txBody>
      </p:sp>
      <p:sp>
        <p:nvSpPr>
          <p:cNvPr id="35" name="Rectangle 34"/>
          <p:cNvSpPr/>
          <p:nvPr/>
        </p:nvSpPr>
        <p:spPr>
          <a:xfrm>
            <a:off x="4434839" y="328269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39" y="3154680"/>
            <a:ext cx="3200400" cy="502920"/>
          </a:xfrm>
          <a:prstGeom prst="rect">
            <a:avLst/>
          </a:prstGeom>
          <a:noFill/>
        </p:spPr>
        <p:txBody>
          <a:bodyPr wrap="square">
            <a:spAutoFit/>
          </a:bodyPr>
          <a:lstStyle/>
          <a:p>
            <a:pPr algn="l"/>
            <a:r>
              <a:rPr sz="1000" b="0" i="0">
                <a:solidFill>
                  <a:srgbClr val="1A1A1A"/>
                </a:solidFill>
              </a:rPr>
              <a:t>Live match scores (50-mile broadcast)</a:t>
            </a:r>
          </a:p>
        </p:txBody>
      </p:sp>
      <p:sp>
        <p:nvSpPr>
          <p:cNvPr id="37" name="Rectangle 36"/>
          <p:cNvSpPr/>
          <p:nvPr/>
        </p:nvSpPr>
        <p:spPr>
          <a:xfrm>
            <a:off x="4434839" y="383133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39" y="3703320"/>
            <a:ext cx="3200400" cy="502920"/>
          </a:xfrm>
          <a:prstGeom prst="rect">
            <a:avLst/>
          </a:prstGeom>
          <a:noFill/>
        </p:spPr>
        <p:txBody>
          <a:bodyPr wrap="square">
            <a:spAutoFit/>
          </a:bodyPr>
          <a:lstStyle/>
          <a:p>
            <a:pPr algn="l"/>
            <a:r>
              <a:rPr sz="1000" b="0" i="0">
                <a:solidFill>
                  <a:srgbClr val="1A1A1A"/>
                </a:solidFill>
              </a:rPr>
              <a:t>Real-time team chat</a:t>
            </a:r>
          </a:p>
        </p:txBody>
      </p:sp>
      <p:sp>
        <p:nvSpPr>
          <p:cNvPr id="39" name="Rectangle 38"/>
          <p:cNvSpPr/>
          <p:nvPr/>
        </p:nvSpPr>
        <p:spPr>
          <a:xfrm>
            <a:off x="4434839" y="437997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63439" y="4251960"/>
            <a:ext cx="3200400" cy="502920"/>
          </a:xfrm>
          <a:prstGeom prst="rect">
            <a:avLst/>
          </a:prstGeom>
          <a:noFill/>
        </p:spPr>
        <p:txBody>
          <a:bodyPr wrap="square">
            <a:spAutoFit/>
          </a:bodyPr>
          <a:lstStyle/>
          <a:p>
            <a:pPr algn="l"/>
            <a:r>
              <a:rPr sz="1000" b="0" i="0">
                <a:solidFill>
                  <a:srgbClr val="1A1A1A"/>
                </a:solidFill>
              </a:rPr>
              <a:t>Delegate team access codes</a:t>
            </a:r>
          </a:p>
        </p:txBody>
      </p:sp>
      <p:sp>
        <p:nvSpPr>
          <p:cNvPr id="41" name="Rectangle 40"/>
          <p:cNvSpPr/>
          <p:nvPr/>
        </p:nvSpPr>
        <p:spPr>
          <a:xfrm>
            <a:off x="4434839" y="492861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63439" y="4800600"/>
            <a:ext cx="3200400" cy="502920"/>
          </a:xfrm>
          <a:prstGeom prst="rect">
            <a:avLst/>
          </a:prstGeom>
          <a:noFill/>
        </p:spPr>
        <p:txBody>
          <a:bodyPr wrap="square">
            <a:spAutoFit/>
          </a:bodyPr>
          <a:lstStyle/>
          <a:p>
            <a:pPr algn="l"/>
            <a:r>
              <a:rPr sz="1000" b="0" i="0">
                <a:solidFill>
                  <a:srgbClr val="1A1A1A"/>
                </a:solidFill>
              </a:rPr>
              <a:t>Leagues + standings</a:t>
            </a:r>
          </a:p>
        </p:txBody>
      </p:sp>
      <p:sp>
        <p:nvSpPr>
          <p:cNvPr id="43" name="Rectangle 42"/>
          <p:cNvSpPr/>
          <p:nvPr/>
        </p:nvSpPr>
        <p:spPr>
          <a:xfrm>
            <a:off x="4434839" y="547725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3439" y="5349240"/>
            <a:ext cx="3200400" cy="502920"/>
          </a:xfrm>
          <a:prstGeom prst="rect">
            <a:avLst/>
          </a:prstGeom>
          <a:noFill/>
        </p:spPr>
        <p:txBody>
          <a:bodyPr wrap="square">
            <a:spAutoFit/>
          </a:bodyPr>
          <a:lstStyle/>
          <a:p>
            <a:pPr algn="l"/>
            <a:r>
              <a:rPr sz="1000" b="0" i="0">
                <a:solidFill>
                  <a:srgbClr val="1A1A1A"/>
                </a:solidFill>
              </a:rPr>
              <a:t>Admin PIN (SHA-256)</a:t>
            </a:r>
          </a:p>
        </p:txBody>
      </p:sp>
      <p:sp>
        <p:nvSpPr>
          <p:cNvPr id="45" name="Rectangle 44"/>
          <p:cNvSpPr/>
          <p:nvPr/>
        </p:nvSpPr>
        <p:spPr>
          <a:xfrm>
            <a:off x="4434839" y="6025895"/>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63439" y="5897879"/>
            <a:ext cx="3200400" cy="502920"/>
          </a:xfrm>
          <a:prstGeom prst="rect">
            <a:avLst/>
          </a:prstGeom>
          <a:noFill/>
        </p:spPr>
        <p:txBody>
          <a:bodyPr wrap="square">
            <a:spAutoFit/>
          </a:bodyPr>
          <a:lstStyle/>
          <a:p>
            <a:pPr algn="l"/>
            <a:r>
              <a:rPr sz="1000" b="0" i="0">
                <a:solidFill>
                  <a:srgbClr val="1A1A1A"/>
                </a:solidFill>
              </a:rPr>
              <a:t>Dark mode + MD3 theme</a:t>
            </a:r>
          </a:p>
        </p:txBody>
      </p:sp>
      <p:sp>
        <p:nvSpPr>
          <p:cNvPr id="47" name="Rectangle 46"/>
          <p:cNvSpPr/>
          <p:nvPr/>
        </p:nvSpPr>
        <p:spPr>
          <a:xfrm>
            <a:off x="4434839" y="6574536"/>
            <a:ext cx="128016" cy="128016"/>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63439" y="6446520"/>
            <a:ext cx="3200400" cy="502920"/>
          </a:xfrm>
          <a:prstGeom prst="rect">
            <a:avLst/>
          </a:prstGeom>
          <a:noFill/>
        </p:spPr>
        <p:txBody>
          <a:bodyPr wrap="square">
            <a:spAutoFit/>
          </a:bodyPr>
          <a:lstStyle/>
          <a:p>
            <a:pPr algn="l"/>
            <a:r>
              <a:rPr sz="1000" b="0" i="0">
                <a:solidFill>
                  <a:srgbClr val="1A1A1A"/>
                </a:solidFill>
              </a:rPr>
              <a:t>Expo Router navigation</a:t>
            </a:r>
          </a:p>
        </p:txBody>
      </p:sp>
      <p:sp>
        <p:nvSpPr>
          <p:cNvPr id="49" name="Rectangle 48"/>
          <p:cNvSpPr/>
          <p:nvPr/>
        </p:nvSpPr>
        <p:spPr>
          <a:xfrm>
            <a:off x="8183879" y="1691640"/>
            <a:ext cx="3749039" cy="4983480"/>
          </a:xfrm>
          <a:prstGeom prst="rect">
            <a:avLst/>
          </a:prstGeom>
          <a:solidFill>
            <a:srgbClr val="FFFFFF"/>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183879" y="1691640"/>
            <a:ext cx="3749039" cy="8229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21039" y="1737360"/>
            <a:ext cx="3474720" cy="320040"/>
          </a:xfrm>
          <a:prstGeom prst="rect">
            <a:avLst/>
          </a:prstGeom>
          <a:noFill/>
        </p:spPr>
        <p:txBody>
          <a:bodyPr wrap="square">
            <a:spAutoFit/>
          </a:bodyPr>
          <a:lstStyle/>
          <a:p>
            <a:pPr algn="l"/>
            <a:r>
              <a:rPr sz="900" b="1" i="0">
                <a:solidFill>
                  <a:srgbClr val="FFFFFF"/>
                </a:solidFill>
              </a:rPr>
              <a:t>Phase 3</a:t>
            </a:r>
          </a:p>
        </p:txBody>
      </p:sp>
      <p:sp>
        <p:nvSpPr>
          <p:cNvPr id="52" name="TextBox 51"/>
          <p:cNvSpPr txBox="1"/>
          <p:nvPr/>
        </p:nvSpPr>
        <p:spPr>
          <a:xfrm>
            <a:off x="8321039" y="2011680"/>
            <a:ext cx="3474720" cy="384048"/>
          </a:xfrm>
          <a:prstGeom prst="rect">
            <a:avLst/>
          </a:prstGeom>
          <a:noFill/>
        </p:spPr>
        <p:txBody>
          <a:bodyPr wrap="square">
            <a:spAutoFit/>
          </a:bodyPr>
          <a:lstStyle/>
          <a:p>
            <a:pPr algn="l"/>
            <a:r>
              <a:rPr sz="1400" b="1" i="0">
                <a:solidFill>
                  <a:srgbClr val="FFFFFF"/>
                </a:solidFill>
              </a:rPr>
              <a:t>Growth</a:t>
            </a:r>
          </a:p>
        </p:txBody>
      </p:sp>
      <p:sp>
        <p:nvSpPr>
          <p:cNvPr id="53" name="Rectangle 52"/>
          <p:cNvSpPr/>
          <p:nvPr/>
        </p:nvSpPr>
        <p:spPr>
          <a:xfrm>
            <a:off x="10012679" y="2423160"/>
            <a:ext cx="1783080" cy="347472"/>
          </a:xfrm>
          <a:prstGeom prst="rect">
            <a:avLst/>
          </a:prstGeom>
          <a:solidFill>
            <a:srgbClr val="FFFFFF"/>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012679" y="2441448"/>
            <a:ext cx="1783080" cy="292608"/>
          </a:xfrm>
          <a:prstGeom prst="rect">
            <a:avLst/>
          </a:prstGeom>
          <a:noFill/>
        </p:spPr>
        <p:txBody>
          <a:bodyPr wrap="square">
            <a:spAutoFit/>
          </a:bodyPr>
          <a:lstStyle/>
          <a:p>
            <a:pPr algn="ctr"/>
            <a:r>
              <a:rPr sz="800" b="1" i="0">
                <a:solidFill>
                  <a:srgbClr val="E65100"/>
                </a:solidFill>
              </a:rPr>
              <a:t>UPCOMING</a:t>
            </a:r>
          </a:p>
        </p:txBody>
      </p:sp>
      <p:sp>
        <p:nvSpPr>
          <p:cNvPr id="55" name="Rectangle 54"/>
          <p:cNvSpPr/>
          <p:nvPr/>
        </p:nvSpPr>
        <p:spPr>
          <a:xfrm>
            <a:off x="8366759" y="273405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95359" y="2606040"/>
            <a:ext cx="3200400" cy="502920"/>
          </a:xfrm>
          <a:prstGeom prst="rect">
            <a:avLst/>
          </a:prstGeom>
          <a:noFill/>
        </p:spPr>
        <p:txBody>
          <a:bodyPr wrap="square">
            <a:spAutoFit/>
          </a:bodyPr>
          <a:lstStyle/>
          <a:p>
            <a:pPr algn="l"/>
            <a:r>
              <a:rPr sz="1000" b="0" i="0">
                <a:solidFill>
                  <a:srgbClr val="1A1A1A"/>
                </a:solidFill>
              </a:rPr>
              <a:t>Push notifications (ball alerts)</a:t>
            </a:r>
          </a:p>
        </p:txBody>
      </p:sp>
      <p:sp>
        <p:nvSpPr>
          <p:cNvPr id="57" name="Rectangle 56"/>
          <p:cNvSpPr/>
          <p:nvPr/>
        </p:nvSpPr>
        <p:spPr>
          <a:xfrm>
            <a:off x="8366759" y="328269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95359" y="3154680"/>
            <a:ext cx="3200400" cy="502920"/>
          </a:xfrm>
          <a:prstGeom prst="rect">
            <a:avLst/>
          </a:prstGeom>
          <a:noFill/>
        </p:spPr>
        <p:txBody>
          <a:bodyPr wrap="square">
            <a:spAutoFit/>
          </a:bodyPr>
          <a:lstStyle/>
          <a:p>
            <a:pPr algn="l"/>
            <a:r>
              <a:rPr sz="1000" b="0" i="0">
                <a:solidFill>
                  <a:srgbClr val="1A1A1A"/>
                </a:solidFill>
              </a:rPr>
              <a:t>Match commentary sharing</a:t>
            </a:r>
          </a:p>
        </p:txBody>
      </p:sp>
      <p:sp>
        <p:nvSpPr>
          <p:cNvPr id="59" name="Rectangle 58"/>
          <p:cNvSpPr/>
          <p:nvPr/>
        </p:nvSpPr>
        <p:spPr>
          <a:xfrm>
            <a:off x="8366759" y="383133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5359" y="3703320"/>
            <a:ext cx="3200400" cy="502920"/>
          </a:xfrm>
          <a:prstGeom prst="rect">
            <a:avLst/>
          </a:prstGeom>
          <a:noFill/>
        </p:spPr>
        <p:txBody>
          <a:bodyPr wrap="square">
            <a:spAutoFit/>
          </a:bodyPr>
          <a:lstStyle/>
          <a:p>
            <a:pPr algn="l"/>
            <a:r>
              <a:rPr sz="1000" b="0" i="0">
                <a:solidFill>
                  <a:srgbClr val="1A1A1A"/>
                </a:solidFill>
              </a:rPr>
              <a:t>Photo / media attachments in chat</a:t>
            </a:r>
          </a:p>
        </p:txBody>
      </p:sp>
      <p:sp>
        <p:nvSpPr>
          <p:cNvPr id="61" name="Rectangle 60"/>
          <p:cNvSpPr/>
          <p:nvPr/>
        </p:nvSpPr>
        <p:spPr>
          <a:xfrm>
            <a:off x="8366759" y="437997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595359" y="4251960"/>
            <a:ext cx="3200400" cy="502920"/>
          </a:xfrm>
          <a:prstGeom prst="rect">
            <a:avLst/>
          </a:prstGeom>
          <a:noFill/>
        </p:spPr>
        <p:txBody>
          <a:bodyPr wrap="square">
            <a:spAutoFit/>
          </a:bodyPr>
          <a:lstStyle/>
          <a:p>
            <a:pPr algn="l"/>
            <a:r>
              <a:rPr sz="1000" b="0" i="0">
                <a:solidFill>
                  <a:srgbClr val="1A1A1A"/>
                </a:solidFill>
              </a:rPr>
              <a:t>Tournament bracket visualisation</a:t>
            </a:r>
          </a:p>
        </p:txBody>
      </p:sp>
      <p:sp>
        <p:nvSpPr>
          <p:cNvPr id="63" name="Rectangle 62"/>
          <p:cNvSpPr/>
          <p:nvPr/>
        </p:nvSpPr>
        <p:spPr>
          <a:xfrm>
            <a:off x="8366759" y="492861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95359" y="4800600"/>
            <a:ext cx="3200400" cy="502920"/>
          </a:xfrm>
          <a:prstGeom prst="rect">
            <a:avLst/>
          </a:prstGeom>
          <a:noFill/>
        </p:spPr>
        <p:txBody>
          <a:bodyPr wrap="square">
            <a:spAutoFit/>
          </a:bodyPr>
          <a:lstStyle/>
          <a:p>
            <a:pPr algn="l"/>
            <a:r>
              <a:rPr sz="1000" b="0" i="0">
                <a:solidFill>
                  <a:srgbClr val="1A1A1A"/>
                </a:solidFill>
              </a:rPr>
              <a:t>Landscape scorecard view</a:t>
            </a:r>
          </a:p>
        </p:txBody>
      </p:sp>
      <p:sp>
        <p:nvSpPr>
          <p:cNvPr id="65" name="Rectangle 64"/>
          <p:cNvSpPr/>
          <p:nvPr/>
        </p:nvSpPr>
        <p:spPr>
          <a:xfrm>
            <a:off x="8366759" y="547725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95359" y="5349240"/>
            <a:ext cx="3200400" cy="502920"/>
          </a:xfrm>
          <a:prstGeom prst="rect">
            <a:avLst/>
          </a:prstGeom>
          <a:noFill/>
        </p:spPr>
        <p:txBody>
          <a:bodyPr wrap="square">
            <a:spAutoFit/>
          </a:bodyPr>
          <a:lstStyle/>
          <a:p>
            <a:pPr algn="l"/>
            <a:r>
              <a:rPr sz="1000" b="0" i="0">
                <a:solidFill>
                  <a:srgbClr val="1A1A1A"/>
                </a:solidFill>
              </a:rPr>
              <a:t>Offline map with nearby matches</a:t>
            </a:r>
          </a:p>
        </p:txBody>
      </p:sp>
      <p:sp>
        <p:nvSpPr>
          <p:cNvPr id="67" name="Rectangle 66"/>
          <p:cNvSpPr/>
          <p:nvPr/>
        </p:nvSpPr>
        <p:spPr>
          <a:xfrm>
            <a:off x="8366759" y="6025895"/>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5359" y="5897879"/>
            <a:ext cx="3200400" cy="502920"/>
          </a:xfrm>
          <a:prstGeom prst="rect">
            <a:avLst/>
          </a:prstGeom>
          <a:noFill/>
        </p:spPr>
        <p:txBody>
          <a:bodyPr wrap="square">
            <a:spAutoFit/>
          </a:bodyPr>
          <a:lstStyle/>
          <a:p>
            <a:pPr algn="l"/>
            <a:r>
              <a:rPr sz="1000" b="0" i="0">
                <a:solidFill>
                  <a:srgbClr val="1A1A1A"/>
                </a:solidFill>
              </a:rPr>
              <a:t>Player performance trends</a:t>
            </a:r>
          </a:p>
        </p:txBody>
      </p:sp>
      <p:sp>
        <p:nvSpPr>
          <p:cNvPr id="69" name="Rectangle 68"/>
          <p:cNvSpPr/>
          <p:nvPr/>
        </p:nvSpPr>
        <p:spPr>
          <a:xfrm>
            <a:off x="8366759" y="6574536"/>
            <a:ext cx="128016" cy="128016"/>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95359" y="6446520"/>
            <a:ext cx="3200400" cy="502920"/>
          </a:xfrm>
          <a:prstGeom prst="rect">
            <a:avLst/>
          </a:prstGeom>
          <a:noFill/>
        </p:spPr>
        <p:txBody>
          <a:bodyPr wrap="square">
            <a:spAutoFit/>
          </a:bodyPr>
          <a:lstStyle/>
          <a:p>
            <a:pPr algn="l"/>
            <a:r>
              <a:rPr sz="1000" b="0" i="0">
                <a:solidFill>
                  <a:srgbClr val="1A1A1A"/>
                </a:solidFill>
              </a:rPr>
              <a:t>EAS app store submission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6B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0" y="0"/>
            <a:ext cx="365760" cy="6858000"/>
          </a:xfrm>
          <a:prstGeom prst="rect">
            <a:avLst/>
          </a:prstGeom>
          <a:solidFill>
            <a:srgbClr val="5EBD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31520"/>
            <a:ext cx="4114800" cy="822960"/>
          </a:xfrm>
          <a:prstGeom prst="rect">
            <a:avLst/>
          </a:prstGeom>
          <a:noFill/>
        </p:spPr>
        <p:txBody>
          <a:bodyPr wrap="square">
            <a:spAutoFit/>
          </a:bodyPr>
          <a:lstStyle/>
          <a:p>
            <a:pPr algn="l"/>
            <a:r>
              <a:rPr sz="4200" b="0" i="0">
                <a:solidFill>
                  <a:srgbClr val="FFFFFF"/>
                </a:solidFill>
              </a:rPr>
              <a:t>🏏</a:t>
            </a:r>
          </a:p>
        </p:txBody>
      </p:sp>
      <p:sp>
        <p:nvSpPr>
          <p:cNvPr id="6" name="TextBox 5"/>
          <p:cNvSpPr txBox="1"/>
          <p:nvPr/>
        </p:nvSpPr>
        <p:spPr>
          <a:xfrm>
            <a:off x="457200" y="1463040"/>
            <a:ext cx="4114800" cy="1463040"/>
          </a:xfrm>
          <a:prstGeom prst="rect">
            <a:avLst/>
          </a:prstGeom>
          <a:noFill/>
        </p:spPr>
        <p:txBody>
          <a:bodyPr wrap="square">
            <a:spAutoFit/>
          </a:bodyPr>
          <a:lstStyle/>
          <a:p>
            <a:pPr algn="l"/>
            <a:r>
              <a:rPr sz="3000" b="1" i="0">
                <a:solidFill>
                  <a:srgbClr val="FFFFFF"/>
                </a:solidFill>
              </a:rPr>
              <a:t>Gully Cricket
Scorer</a:t>
            </a:r>
          </a:p>
        </p:txBody>
      </p:sp>
      <p:sp>
        <p:nvSpPr>
          <p:cNvPr id="7" name="TextBox 6"/>
          <p:cNvSpPr txBox="1"/>
          <p:nvPr/>
        </p:nvSpPr>
        <p:spPr>
          <a:xfrm>
            <a:off x="457200" y="3017520"/>
            <a:ext cx="4206240" cy="438912"/>
          </a:xfrm>
          <a:prstGeom prst="rect">
            <a:avLst/>
          </a:prstGeom>
          <a:noFill/>
        </p:spPr>
        <p:txBody>
          <a:bodyPr wrap="square">
            <a:spAutoFit/>
          </a:bodyPr>
          <a:lstStyle/>
          <a:p>
            <a:pPr algn="l"/>
            <a:r>
              <a:rPr sz="1100" b="0" i="0">
                <a:solidFill>
                  <a:srgbClr val="FFFFFF"/>
                </a:solidFill>
              </a:rPr>
              <a:t>✅  ICC-accurate scoring for every format</a:t>
            </a:r>
          </a:p>
        </p:txBody>
      </p:sp>
      <p:sp>
        <p:nvSpPr>
          <p:cNvPr id="8" name="TextBox 7"/>
          <p:cNvSpPr txBox="1"/>
          <p:nvPr/>
        </p:nvSpPr>
        <p:spPr>
          <a:xfrm>
            <a:off x="457200" y="3520439"/>
            <a:ext cx="4206240" cy="438912"/>
          </a:xfrm>
          <a:prstGeom prst="rect">
            <a:avLst/>
          </a:prstGeom>
          <a:noFill/>
        </p:spPr>
        <p:txBody>
          <a:bodyPr wrap="square">
            <a:spAutoFit/>
          </a:bodyPr>
          <a:lstStyle/>
          <a:p>
            <a:pPr algn="l"/>
            <a:r>
              <a:rPr sz="1100" b="0" i="0">
                <a:solidFill>
                  <a:srgbClr val="FFFFFF"/>
                </a:solidFill>
              </a:rPr>
              <a:t>✅  Works completely offline — no internet needed</a:t>
            </a:r>
          </a:p>
        </p:txBody>
      </p:sp>
      <p:sp>
        <p:nvSpPr>
          <p:cNvPr id="9" name="TextBox 8"/>
          <p:cNvSpPr txBox="1"/>
          <p:nvPr/>
        </p:nvSpPr>
        <p:spPr>
          <a:xfrm>
            <a:off x="457200" y="4023360"/>
            <a:ext cx="4206240" cy="438912"/>
          </a:xfrm>
          <a:prstGeom prst="rect">
            <a:avLst/>
          </a:prstGeom>
          <a:noFill/>
        </p:spPr>
        <p:txBody>
          <a:bodyPr wrap="square">
            <a:spAutoFit/>
          </a:bodyPr>
          <a:lstStyle/>
          <a:p>
            <a:pPr algn="l"/>
            <a:r>
              <a:rPr sz="1100" b="0" i="0">
                <a:solidFill>
                  <a:srgbClr val="FFFFFF"/>
                </a:solidFill>
              </a:rPr>
              <a:t>✅  Live scores broadcast to 50-mile radius</a:t>
            </a:r>
          </a:p>
        </p:txBody>
      </p:sp>
      <p:sp>
        <p:nvSpPr>
          <p:cNvPr id="10" name="TextBox 9"/>
          <p:cNvSpPr txBox="1"/>
          <p:nvPr/>
        </p:nvSpPr>
        <p:spPr>
          <a:xfrm>
            <a:off x="457200" y="4526280"/>
            <a:ext cx="4206240" cy="438912"/>
          </a:xfrm>
          <a:prstGeom prst="rect">
            <a:avLst/>
          </a:prstGeom>
          <a:noFill/>
        </p:spPr>
        <p:txBody>
          <a:bodyPr wrap="square">
            <a:spAutoFit/>
          </a:bodyPr>
          <a:lstStyle/>
          <a:p>
            <a:pPr algn="l"/>
            <a:r>
              <a:rPr sz="1100" b="0" i="0">
                <a:solidFill>
                  <a:srgbClr val="FFFFFF"/>
                </a:solidFill>
              </a:rPr>
              <a:t>✅  Teams, leagues, career stats, and chat</a:t>
            </a:r>
          </a:p>
        </p:txBody>
      </p:sp>
      <p:sp>
        <p:nvSpPr>
          <p:cNvPr id="11" name="TextBox 10"/>
          <p:cNvSpPr txBox="1"/>
          <p:nvPr/>
        </p:nvSpPr>
        <p:spPr>
          <a:xfrm>
            <a:off x="457200" y="5029200"/>
            <a:ext cx="4206240" cy="438912"/>
          </a:xfrm>
          <a:prstGeom prst="rect">
            <a:avLst/>
          </a:prstGeom>
          <a:noFill/>
        </p:spPr>
        <p:txBody>
          <a:bodyPr wrap="square">
            <a:spAutoFit/>
          </a:bodyPr>
          <a:lstStyle/>
          <a:p>
            <a:pPr algn="l"/>
            <a:r>
              <a:rPr sz="1100" b="0" i="0">
                <a:solidFill>
                  <a:srgbClr val="FFFFFF"/>
                </a:solidFill>
              </a:rPr>
              <a:t>✅  One codebase — Android, iOS, and Web</a:t>
            </a:r>
          </a:p>
        </p:txBody>
      </p:sp>
      <p:sp>
        <p:nvSpPr>
          <p:cNvPr id="12" name="TextBox 11"/>
          <p:cNvSpPr txBox="1"/>
          <p:nvPr/>
        </p:nvSpPr>
        <p:spPr>
          <a:xfrm>
            <a:off x="457200" y="5532120"/>
            <a:ext cx="4206240" cy="438912"/>
          </a:xfrm>
          <a:prstGeom prst="rect">
            <a:avLst/>
          </a:prstGeom>
          <a:noFill/>
        </p:spPr>
        <p:txBody>
          <a:bodyPr wrap="square">
            <a:spAutoFit/>
          </a:bodyPr>
          <a:lstStyle/>
          <a:p>
            <a:pPr algn="l"/>
            <a:r>
              <a:rPr sz="1100" b="0" i="0">
                <a:solidFill>
                  <a:srgbClr val="FFFFFF"/>
                </a:solidFill>
              </a:rPr>
              <a:t>✅  150+ tests — reliable, rule-accurate engine</a:t>
            </a:r>
          </a:p>
        </p:txBody>
      </p:sp>
      <p:sp>
        <p:nvSpPr>
          <p:cNvPr id="13" name="TextBox 12"/>
          <p:cNvSpPr txBox="1"/>
          <p:nvPr/>
        </p:nvSpPr>
        <p:spPr>
          <a:xfrm>
            <a:off x="457200" y="6035040"/>
            <a:ext cx="4206240" cy="438912"/>
          </a:xfrm>
          <a:prstGeom prst="rect">
            <a:avLst/>
          </a:prstGeom>
          <a:noFill/>
        </p:spPr>
        <p:txBody>
          <a:bodyPr wrap="square">
            <a:spAutoFit/>
          </a:bodyPr>
          <a:lstStyle/>
          <a:p>
            <a:pPr algn="l"/>
            <a:r>
              <a:rPr sz="1100" b="0" i="0">
                <a:solidFill>
                  <a:srgbClr val="FFFFFF"/>
                </a:solidFill>
              </a:rPr>
              <a:t>✅  Open-source stack — zero licensing cost</a:t>
            </a:r>
          </a:p>
        </p:txBody>
      </p:sp>
      <p:sp>
        <p:nvSpPr>
          <p:cNvPr id="14" name="TextBox 13"/>
          <p:cNvSpPr txBox="1"/>
          <p:nvPr/>
        </p:nvSpPr>
        <p:spPr>
          <a:xfrm>
            <a:off x="5349240" y="731520"/>
            <a:ext cx="6217920" cy="594360"/>
          </a:xfrm>
          <a:prstGeom prst="rect">
            <a:avLst/>
          </a:prstGeom>
          <a:noFill/>
        </p:spPr>
        <p:txBody>
          <a:bodyPr wrap="square">
            <a:spAutoFit/>
          </a:bodyPr>
          <a:lstStyle/>
          <a:p>
            <a:pPr algn="l"/>
            <a:r>
              <a:rPr sz="2200" b="1" i="0">
                <a:solidFill>
                  <a:srgbClr val="1B6B28"/>
                </a:solidFill>
              </a:rPr>
              <a:t>By the Numbers</a:t>
            </a:r>
          </a:p>
        </p:txBody>
      </p:sp>
      <p:sp>
        <p:nvSpPr>
          <p:cNvPr id="15" name="Rectangle 14"/>
          <p:cNvSpPr/>
          <p:nvPr/>
        </p:nvSpPr>
        <p:spPr>
          <a:xfrm>
            <a:off x="5349240" y="141732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1472184"/>
            <a:ext cx="2651760" cy="475488"/>
          </a:xfrm>
          <a:prstGeom prst="rect">
            <a:avLst/>
          </a:prstGeom>
          <a:noFill/>
        </p:spPr>
        <p:txBody>
          <a:bodyPr wrap="square">
            <a:spAutoFit/>
          </a:bodyPr>
          <a:lstStyle/>
          <a:p>
            <a:pPr algn="ctr"/>
            <a:r>
              <a:rPr sz="2600" b="1" i="0">
                <a:solidFill>
                  <a:srgbClr val="1B6B28"/>
                </a:solidFill>
              </a:rPr>
              <a:t>5</a:t>
            </a:r>
          </a:p>
        </p:txBody>
      </p:sp>
      <p:sp>
        <p:nvSpPr>
          <p:cNvPr id="17" name="TextBox 16"/>
          <p:cNvSpPr txBox="1"/>
          <p:nvPr/>
        </p:nvSpPr>
        <p:spPr>
          <a:xfrm>
            <a:off x="5440680" y="1965960"/>
            <a:ext cx="2743200" cy="347472"/>
          </a:xfrm>
          <a:prstGeom prst="rect">
            <a:avLst/>
          </a:prstGeom>
          <a:noFill/>
        </p:spPr>
        <p:txBody>
          <a:bodyPr wrap="square">
            <a:spAutoFit/>
          </a:bodyPr>
          <a:lstStyle/>
          <a:p>
            <a:pPr algn="ctr"/>
            <a:r>
              <a:rPr sz="900" b="0" i="0">
                <a:solidFill>
                  <a:srgbClr val="555555"/>
                </a:solidFill>
              </a:rPr>
              <a:t>Bottom navigation tabs</a:t>
            </a:r>
          </a:p>
        </p:txBody>
      </p:sp>
      <p:sp>
        <p:nvSpPr>
          <p:cNvPr id="18" name="Rectangle 17"/>
          <p:cNvSpPr/>
          <p:nvPr/>
        </p:nvSpPr>
        <p:spPr>
          <a:xfrm>
            <a:off x="8549640" y="141732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1472184"/>
            <a:ext cx="2651760" cy="475488"/>
          </a:xfrm>
          <a:prstGeom prst="rect">
            <a:avLst/>
          </a:prstGeom>
          <a:noFill/>
        </p:spPr>
        <p:txBody>
          <a:bodyPr wrap="square">
            <a:spAutoFit/>
          </a:bodyPr>
          <a:lstStyle/>
          <a:p>
            <a:pPr algn="ctr"/>
            <a:r>
              <a:rPr sz="2600" b="1" i="0">
                <a:solidFill>
                  <a:srgbClr val="1B6B28"/>
                </a:solidFill>
              </a:rPr>
              <a:t>4</a:t>
            </a:r>
          </a:p>
        </p:txBody>
      </p:sp>
      <p:sp>
        <p:nvSpPr>
          <p:cNvPr id="20" name="TextBox 19"/>
          <p:cNvSpPr txBox="1"/>
          <p:nvPr/>
        </p:nvSpPr>
        <p:spPr>
          <a:xfrm>
            <a:off x="8641080" y="1965960"/>
            <a:ext cx="2743200" cy="347472"/>
          </a:xfrm>
          <a:prstGeom prst="rect">
            <a:avLst/>
          </a:prstGeom>
          <a:noFill/>
        </p:spPr>
        <p:txBody>
          <a:bodyPr wrap="square">
            <a:spAutoFit/>
          </a:bodyPr>
          <a:lstStyle/>
          <a:p>
            <a:pPr algn="ctr"/>
            <a:r>
              <a:rPr sz="900" b="0" i="0">
                <a:solidFill>
                  <a:srgbClr val="555555"/>
                </a:solidFill>
              </a:rPr>
              <a:t>Match formats supported</a:t>
            </a:r>
          </a:p>
        </p:txBody>
      </p:sp>
      <p:sp>
        <p:nvSpPr>
          <p:cNvPr id="21" name="Rectangle 20"/>
          <p:cNvSpPr/>
          <p:nvPr/>
        </p:nvSpPr>
        <p:spPr>
          <a:xfrm>
            <a:off x="5349240" y="260604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0" y="2660904"/>
            <a:ext cx="2651760" cy="475488"/>
          </a:xfrm>
          <a:prstGeom prst="rect">
            <a:avLst/>
          </a:prstGeom>
          <a:noFill/>
        </p:spPr>
        <p:txBody>
          <a:bodyPr wrap="square">
            <a:spAutoFit/>
          </a:bodyPr>
          <a:lstStyle/>
          <a:p>
            <a:pPr algn="ctr"/>
            <a:r>
              <a:rPr sz="2600" b="1" i="0">
                <a:solidFill>
                  <a:srgbClr val="1B6B28"/>
                </a:solidFill>
              </a:rPr>
              <a:t>12</a:t>
            </a:r>
          </a:p>
        </p:txBody>
      </p:sp>
      <p:sp>
        <p:nvSpPr>
          <p:cNvPr id="23" name="TextBox 22"/>
          <p:cNvSpPr txBox="1"/>
          <p:nvPr/>
        </p:nvSpPr>
        <p:spPr>
          <a:xfrm>
            <a:off x="5440680" y="3154680"/>
            <a:ext cx="2743200" cy="347472"/>
          </a:xfrm>
          <a:prstGeom prst="rect">
            <a:avLst/>
          </a:prstGeom>
          <a:noFill/>
        </p:spPr>
        <p:txBody>
          <a:bodyPr wrap="square">
            <a:spAutoFit/>
          </a:bodyPr>
          <a:lstStyle/>
          <a:p>
            <a:pPr algn="ctr"/>
            <a:r>
              <a:rPr sz="900" b="0" i="0">
                <a:solidFill>
                  <a:srgbClr val="555555"/>
                </a:solidFill>
              </a:rPr>
              <a:t>Dismissal types handled</a:t>
            </a:r>
          </a:p>
        </p:txBody>
      </p:sp>
      <p:sp>
        <p:nvSpPr>
          <p:cNvPr id="24" name="Rectangle 23"/>
          <p:cNvSpPr/>
          <p:nvPr/>
        </p:nvSpPr>
        <p:spPr>
          <a:xfrm>
            <a:off x="8549640" y="260604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0" y="2660904"/>
            <a:ext cx="2651760" cy="475488"/>
          </a:xfrm>
          <a:prstGeom prst="rect">
            <a:avLst/>
          </a:prstGeom>
          <a:noFill/>
        </p:spPr>
        <p:txBody>
          <a:bodyPr wrap="square">
            <a:spAutoFit/>
          </a:bodyPr>
          <a:lstStyle/>
          <a:p>
            <a:pPr algn="ctr"/>
            <a:r>
              <a:rPr sz="2600" b="1" i="0">
                <a:solidFill>
                  <a:srgbClr val="1B6B28"/>
                </a:solidFill>
              </a:rPr>
              <a:t>150+</a:t>
            </a:r>
          </a:p>
        </p:txBody>
      </p:sp>
      <p:sp>
        <p:nvSpPr>
          <p:cNvPr id="26" name="TextBox 25"/>
          <p:cNvSpPr txBox="1"/>
          <p:nvPr/>
        </p:nvSpPr>
        <p:spPr>
          <a:xfrm>
            <a:off x="8641080" y="3154680"/>
            <a:ext cx="2743200" cy="347472"/>
          </a:xfrm>
          <a:prstGeom prst="rect">
            <a:avLst/>
          </a:prstGeom>
          <a:noFill/>
        </p:spPr>
        <p:txBody>
          <a:bodyPr wrap="square">
            <a:spAutoFit/>
          </a:bodyPr>
          <a:lstStyle/>
          <a:p>
            <a:pPr algn="ctr"/>
            <a:r>
              <a:rPr sz="900" b="0" i="0">
                <a:solidFill>
                  <a:srgbClr val="555555"/>
                </a:solidFill>
              </a:rPr>
              <a:t>Engine unit tests</a:t>
            </a:r>
          </a:p>
        </p:txBody>
      </p:sp>
      <p:sp>
        <p:nvSpPr>
          <p:cNvPr id="27" name="Rectangle 26"/>
          <p:cNvSpPr/>
          <p:nvPr/>
        </p:nvSpPr>
        <p:spPr>
          <a:xfrm>
            <a:off x="5349240" y="379476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0" y="3849624"/>
            <a:ext cx="2651760" cy="475488"/>
          </a:xfrm>
          <a:prstGeom prst="rect">
            <a:avLst/>
          </a:prstGeom>
          <a:noFill/>
        </p:spPr>
        <p:txBody>
          <a:bodyPr wrap="square">
            <a:spAutoFit/>
          </a:bodyPr>
          <a:lstStyle/>
          <a:p>
            <a:pPr algn="ctr"/>
            <a:r>
              <a:rPr sz="2600" b="1" i="0">
                <a:solidFill>
                  <a:srgbClr val="1B6B28"/>
                </a:solidFill>
              </a:rPr>
              <a:t>50 mi</a:t>
            </a:r>
          </a:p>
        </p:txBody>
      </p:sp>
      <p:sp>
        <p:nvSpPr>
          <p:cNvPr id="29" name="TextBox 28"/>
          <p:cNvSpPr txBox="1"/>
          <p:nvPr/>
        </p:nvSpPr>
        <p:spPr>
          <a:xfrm>
            <a:off x="5440680" y="4343400"/>
            <a:ext cx="2743200" cy="347472"/>
          </a:xfrm>
          <a:prstGeom prst="rect">
            <a:avLst/>
          </a:prstGeom>
          <a:noFill/>
        </p:spPr>
        <p:txBody>
          <a:bodyPr wrap="square">
            <a:spAutoFit/>
          </a:bodyPr>
          <a:lstStyle/>
          <a:p>
            <a:pPr algn="ctr"/>
            <a:r>
              <a:rPr sz="900" b="0" i="0">
                <a:solidFill>
                  <a:srgbClr val="555555"/>
                </a:solidFill>
              </a:rPr>
              <a:t>Live score broadcast radius</a:t>
            </a:r>
          </a:p>
        </p:txBody>
      </p:sp>
      <p:sp>
        <p:nvSpPr>
          <p:cNvPr id="30" name="Rectangle 29"/>
          <p:cNvSpPr/>
          <p:nvPr/>
        </p:nvSpPr>
        <p:spPr>
          <a:xfrm>
            <a:off x="8549640" y="379476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0" y="3849624"/>
            <a:ext cx="2651760" cy="475488"/>
          </a:xfrm>
          <a:prstGeom prst="rect">
            <a:avLst/>
          </a:prstGeom>
          <a:noFill/>
        </p:spPr>
        <p:txBody>
          <a:bodyPr wrap="square">
            <a:spAutoFit/>
          </a:bodyPr>
          <a:lstStyle/>
          <a:p>
            <a:pPr algn="ctr"/>
            <a:r>
              <a:rPr sz="2600" b="1" i="0">
                <a:solidFill>
                  <a:srgbClr val="1B6B28"/>
                </a:solidFill>
              </a:rPr>
              <a:t>5</a:t>
            </a:r>
          </a:p>
        </p:txBody>
      </p:sp>
      <p:sp>
        <p:nvSpPr>
          <p:cNvPr id="32" name="TextBox 31"/>
          <p:cNvSpPr txBox="1"/>
          <p:nvPr/>
        </p:nvSpPr>
        <p:spPr>
          <a:xfrm>
            <a:off x="8641080" y="4343400"/>
            <a:ext cx="2743200" cy="347472"/>
          </a:xfrm>
          <a:prstGeom prst="rect">
            <a:avLst/>
          </a:prstGeom>
          <a:noFill/>
        </p:spPr>
        <p:txBody>
          <a:bodyPr wrap="square">
            <a:spAutoFit/>
          </a:bodyPr>
          <a:lstStyle/>
          <a:p>
            <a:pPr algn="ctr"/>
            <a:r>
              <a:rPr sz="900" b="0" i="0">
                <a:solidFill>
                  <a:srgbClr val="555555"/>
                </a:solidFill>
              </a:rPr>
              <a:t>Cloud Supabase tables</a:t>
            </a:r>
          </a:p>
        </p:txBody>
      </p:sp>
      <p:sp>
        <p:nvSpPr>
          <p:cNvPr id="33" name="Rectangle 32"/>
          <p:cNvSpPr/>
          <p:nvPr/>
        </p:nvSpPr>
        <p:spPr>
          <a:xfrm>
            <a:off x="5349240" y="498348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0" y="5038344"/>
            <a:ext cx="2651760" cy="475488"/>
          </a:xfrm>
          <a:prstGeom prst="rect">
            <a:avLst/>
          </a:prstGeom>
          <a:noFill/>
        </p:spPr>
        <p:txBody>
          <a:bodyPr wrap="square">
            <a:spAutoFit/>
          </a:bodyPr>
          <a:lstStyle/>
          <a:p>
            <a:pPr algn="ctr"/>
            <a:r>
              <a:rPr sz="2600" b="1" i="0">
                <a:solidFill>
                  <a:srgbClr val="1B6B28"/>
                </a:solidFill>
              </a:rPr>
              <a:t>3</a:t>
            </a:r>
          </a:p>
        </p:txBody>
      </p:sp>
      <p:sp>
        <p:nvSpPr>
          <p:cNvPr id="35" name="TextBox 34"/>
          <p:cNvSpPr txBox="1"/>
          <p:nvPr/>
        </p:nvSpPr>
        <p:spPr>
          <a:xfrm>
            <a:off x="5440680" y="5532120"/>
            <a:ext cx="2743200" cy="347472"/>
          </a:xfrm>
          <a:prstGeom prst="rect">
            <a:avLst/>
          </a:prstGeom>
          <a:noFill/>
        </p:spPr>
        <p:txBody>
          <a:bodyPr wrap="square">
            <a:spAutoFit/>
          </a:bodyPr>
          <a:lstStyle/>
          <a:p>
            <a:pPr algn="ctr"/>
            <a:r>
              <a:rPr sz="900" b="0" i="0">
                <a:solidFill>
                  <a:srgbClr val="555555"/>
                </a:solidFill>
              </a:rPr>
              <a:t>Supported platforms</a:t>
            </a:r>
          </a:p>
        </p:txBody>
      </p:sp>
      <p:sp>
        <p:nvSpPr>
          <p:cNvPr id="36" name="Rectangle 35"/>
          <p:cNvSpPr/>
          <p:nvPr/>
        </p:nvSpPr>
        <p:spPr>
          <a:xfrm>
            <a:off x="8549640" y="4983480"/>
            <a:ext cx="2926080" cy="1005840"/>
          </a:xfrm>
          <a:prstGeom prst="rect">
            <a:avLst/>
          </a:prstGeom>
          <a:solidFill>
            <a:srgbClr val="EAF7EB"/>
          </a:solidFill>
          <a:ln w="6350">
            <a:solidFill>
              <a:srgbClr val="C0DC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0" y="5038344"/>
            <a:ext cx="2651760" cy="475488"/>
          </a:xfrm>
          <a:prstGeom prst="rect">
            <a:avLst/>
          </a:prstGeom>
          <a:noFill/>
        </p:spPr>
        <p:txBody>
          <a:bodyPr wrap="square">
            <a:spAutoFit/>
          </a:bodyPr>
          <a:lstStyle/>
          <a:p>
            <a:pPr algn="ctr"/>
            <a:r>
              <a:rPr sz="2600" b="1" i="0">
                <a:solidFill>
                  <a:srgbClr val="1B6B28"/>
                </a:solidFill>
              </a:rPr>
              <a:t>0</a:t>
            </a:r>
          </a:p>
        </p:txBody>
      </p:sp>
      <p:sp>
        <p:nvSpPr>
          <p:cNvPr id="38" name="TextBox 37"/>
          <p:cNvSpPr txBox="1"/>
          <p:nvPr/>
        </p:nvSpPr>
        <p:spPr>
          <a:xfrm>
            <a:off x="8641080" y="5532120"/>
            <a:ext cx="2743200" cy="347472"/>
          </a:xfrm>
          <a:prstGeom prst="rect">
            <a:avLst/>
          </a:prstGeom>
          <a:noFill/>
        </p:spPr>
        <p:txBody>
          <a:bodyPr wrap="square">
            <a:spAutoFit/>
          </a:bodyPr>
          <a:lstStyle/>
          <a:p>
            <a:pPr algn="ctr"/>
            <a:r>
              <a:rPr sz="900" b="0" i="0">
                <a:solidFill>
                  <a:srgbClr val="555555"/>
                </a:solidFill>
              </a:rPr>
              <a:t>Licensing cost (open-source stack)</a:t>
            </a:r>
          </a:p>
        </p:txBody>
      </p:sp>
      <p:sp>
        <p:nvSpPr>
          <p:cNvPr id="39" name="TextBox 38"/>
          <p:cNvSpPr txBox="1"/>
          <p:nvPr/>
        </p:nvSpPr>
        <p:spPr>
          <a:xfrm>
            <a:off x="5349240" y="6400800"/>
            <a:ext cx="6217920" cy="347472"/>
          </a:xfrm>
          <a:prstGeom prst="rect">
            <a:avLst/>
          </a:prstGeom>
          <a:noFill/>
        </p:spPr>
        <p:txBody>
          <a:bodyPr wrap="square">
            <a:spAutoFit/>
          </a:bodyPr>
          <a:lstStyle/>
          <a:p>
            <a:pPr algn="l"/>
            <a:r>
              <a:rPr sz="900" b="0" i="1">
                <a:solidFill>
                  <a:srgbClr val="555555"/>
                </a:solidFill>
              </a:rPr>
              <a:t>docs/ARCHITECTURE.md — full design diagrams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