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80560" y="0"/>
            <a:ext cx="548640" cy="6858000"/>
          </a:xfrm>
          <a:prstGeom prst="rect">
            <a:avLst/>
          </a:prstGeom>
          <a:solidFill>
            <a:srgbClr val="5EB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4389120"/>
            <a:ext cx="1463040" cy="1463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182880"/>
            <a:ext cx="822960" cy="822960"/>
          </a:xfrm>
          <a:prstGeom prst="ellipse">
            <a:avLst/>
          </a:prstGeom>
          <a:solidFill>
            <a:srgbClr val="FF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</a:rPr>
              <a:t>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Inningsly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DBAB"/>
                </a:solidFill>
              </a:rPr>
              <a:t>Executive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BAB"/>
                </a:solidFill>
              </a:rPr>
              <a:t>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371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6B28"/>
                </a:solidFill>
              </a:rPr>
              <a:t>Score. Track.
Connect.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2004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A professional-grade cricket scoring platform
for Android, iOS and Web — built for community cricket, with phone-based accounts, real-time cloud, and monetisation-ready plans.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5029200"/>
            <a:ext cx="1417320" cy="137160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5074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6B28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5669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Tabs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5029200"/>
            <a:ext cx="1417320" cy="137160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5074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6B28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669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Formats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5029200"/>
            <a:ext cx="1417320" cy="137160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5074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6B28"/>
                </a:solidFill>
              </a:rPr>
              <a:t>50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669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Live Range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5029200"/>
            <a:ext cx="1417320" cy="137160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507492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6B28"/>
                </a:solidFill>
              </a:rPr>
              <a:t>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566928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BAB"/>
                </a:solidFill>
              </a:rPr>
              <a:t>Why gully cricket needs a modern scoring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6576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562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Paper Scorecards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Easy to lose, smudge, or miscalculate — no digital record survives the match.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576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01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562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No Offline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Existing apps require constant internet. Most gully grounds have poor connectivity.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91640"/>
            <a:ext cx="36576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801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18562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Isolated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286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Scorers can't share live scores with spectators watching from afar.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776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977639"/>
            <a:ext cx="36576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8736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4223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Oversimplified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199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Generic apps don't handle all formats, dismissal types, or extras correctly.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9776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77639"/>
            <a:ext cx="36576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8736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14223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No Team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7199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No persistent team/player records means starting from scratch every match.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977639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977639"/>
            <a:ext cx="36576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408736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414223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No Leagues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457199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Amateur teams have no lightweight way to run tournaments with standings.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BAB"/>
                </a:solidFill>
              </a:rPr>
              <a:t>Inningsly — one app, every format,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Inningsly is a professional-grade, offline-first scoring platform built for street and community cricket. It handles every format from T20 to Test, stores complete match history, and broadcasts live scores to spectators within 50 miles — with lightweight phone-number accounts that restore seamlessly across devices.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" cy="82296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28"/>
                </a:solidFill>
              </a:rPr>
              <a:t>Offline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Full feature parity with zero internet. SQLite on-device.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44952"/>
            <a:ext cx="201168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All Formats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T20, ODI, Test (follow-on), Custom — ICC-accurate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61104"/>
            <a:ext cx="201168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611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</a:rPr>
              <a:t>Real-Time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99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Live scores, team chat, delegate access via Supabase.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77256"/>
            <a:ext cx="201168" cy="8229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772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74F"/>
                </a:solidFill>
              </a:rPr>
              <a:t>Team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155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Persistent teams, rosters, leagues, career stats.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691640"/>
            <a:ext cx="6035040" cy="493776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6B28"/>
                </a:solidFill>
              </a:rPr>
              <a:t>FEATURE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2267712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2219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94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Ball-by-ball scoring with undo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688336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26426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151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All dismissal types + free hit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3108960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8736" y="3063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0358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Extras: wide, no ball, bye, leg bye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3529584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88736" y="34838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456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Partnerships + fall of wickets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3950208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39044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77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Full scorecard (batting + bowling)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4370832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8736" y="43251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Career stats (avg, SR, economy, best)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4791456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88736" y="474573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7183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Leagues with standings + fixtures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5212080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88736" y="5166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1389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Admin PIN (SHA-256) per team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5632704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88736" y="558698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5595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Proximity team discovery (50 mi)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6053328"/>
            <a:ext cx="201168" cy="201168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88736" y="60076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9801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Dark mode · MD3 design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Modern, proven, open-source — zero licensing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61D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2743200" cy="7315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1DBFB"/>
                </a:solidFill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Native
+ Expo SDK 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06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Single codebase → Android, iOS, Web.
Expo Go for instant device testing;
EAS Build for app store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9164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3B8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743200" cy="73152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19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C4"/>
                </a:solidFill>
              </a:rPr>
              <a:t>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75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TypeScript
(strict mode)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706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Type-safe data models enforced at
compile time — catches cricket rule
bugs before they ship.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9164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27432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19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75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Expo Router v6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File-based routing with deep links.
Tab navigator + modal stack.
URL-addressable screens.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9164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FF7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2743200" cy="73152"/>
          </a:xfrm>
          <a:prstGeom prst="rect">
            <a:avLst/>
          </a:prstGeom>
          <a:solidFill>
            <a:srgbClr val="FF7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196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7243"/>
                </a:solidFill>
              </a:rPr>
              <a:t>UI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07568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Native
Paper (MD3)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77063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Material Design 3 components.
Light + dark theme tokens.
Web-compatible dialogs.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1480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114800"/>
            <a:ext cx="2743200" cy="73152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428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000"/>
                </a:solidFill>
              </a:rPr>
              <a:t>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98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Zustand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9379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Lightweight global state with
no boilerplate. Stores map 1:1
to domain areas.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11480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4114800"/>
            <a:ext cx="2743200" cy="7315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2428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6BB6A"/>
                </a:solidFill>
              </a:rP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498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expo-sqlite
/ localStorage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19379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SQLite on native; localStorage on
web via Metro .web.ts resolution.
Fully offline-first.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11480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114800"/>
            <a:ext cx="2743200" cy="73152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2428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ECF8E"/>
                </a:solidFill>
              </a:rPr>
              <a:t>CLOUD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98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Supabase
(PostgreSQL)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19379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Live scores, chat, delegate codes. OTP auth via Twilio Verify. Bot protection via Cloudflare Turnstile. RLS + graceful degradation.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4114800"/>
            <a:ext cx="2743200" cy="2240280"/>
          </a:xfrm>
          <a:prstGeom prst="rect">
            <a:avLst/>
          </a:prstGeom>
          <a:solidFill>
            <a:srgbClr val="263238"/>
          </a:solidFill>
          <a:ln w="1905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4114800"/>
            <a:ext cx="2743200" cy="73152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2428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78DD"/>
                </a:solidFill>
              </a:rPr>
              <a:t>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49884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Jest (150+ tests)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193792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Pure engine unit tests + 99 functional scenarios. All cricket rules validated. In-app purchases via RevenueCat (free / pro / league).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BAB"/>
                </a:solidFill>
              </a:rPr>
              <a:t>Layered, offline-first design with optional cloud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2148840" cy="3474720"/>
          </a:xfrm>
          <a:prstGeom prst="rect">
            <a:avLst/>
          </a:prstGeom>
          <a:solidFill>
            <a:srgbClr val="EAF7EB"/>
          </a:solidFill>
          <a:ln w="63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6B28"/>
                </a:solidFill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Expo Router screens
React Native Paper
Dark / Light MD3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6B2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691640"/>
            <a:ext cx="2148840" cy="3474720"/>
          </a:xfrm>
          <a:prstGeom prst="rect">
            <a:avLst/>
          </a:prstGeom>
          <a:solidFill>
            <a:srgbClr val="D1F0D3"/>
          </a:solidFill>
          <a:ln w="63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6B28"/>
                </a:solidFill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4884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Zustand stores
(match, team, league,
chat, live scores)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8600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6B2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691640"/>
            <a:ext cx="2148840" cy="3474720"/>
          </a:xfrm>
          <a:prstGeom prst="rect">
            <a:avLst/>
          </a:prstGeom>
          <a:solidFill>
            <a:srgbClr val="A8DBAB"/>
          </a:solidFill>
          <a:ln w="63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19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6B28"/>
                </a:solidFill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19" y="214884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Pure TypeScript
Immutable MatchEngine
150+ unit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9" y="228600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6B2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691640"/>
            <a:ext cx="2148840" cy="3474720"/>
          </a:xfrm>
          <a:prstGeom prst="rect">
            <a:avLst/>
          </a:prstGeom>
          <a:solidFill>
            <a:srgbClr val="7CBF81"/>
          </a:solidFill>
          <a:ln w="63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39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6B28"/>
                </a:solidFill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39" y="214884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expo-sqlite (native)
localStorage (web)
Same repo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28600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6B2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691640"/>
            <a:ext cx="2148840" cy="3474720"/>
          </a:xfrm>
          <a:prstGeom prst="rect">
            <a:avLst/>
          </a:prstGeom>
          <a:solidFill>
            <a:srgbClr val="1B6B28"/>
          </a:solidFill>
          <a:ln w="63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59" y="17373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214884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Supabase (optional)
Live scores · Chat
Delegate codes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486400"/>
            <a:ext cx="11521440" cy="1188720"/>
          </a:xfrm>
          <a:prstGeom prst="rect">
            <a:avLst/>
          </a:prstGeom>
          <a:solidFill>
            <a:srgbClr val="F0F8F0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59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8"/>
                </a:solidFill>
              </a:rPr>
              <a:t>Immutable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8873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MatchEngine returns a new instance on every ball — undo is O(1)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559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8"/>
                </a:solidFill>
              </a:rPr>
              <a:t>Platform Repos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88873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Metro resolves .web.ts — SQLite never bundled for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59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8"/>
                </a:solidFill>
              </a:rPr>
              <a:t>Cloud Optional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8873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isCloudEnabled guards every Supabase call — full offline parity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559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8"/>
                </a:solidFill>
              </a:rPr>
              <a:t>Store as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888736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UI never calls repos directly — Zustand stores are the only entry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Ball-by-Ball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AA"/>
                </a:solidFill>
              </a:rPr>
              <a:t>ICC-accurate rules, tested to 150+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029200" cy="493776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THB  142 / 6  (17.3 ov)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C8"/>
                </a:solidFill>
              </a:rPr>
              <a:t>CRR: 8.11   ▪   RRR: 12.40   ▪   TGT: 186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4754880" cy="36576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</a:rPr>
              <a:t>🏏  Ravi Kumar*      34(28)   4s:2  6s:1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 Arjun Singh      18(15)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FFB4"/>
                </a:solidFill>
              </a:rPr>
              <a:t>🎯  Deepak Rao   2-0-18-1  (4.3 ov)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0C8"/>
                </a:solidFill>
              </a:rPr>
              <a:t>This over:   ·   1   4   W   ·  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14800"/>
            <a:ext cx="1078992" cy="530352"/>
          </a:xfrm>
          <a:prstGeom prst="rect">
            <a:avLst/>
          </a:prstGeom>
          <a:solidFill>
            <a:srgbClr val="2A2A3E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879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4114800"/>
            <a:ext cx="1078992" cy="530352"/>
          </a:xfrm>
          <a:prstGeom prst="rect">
            <a:avLst/>
          </a:prstGeom>
          <a:solidFill>
            <a:srgbClr val="2A2A3E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1879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4114800"/>
            <a:ext cx="1078992" cy="530352"/>
          </a:xfrm>
          <a:prstGeom prst="rect">
            <a:avLst/>
          </a:prstGeom>
          <a:solidFill>
            <a:srgbClr val="2A2A3E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1879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4114800"/>
            <a:ext cx="1078992" cy="530352"/>
          </a:xfrm>
          <a:prstGeom prst="rect">
            <a:avLst/>
          </a:prstGeom>
          <a:solidFill>
            <a:srgbClr val="2A2A3E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1879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54880"/>
            <a:ext cx="1078992" cy="530352"/>
          </a:xfrm>
          <a:prstGeom prst="rect">
            <a:avLst/>
          </a:prstGeom>
          <a:solidFill>
            <a:srgbClr val="1B3A1B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FF80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4754880"/>
            <a:ext cx="1078992" cy="530352"/>
          </a:xfrm>
          <a:prstGeom prst="rect">
            <a:avLst/>
          </a:prstGeom>
          <a:solidFill>
            <a:srgbClr val="1B3A1B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482803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FF80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4754880"/>
            <a:ext cx="1078992" cy="530352"/>
          </a:xfrm>
          <a:prstGeom prst="rect">
            <a:avLst/>
          </a:prstGeom>
          <a:solidFill>
            <a:srgbClr val="5C1010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82803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7070"/>
                </a:solidFill>
              </a:rPr>
              <a:t>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4754880"/>
            <a:ext cx="1078992" cy="530352"/>
          </a:xfrm>
          <a:prstGeom prst="rect">
            <a:avLst/>
          </a:prstGeom>
          <a:solidFill>
            <a:srgbClr val="332700"/>
          </a:solidFill>
          <a:ln w="9525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482803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C00"/>
                </a:solidFill>
              </a:rPr>
              <a:t>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49240"/>
            <a:ext cx="1078992" cy="38404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6752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Wide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5349240"/>
            <a:ext cx="1078992" cy="38404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536752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No Ball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5349240"/>
            <a:ext cx="1078992" cy="38404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536752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Bye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5349240"/>
            <a:ext cx="1078992" cy="384048"/>
          </a:xfrm>
          <a:prstGeom prst="rect">
            <a:avLst/>
          </a:prstGeom>
          <a:solidFill>
            <a:srgbClr val="222244"/>
          </a:solidFill>
          <a:ln w="635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9080" y="536752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FF"/>
                </a:solidFill>
              </a:rPr>
              <a:t>Leg Bye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1783080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17647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All 12 Dismissal 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0574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Bowled, caught, LBW, run out, stumped, hit wicket,
retired hurt/out, obstructing field, timed out, hit twice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468880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24505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Accurate Strike Rotation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27432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Odd-run rotation applied before end-of-over swap;
no-ball uses runs off bat only (not penalty run)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154680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31363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Free Hit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4290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Wide/NB triggers free hit on next delivery;
only run-out + retired-out valid — all others blocked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3840479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3822191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Undo 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411479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Every ball snapshots innings state; unlimited undos;
persisted in match JSON (survives app restart)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4526280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45079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Extras Breakdown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48006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Wides, no balls, byes, leg byes tracked separately;
contribute correctly to bowler and innings totals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5212080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80" y="51937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Powerplay Zones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54864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T20: overs 1–6 mandatory;
ODI: 3 powerplay blocks; Test: none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5897880"/>
            <a:ext cx="109728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97880" y="58795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Maiden Detection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61722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Over marked maiden if 0 runs in 6 legal deliveries
(regardless of wickets in the over)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Team &amp; Player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BAB"/>
                </a:solidFill>
              </a:rPr>
              <a:t>Persistent rosters, roles, proximity discovery, and delegate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49039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3749039" cy="50292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Team Creation &amp; Discovery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41448"/>
            <a:ext cx="164592" cy="164592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Create teams with name, short code (≤5 chars), optional admin PIN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27248"/>
            <a:ext cx="164592" cy="164592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GPS coordinates captured at creation for proximity sorting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13048"/>
            <a:ext cx="164592" cy="164592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My Teams section always visible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98848"/>
            <a:ext cx="164592" cy="164592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Nearby Teams: up to 10 within 50 miles (Haversine formula)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84648"/>
            <a:ext cx="164592" cy="164592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Search across all teams by 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64592" cy="164592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Admin PIN hashed with SHA-256 — plaintext never stored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691640"/>
            <a:ext cx="3749039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1691640"/>
            <a:ext cx="3749039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1764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Player Profiles &amp; Roles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39" y="2441448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2331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Batting style: Right-hand / Left-hand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39" y="3127248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30175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Bowling style: 9 options (fast, medium, spin variants)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39" y="3813048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7033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Roles: Captain (C), Vice-Captain (VC), Wicket Keeper (WK), All-Rounder (AR)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39" y="4498848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43891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 and VC are mutually exclusive — enforced at entry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39" y="5184648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50749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Optional phone number as cross-team identity 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39" y="5870448"/>
            <a:ext cx="164592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59" y="5760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6-character shareable player code for profile lookup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1691640"/>
            <a:ext cx="3749039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1691640"/>
            <a:ext cx="3749039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39" y="1764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Delegate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59" y="2441448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79" y="2331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Owner generates a 6-char one-time code (10-min TTL)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59" y="3127248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79" y="30175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Code stored in Supabase — single-use, deleted on redeem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59" y="3813048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79" y="37033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Another device enters code → granted editor access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59" y="4498848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79" y="43891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Delegate access stored locally in user_prefs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59" y="5184648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79" y="50749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 need to share admin PIN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59" y="5870448"/>
            <a:ext cx="164592" cy="16459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79" y="576072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Requires cloud (Supabase) to be configured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Cloud &amp; Real-Time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BAB"/>
                </a:solidFill>
              </a:rPr>
              <a:t>Optional Supabase integration — app works fully offline without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11521440" cy="1920240"/>
          </a:xfrm>
          <a:prstGeom prst="rect">
            <a:avLst/>
          </a:prstGeom>
          <a:solidFill>
            <a:srgbClr val="F0FDFA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</a:rPr>
              <a:t>📡  LIVE MATCH SCORES — 50-MILE BROADCAST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76272"/>
            <a:ext cx="1097280" cy="1078992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Scorer records
a ball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176272"/>
            <a:ext cx="1097280" cy="1078992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146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Match upserted
to Supabase
live_matches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176272"/>
            <a:ext cx="1097280" cy="1078992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5146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Postgres Realtime
triggers channel
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9" y="2176272"/>
            <a:ext cx="1097280" cy="1078992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5146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Viewer device
fetches nearby
matches (bbox)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2176272"/>
            <a:ext cx="1097280" cy="1078992"/>
          </a:xfrm>
          <a:prstGeom prst="rect">
            <a:avLst/>
          </a:prstGeom>
          <a:solidFill>
            <a:srgbClr val="00695C"/>
          </a:solidFill>
          <a:ln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21762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25146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Home screen
updates in
real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49039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283464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81304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🗺️  Proximity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279392"/>
            <a:ext cx="26151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Bounding-box query on lat/lon. Returns up to 20 matches
updated in the last 24 hours within 50-mile radius.
No PostGIS required — fast index-only scan.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749039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3749039"/>
            <a:ext cx="2834640" cy="45720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381304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💬  Team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279392"/>
            <a:ext cx="26151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Per-team Supabase real-time channel. Last 100 messages
loaded on open; new messages arrive via postgres_changes.
No user accounts — identity from player profile.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49039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749039"/>
            <a:ext cx="283464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81304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🔐  Security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279392"/>
            <a:ext cx="26151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Anon key (public read/write) + Row Level Security.
Admin PIN is SHA-256 client-side only — never sent to cloud.
Delegate codes single-use + time-limited (10 min TTL).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3749039"/>
            <a:ext cx="28346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3749039"/>
            <a:ext cx="2834640" cy="457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381304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🌐  Graceful Degradation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4279392"/>
            <a:ext cx="26151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PGRST205 (table not found) silently ignored — cloud
features simply don't show until SQL is run in Supabase.
All four cloud tables optional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Leagues &amp; Career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E93D8"/>
                </a:solidFill>
              </a:rPr>
              <a:t>Run tournaments, track career milestones, celebrate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548640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548640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🏅  LEAGUES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#   Team            P   W   L   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51760"/>
            <a:ext cx="5212080" cy="43891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  1   Thunderbolts      4   4   0  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54680"/>
            <a:ext cx="5212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2   Royal Strikers    4   3   1  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5212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3   Blaze XI          4   1   3  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60520"/>
            <a:ext cx="5212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24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  4   Sky Hawks         4   0   4  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128016" cy="1280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Create leagues with any number of teams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65192"/>
            <a:ext cx="128016" cy="1280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5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Round-robin fixture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12664"/>
            <a:ext cx="128016" cy="1280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8523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Link real match results to fixtures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60136"/>
            <a:ext cx="128016" cy="1280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327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Live standings update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007608"/>
            <a:ext cx="128016" cy="128016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8017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Scheduled, completed + abandoned states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691640"/>
            <a:ext cx="571500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691640"/>
            <a:ext cx="5715000" cy="50292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7647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CAREER STATISTICS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286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8"/>
                </a:solidFill>
              </a:rPr>
              <a:t>BATTING — Ravi Kumar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33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Matches: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263347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633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Innings: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63347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0723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Runs: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07238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312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0723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Highest: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307238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511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Average: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351129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52.0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511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Strike Rate: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9880" y="351129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145.8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9502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50s / 100s: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395020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2 / 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9502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Fours / Sixes: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395020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18 /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891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6B28"/>
                </a:solidFill>
              </a:rPr>
              <a:t>BOWLING — Ravi Kumar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736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Overs: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80" y="473659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736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Wickets: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473659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517550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Runs: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80" y="517550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96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17550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Economy: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517550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8.0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61441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Average: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561441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12.0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561441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Best Figures: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561441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3/18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Platform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One codebase — Android, iOS, and mobile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49039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A1A1A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019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DC84"/>
                </a:solidFill>
              </a:rPr>
              <a:t>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Native APK via EAS Build
Expo Go for development
SQLite persistence
Target: Android 8+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691640"/>
            <a:ext cx="3749039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A2A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A1A1A"/>
                </a:solidFill>
              </a:rPr>
              <a:t>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799" y="19019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2AAAD"/>
                </a:solidFill>
              </a:rPr>
              <a:t>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514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Native IPA via EAS Build
Expo Go for development
SQLite persistence
Target: iOS 15+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691640"/>
            <a:ext cx="3749039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61D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A1A1A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19019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1DBFB"/>
                </a:solidFill>
              </a:rPr>
              <a:t>Mobile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514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Progressive Web App
Run: expo start --web
localStorage persistence
MD3 responsive layout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17720"/>
            <a:ext cx="11521440" cy="2011680"/>
          </a:xfrm>
          <a:prstGeom prst="rect">
            <a:avLst/>
          </a:prstGeom>
          <a:solidFill>
            <a:srgbClr val="273238"/>
          </a:solidFill>
          <a:ln w="6350">
            <a:solidFill>
              <a:srgbClr val="445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EC5"/>
                </a:solidFill>
              </a:rPr>
              <a:t>DEPLOYMENT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120640"/>
            <a:ext cx="2057400" cy="1325880"/>
          </a:xfrm>
          <a:prstGeom prst="rect">
            <a:avLst/>
          </a:prstGeom>
          <a:solidFill>
            <a:srgbClr val="37474F"/>
          </a:solidFill>
          <a:ln w="9525">
            <a:solidFill>
              <a:srgbClr val="55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CBC4"/>
                </a:solidFill>
              </a:rPr>
              <a:t>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864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Expo Go on device
(LAN, instant reload)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48640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CBC4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5120640"/>
            <a:ext cx="2057400" cy="1325880"/>
          </a:xfrm>
          <a:prstGeom prst="rect">
            <a:avLst/>
          </a:prstGeom>
          <a:solidFill>
            <a:srgbClr val="37474F"/>
          </a:solidFill>
          <a:ln w="9525">
            <a:solidFill>
              <a:srgbClr val="55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51663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CBC4"/>
                </a:solidFill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4864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Jest 150+ tests
(engine rules)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48640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CBC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5120640"/>
            <a:ext cx="2057400" cy="1325880"/>
          </a:xfrm>
          <a:prstGeom prst="rect">
            <a:avLst/>
          </a:prstGeom>
          <a:solidFill>
            <a:srgbClr val="37474F"/>
          </a:solidFill>
          <a:ln w="9525">
            <a:solidFill>
              <a:srgbClr val="55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51663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CBC4"/>
                </a:solidFill>
              </a:rPr>
              <a:t>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54864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EAS Build
(cloud compile)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48640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CBC4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5120640"/>
            <a:ext cx="2057400" cy="1325880"/>
          </a:xfrm>
          <a:prstGeom prst="rect">
            <a:avLst/>
          </a:prstGeom>
          <a:solidFill>
            <a:srgbClr val="37474F"/>
          </a:solidFill>
          <a:ln w="9525">
            <a:solidFill>
              <a:srgbClr val="55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51663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CBC4"/>
                </a:solidFill>
              </a:rPr>
              <a:t>DISTRIBUTE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4864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Internal / TestFlight
/ Play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48640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0CBC4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5120640"/>
            <a:ext cx="2057400" cy="1325880"/>
          </a:xfrm>
          <a:prstGeom prst="rect">
            <a:avLst/>
          </a:prstGeom>
          <a:solidFill>
            <a:srgbClr val="37474F"/>
          </a:solidFill>
          <a:ln w="9525">
            <a:solidFill>
              <a:srgbClr val="55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51663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CBC4"/>
                </a:solidFill>
              </a:rPr>
              <a:t>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548640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Run supabase-setup.sql
Add .env creds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18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BAB"/>
                </a:solidFill>
              </a:rPr>
              <a:t>Built with data minimisation and user trust at the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3749039" cy="54864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01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56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28"/>
                </a:solidFill>
              </a:rPr>
              <a:t>Admin PIN (SHA-256)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Admin PINs and user PINs hashed with SHA-256 via expo-crypto. User PIN verified server-side via Supabase RPC (SECURITY DEFINER) — hash never returned to client. In-memory auth clears on app restart by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6916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691640"/>
            <a:ext cx="3749039" cy="54864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801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1856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28"/>
                </a:solidFill>
              </a:rPr>
              <a:t>Local-First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331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All match data, player records, and team info stored exclusively on-device
(SQLite native / localStorage web). No automatic cloud upload of match data.
Users own their data entirely.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91640"/>
            <a:ext cx="3749039" cy="54864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8013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1856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28"/>
                </a:solidFill>
              </a:rPr>
              <a:t>Parameterised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33172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All SQLite operations use parameterised statements — SQL injection is
architecturally impossible. Input validation at store boundaries.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6052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160520"/>
            <a:ext cx="3749039" cy="54864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702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251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28"/>
                </a:solidFill>
              </a:rPr>
              <a:t>Cloud Opt-In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Supabase integration requires explicit credential setup in .env.
isCloudEnabled guards every remote call — cloud is never silently enabled.
PGRST205 errors (missing table) silently suppressed — graceful degradation.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16052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4160520"/>
            <a:ext cx="3749039" cy="54864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42702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43251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28"/>
                </a:solidFill>
              </a:rPr>
              <a:t>Delegate Codes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48006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Single-use, time-limited (10 min) codes for sharing team access.
Stored in Supabase and deleted immediately on first successful claim.
No persistent credentials shared — codes cannot be replayed.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4160520"/>
            <a:ext cx="374903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4160520"/>
            <a:ext cx="3749039" cy="54864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42702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399" y="43251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28"/>
                </a:solidFill>
              </a:rPr>
              <a:t>No PII Transmission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48006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Phone is the primary identity — stored locally + Supabase user_profiles (phone, name, PIN hash only). OTP via Twilio Verify; bots blocked by Cloudflare Turnstile + country-prefix allowlist. Match data and player names are never sent to third parties.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AA"/>
                </a:solidFill>
              </a:rPr>
              <a:t>From foundation to community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749039" cy="4983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3749039" cy="82296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2423160"/>
            <a:ext cx="1783080" cy="347472"/>
          </a:xfrm>
          <a:prstGeom prst="rect">
            <a:avLst/>
          </a:prstGeom>
          <a:solidFill>
            <a:srgbClr val="EAF7EB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4414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6B28"/>
                </a:solidFill>
              </a:rPr>
              <a:t>COMPLETE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3405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T20, ODI, Test, Custom formats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8269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Ball-by-ball scoring + undo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3133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All dismissal types + free hit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997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Team + player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2861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Full scorecard + 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7725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Career stats (batting + bowling)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025895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978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SQLite + localStorage persistence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74536"/>
            <a:ext cx="128016" cy="128016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150+ unit + functional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691640"/>
            <a:ext cx="3749039" cy="4983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1691640"/>
            <a:ext cx="3749039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19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Cloud, Auth &amp; Growth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59" y="2423160"/>
            <a:ext cx="1783080" cy="347472"/>
          </a:xfrm>
          <a:prstGeom prst="rect">
            <a:avLst/>
          </a:prstGeom>
          <a:solidFill>
            <a:srgbClr val="EAF7EB"/>
          </a:solidFill>
          <a:ln w="12700">
            <a:solidFill>
              <a:srgbClr val="1B6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59" y="24414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6B28"/>
                </a:solidFill>
              </a:rPr>
              <a:t>COMPLETE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39" y="273405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39" y="2606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Supabase cloud sync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39" y="328269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39" y="3154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Live match scores (50-mile broadcast)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39" y="383133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39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Real-time team chat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39" y="437997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39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Delegate team access codes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39" y="492861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39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Leagues + standings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39" y="547725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39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Admin PIN (SHA-256) + User PIN (server-verified RPC)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39" y="6025895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39" y="58978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Dark mode + MD3 theme + responsive tablet layout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39" y="6574536"/>
            <a:ext cx="128016" cy="12801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39" y="6446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Expo Router navigation + marketing landing page (web)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1691640"/>
            <a:ext cx="3749039" cy="4983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1691640"/>
            <a:ext cx="3749039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39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2011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12679" y="2423160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12679" y="24414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5100"/>
                </a:solidFill>
              </a:rPr>
              <a:t>UPCOMING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59" y="273405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59" y="2606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Push notifications (ball alerts)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6759" y="328269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59" y="3154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Wagon wheel + Manhattan plot charts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66759" y="383133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59" y="3703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Photo / media attachments in chat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59" y="437997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59" y="4251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Tournament bracket visualisation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66759" y="492861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59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Interactive match timeline (worm chart)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66759" y="547725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59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Offline map with nearby matches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6759" y="6025895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95359" y="58978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Player performance trends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66759" y="6574536"/>
            <a:ext cx="128016" cy="12801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59" y="6446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DLS (Duckworth-Lewis-Stern) calculations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6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65760" cy="6858000"/>
          </a:xfrm>
          <a:prstGeom prst="rect">
            <a:avLst/>
          </a:prstGeom>
          <a:solidFill>
            <a:srgbClr val="5EB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</a:rPr>
              <a:t>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Inningsly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ICC-accurate scoring for every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39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Works completely offline — no internet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Live scores broadcast to 50-mile radius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Teams, leagues, career stats, and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One codebase — Android, iOS, and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3212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150+ tests — reliable, rule-accurate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Monetisation-ready: free / pro / league plans (RevenueCat)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73152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6B28"/>
                </a:solidFill>
              </a:rPr>
              <a:t>By the Numbers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41732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47218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Bottom navigation tabs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41732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47218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Match formats supported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60604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66090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154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Dismissal types handled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60604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66090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150+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154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Engine unit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379476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384962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50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343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Live score broadcast radius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379476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384962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343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Cloud Supabase tables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498348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03834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532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Supported platforms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4983480"/>
            <a:ext cx="2926080" cy="1005840"/>
          </a:xfrm>
          <a:prstGeom prst="rect">
            <a:avLst/>
          </a:prstGeom>
          <a:solidFill>
            <a:srgbClr val="EAF7EB"/>
          </a:solidFill>
          <a:ln w="6350">
            <a:solidFill>
              <a:srgbClr val="C0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503834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6B28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532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Licensing cost (open-source stack)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64008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docs/ARCHITECTURE.md — full design diagrams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